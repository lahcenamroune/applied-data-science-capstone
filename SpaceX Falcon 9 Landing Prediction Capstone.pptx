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95" r:id="rId2"/>
    <p:sldId id="269" r:id="rId3"/>
    <p:sldId id="257" r:id="rId4"/>
    <p:sldId id="270" r:id="rId5"/>
    <p:sldId id="271" r:id="rId6"/>
    <p:sldId id="274" r:id="rId7"/>
    <p:sldId id="275" r:id="rId8"/>
    <p:sldId id="276" r:id="rId9"/>
    <p:sldId id="277" r:id="rId10"/>
    <p:sldId id="278" r:id="rId11"/>
    <p:sldId id="306" r:id="rId12"/>
    <p:sldId id="307" r:id="rId13"/>
    <p:sldId id="279" r:id="rId14"/>
    <p:sldId id="296" r:id="rId15"/>
    <p:sldId id="299" r:id="rId16"/>
    <p:sldId id="297" r:id="rId17"/>
    <p:sldId id="298" r:id="rId18"/>
    <p:sldId id="280" r:id="rId19"/>
    <p:sldId id="300" r:id="rId20"/>
    <p:sldId id="301" r:id="rId21"/>
    <p:sldId id="305" r:id="rId22"/>
    <p:sldId id="302" r:id="rId23"/>
    <p:sldId id="303" r:id="rId24"/>
    <p:sldId id="304" r:id="rId25"/>
    <p:sldId id="281" r:id="rId26"/>
    <p:sldId id="283" r:id="rId27"/>
    <p:sldId id="289" r:id="rId28"/>
    <p:sldId id="290" r:id="rId29"/>
    <p:sldId id="284" r:id="rId30"/>
    <p:sldId id="291" r:id="rId31"/>
    <p:sldId id="292" r:id="rId32"/>
    <p:sldId id="293" r:id="rId33"/>
    <p:sldId id="286" r:id="rId34"/>
    <p:sldId id="294" r:id="rId35"/>
    <p:sldId id="273" r:id="rId36"/>
    <p:sldId id="267" r:id="rId3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609" autoAdjust="0"/>
    <p:restoredTop sz="95820" autoAdjust="0"/>
  </p:normalViewPr>
  <p:slideViewPr>
    <p:cSldViewPr snapToGrid="0" snapToObjects="1">
      <p:cViewPr varScale="1">
        <p:scale>
          <a:sx n="94" d="100"/>
          <a:sy n="94" d="100"/>
        </p:scale>
        <p:origin x="475" y="53"/>
      </p:cViewPr>
      <p:guideLst>
        <p:guide orient="horz" pos="2160"/>
        <p:guide pos="2880"/>
      </p:guideLst>
    </p:cSldViewPr>
  </p:slideViewPr>
  <p:outlineViewPr>
    <p:cViewPr>
      <p:scale>
        <a:sx n="100" d="100"/>
        <a:sy n="100" d="100"/>
      </p:scale>
      <p:origin x="0" y="-6331"/>
    </p:cViewPr>
    <p:sldLst>
      <p:sld r:id="rId1" collapse="1"/>
      <p:sld r:id="rId2" collapse="1"/>
      <p:sld r:id="rId3" collapse="1"/>
    </p:sldLst>
  </p:outlineViewPr>
  <p:notesTextViewPr>
    <p:cViewPr>
      <p:scale>
        <a:sx n="100" d="100"/>
        <a:sy n="10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_rels/viewProps.xml.rels><?xml version="1.0" encoding="UTF-8" standalone="yes"?>
<Relationships xmlns="http://schemas.openxmlformats.org/package/2006/relationships"><Relationship Id="rId3" Type="http://schemas.openxmlformats.org/officeDocument/2006/relationships/slide" Target="slides/slide34.xml"/><Relationship Id="rId2" Type="http://schemas.openxmlformats.org/officeDocument/2006/relationships/slide" Target="slides/slide33.xml"/><Relationship Id="rId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02FA038-7508-4EB0-B86D-C552977EB3CB}" type="datetimeFigureOut">
              <a:rPr lang="en-US" smtClean="0"/>
              <a:t>7/31/2026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B896F42-94F3-4706-8342-5AE47D56213E}" type="slidenum">
              <a:rPr lang="en-US" smtClean="0"/>
              <a:t>‹#›</a:t>
            </a:fld>
            <a:endParaRPr lang="en-US"/>
          </a:p>
        </p:txBody>
      </p:sp>
    </p:spTree>
    <p:extLst>
      <p:ext uri="{BB962C8B-B14F-4D97-AF65-F5344CB8AC3E}">
        <p14:creationId xmlns:p14="http://schemas.microsoft.com/office/powerpoint/2010/main" val="807762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B896F42-94F3-4706-8342-5AE47D56213E}" type="slidenum">
              <a:rPr lang="en-US" smtClean="0"/>
              <a:t>26</a:t>
            </a:fld>
            <a:endParaRPr lang="en-US"/>
          </a:p>
        </p:txBody>
      </p:sp>
    </p:spTree>
    <p:extLst>
      <p:ext uri="{BB962C8B-B14F-4D97-AF65-F5344CB8AC3E}">
        <p14:creationId xmlns:p14="http://schemas.microsoft.com/office/powerpoint/2010/main" val="20949531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7/31/2026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7/31/2026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7/31/2026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7/31/2026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hyperlink" Target="https://en.wikipedia.org/wiki/List_of_Falcon_9_and_Falcon_Heavy_launches" TargetMode="External"/><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api.spacexdata.com/v4/rockets/" TargetMode="External"/><Relationship Id="rId2" Type="http://schemas.openxmlformats.org/officeDocument/2006/relationships/image" Target="../media/image9.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hyperlink" Target="https://en.wikipedia.org/w/index.php?title=List_of_Falcon_9_and_Falcon_Heavy_launches&amp;oldid=1027686922" TargetMode="External"/><Relationship Id="rId2" Type="http://schemas.openxmlformats.org/officeDocument/2006/relationships/image" Target="../media/image9.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png"/><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png"/><Relationship Id="rId1" Type="http://schemas.openxmlformats.org/officeDocument/2006/relationships/slideLayout" Target="../slideLayouts/slideLayout7.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png"/><Relationship Id="rId1" Type="http://schemas.openxmlformats.org/officeDocument/2006/relationships/slideLayout" Target="../slideLayouts/slideLayout7.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9.png"/><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9.png"/><Relationship Id="rId1" Type="http://schemas.openxmlformats.org/officeDocument/2006/relationships/slideLayout" Target="../slideLayouts/slideLayout7.xml"/><Relationship Id="rId5" Type="http://schemas.openxmlformats.org/officeDocument/2006/relationships/image" Target="../media/image22.png"/><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9.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26.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9.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2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9.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9.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3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hyperlink" Target="https://docs.spacexdata.com/" TargetMode="External"/><Relationship Id="rId2" Type="http://schemas.openxmlformats.org/officeDocument/2006/relationships/image" Target="../media/image9.png"/><Relationship Id="rId1" Type="http://schemas.openxmlformats.org/officeDocument/2006/relationships/slideLayout" Target="../slideLayouts/slideLayout7.xml"/><Relationship Id="rId4" Type="http://schemas.openxmlformats.org/officeDocument/2006/relationships/hyperlink" Target="https://en.wikipedia.org/w/index.php?title=List_of_Falcon_9_and_Falcon_Heavy_launches&amp;oldid=1027686922" TargetMode="External"/></Relationships>
</file>

<file path=ppt/slides/_rels/slide3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1905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81025" y="1560165"/>
            <a:ext cx="3681412" cy="342900"/>
          </a:xfrm>
          <a:prstGeom prst="rect">
            <a:avLst/>
          </a:prstGeom>
        </p:spPr>
      </p:pic>
      <p:sp>
        <p:nvSpPr>
          <p:cNvPr id="4" name="TextBox 3"/>
          <p:cNvSpPr txBox="1"/>
          <p:nvPr/>
        </p:nvSpPr>
        <p:spPr>
          <a:xfrm>
            <a:off x="581025" y="2141190"/>
            <a:ext cx="11166132" cy="679673"/>
          </a:xfrm>
          <a:prstGeom prst="rect">
            <a:avLst/>
          </a:prstGeom>
          <a:noFill/>
        </p:spPr>
        <p:txBody>
          <a:bodyPr wrap="square" lIns="0" tIns="0" rIns="0" bIns="0" anchor="t">
            <a:spAutoFit/>
          </a:bodyPr>
          <a:lstStyle/>
          <a:p>
            <a:pPr algn="l">
              <a:lnSpc>
                <a:spcPts val="5280"/>
              </a:lnSpc>
            </a:pPr>
            <a:r>
              <a:rPr sz="4800" b="1" i="0" u="none" dirty="0">
                <a:solidFill>
                  <a:srgbClr val="FFFFFF"/>
                </a:solidFill>
                <a:latin typeface="Space Grotesk"/>
              </a:rPr>
              <a:t>APPLIED DATA SCIENCE CAPSTONE</a:t>
            </a:r>
          </a:p>
        </p:txBody>
      </p:sp>
      <p:sp>
        <p:nvSpPr>
          <p:cNvPr id="5" name="TextBox 4"/>
          <p:cNvSpPr txBox="1"/>
          <p:nvPr/>
        </p:nvSpPr>
        <p:spPr>
          <a:xfrm>
            <a:off x="581025" y="3002160"/>
            <a:ext cx="9048750" cy="857250"/>
          </a:xfrm>
          <a:prstGeom prst="rect">
            <a:avLst/>
          </a:prstGeom>
          <a:noFill/>
        </p:spPr>
        <p:txBody>
          <a:bodyPr wrap="square" lIns="0" tIns="0" rIns="0" bIns="0" anchor="t">
            <a:spAutoFit/>
          </a:bodyPr>
          <a:lstStyle/>
          <a:p>
            <a:pPr algn="l">
              <a:lnSpc>
                <a:spcPts val="2250"/>
              </a:lnSpc>
            </a:pPr>
            <a:r>
              <a:rPr sz="1500" b="0" i="0" u="none" dirty="0">
                <a:solidFill>
                  <a:srgbClr val="94A3B8"/>
                </a:solidFill>
                <a:latin typeface="Plus Jakarta Sans"/>
              </a:rPr>
              <a:t>Predicting </a:t>
            </a:r>
            <a:r>
              <a:rPr sz="1500" b="0" i="0" u="none" dirty="0" err="1">
                <a:solidFill>
                  <a:srgbClr val="94A3B8"/>
                </a:solidFill>
                <a:latin typeface="Plus Jakarta Sans"/>
              </a:rPr>
              <a:t>SpaceX</a:t>
            </a:r>
            <a:r>
              <a:rPr sz="1500" b="0" i="0" u="none" dirty="0">
                <a:solidFill>
                  <a:srgbClr val="94A3B8"/>
                </a:solidFill>
                <a:latin typeface="Plus Jakarta Sans"/>
              </a:rPr>
              <a:t> Falcon 9 first-stage booster reuse outcomes using a custom REST API pipeline, web scraping, geospatial analytics, interactive dashboards, </a:t>
            </a:r>
            <a:r>
              <a:rPr sz="1500" b="0" i="0" u="none" dirty="0" smtClean="0">
                <a:solidFill>
                  <a:srgbClr val="94A3B8"/>
                </a:solidFill>
                <a:latin typeface="Plus Jakarta Sans"/>
              </a:rPr>
              <a:t>and </a:t>
            </a:r>
            <a:r>
              <a:rPr sz="1500" b="0" i="0" u="none" dirty="0">
                <a:solidFill>
                  <a:srgbClr val="94A3B8"/>
                </a:solidFill>
                <a:latin typeface="Plus Jakarta Sans"/>
              </a:rPr>
              <a:t>supervised classification machine learning models.</a:t>
            </a:r>
          </a:p>
        </p:txBody>
      </p:sp>
      <p:pic>
        <p:nvPicPr>
          <p:cNvPr id="6" name="Picture 5" descr="image.png"/>
          <p:cNvPicPr>
            <a:picLocks noChangeAspect="1"/>
          </p:cNvPicPr>
          <p:nvPr/>
        </p:nvPicPr>
        <p:blipFill>
          <a:blip r:embed="rId4"/>
          <a:stretch>
            <a:fillRect/>
          </a:stretch>
        </p:blipFill>
        <p:spPr>
          <a:xfrm>
            <a:off x="581025" y="4192785"/>
            <a:ext cx="4067175" cy="428625"/>
          </a:xfrm>
          <a:prstGeom prst="rect">
            <a:avLst/>
          </a:prstGeom>
        </p:spPr>
      </p:pic>
      <p:sp>
        <p:nvSpPr>
          <p:cNvPr id="7" name="Rounded Rectangle 6"/>
          <p:cNvSpPr/>
          <p:nvPr/>
        </p:nvSpPr>
        <p:spPr>
          <a:xfrm>
            <a:off x="581025" y="4859535"/>
            <a:ext cx="5534025" cy="438150"/>
          </a:xfrm>
          <a:prstGeom prst="roundRect">
            <a:avLst>
              <a:gd name="adj" fmla="val 50000"/>
            </a:avLst>
          </a:prstGeom>
          <a:noFill/>
          <a:ln w="9525">
            <a:solidFill>
              <a:srgbClr val="00F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43000" y="4992048"/>
            <a:ext cx="4705350" cy="173124"/>
          </a:xfrm>
          <a:prstGeom prst="rect">
            <a:avLst/>
          </a:prstGeom>
          <a:noFill/>
        </p:spPr>
        <p:txBody>
          <a:bodyPr wrap="square" lIns="0" tIns="0" rIns="0" bIns="0" anchor="ctr">
            <a:spAutoFit/>
          </a:bodyPr>
          <a:lstStyle/>
          <a:p>
            <a:r>
              <a:rPr lang="en-US" sz="1125" dirty="0">
                <a:solidFill>
                  <a:srgbClr val="FFFFFF"/>
                </a:solidFill>
                <a:latin typeface="Plus Jakarta Sans SemiBold"/>
              </a:rPr>
              <a:t>https://github.com/LahcenAmroune/Applied-Data-Science-Capstone</a:t>
            </a:r>
            <a:endParaRPr sz="1125" b="0" i="0" u="none" dirty="0">
              <a:solidFill>
                <a:srgbClr val="FFFFFF"/>
              </a:solidFill>
              <a:latin typeface="Plus Jakarta Sans SemiBold"/>
            </a:endParaRPr>
          </a:p>
        </p:txBody>
      </p:sp>
      <p:pic>
        <p:nvPicPr>
          <p:cNvPr id="9" name="Picture 8" descr="image.png"/>
          <p:cNvPicPr>
            <a:picLocks noChangeAspect="1"/>
          </p:cNvPicPr>
          <p:nvPr/>
        </p:nvPicPr>
        <p:blipFill>
          <a:blip r:embed="rId5"/>
          <a:stretch>
            <a:fillRect/>
          </a:stretch>
        </p:blipFill>
        <p:spPr>
          <a:xfrm>
            <a:off x="819150" y="1664940"/>
            <a:ext cx="157162" cy="133350"/>
          </a:xfrm>
          <a:prstGeom prst="rect">
            <a:avLst/>
          </a:prstGeom>
        </p:spPr>
      </p:pic>
      <p:sp>
        <p:nvSpPr>
          <p:cNvPr id="10" name="TextBox 9"/>
          <p:cNvSpPr txBox="1"/>
          <p:nvPr/>
        </p:nvSpPr>
        <p:spPr>
          <a:xfrm>
            <a:off x="1114425" y="4316610"/>
            <a:ext cx="1876425" cy="180975"/>
          </a:xfrm>
          <a:prstGeom prst="rect">
            <a:avLst/>
          </a:prstGeom>
          <a:noFill/>
        </p:spPr>
        <p:txBody>
          <a:bodyPr wrap="square" lIns="0" tIns="0" rIns="0" bIns="0" anchor="ctr">
            <a:spAutoFit/>
          </a:bodyPr>
          <a:lstStyle/>
          <a:p>
            <a:pPr algn="l"/>
            <a:r>
              <a:rPr sz="1125" b="0" i="0" u="none">
                <a:solidFill>
                  <a:srgbClr val="38BDF8"/>
                </a:solidFill>
                <a:latin typeface="Plus Jakarta Sans SemiBold"/>
              </a:rPr>
              <a:t>Lahcen Mokhtar AMROUNE</a:t>
            </a:r>
          </a:p>
        </p:txBody>
      </p:sp>
      <p:sp>
        <p:nvSpPr>
          <p:cNvPr id="11" name="TextBox 10"/>
          <p:cNvSpPr txBox="1"/>
          <p:nvPr/>
        </p:nvSpPr>
        <p:spPr>
          <a:xfrm>
            <a:off x="3228975" y="4316610"/>
            <a:ext cx="47625" cy="180975"/>
          </a:xfrm>
          <a:prstGeom prst="rect">
            <a:avLst/>
          </a:prstGeom>
          <a:noFill/>
        </p:spPr>
        <p:txBody>
          <a:bodyPr wrap="square" lIns="0" tIns="0" rIns="0" bIns="0" anchor="ctr">
            <a:spAutoFit/>
          </a:bodyPr>
          <a:lstStyle/>
          <a:p>
            <a:pPr algn="l"/>
            <a:r>
              <a:rPr sz="1125" b="0" i="0" u="none">
                <a:solidFill>
                  <a:srgbClr val="64748B"/>
                </a:solidFill>
                <a:latin typeface="Plus Jakarta Sans SemiBold"/>
              </a:rPr>
              <a:t>|</a:t>
            </a:r>
          </a:p>
        </p:txBody>
      </p:sp>
      <p:sp>
        <p:nvSpPr>
          <p:cNvPr id="12" name="TextBox 11"/>
          <p:cNvSpPr txBox="1"/>
          <p:nvPr/>
        </p:nvSpPr>
        <p:spPr>
          <a:xfrm>
            <a:off x="3714750" y="4316610"/>
            <a:ext cx="657225" cy="180975"/>
          </a:xfrm>
          <a:prstGeom prst="rect">
            <a:avLst/>
          </a:prstGeom>
          <a:noFill/>
        </p:spPr>
        <p:txBody>
          <a:bodyPr wrap="square" lIns="0" tIns="0" rIns="0" bIns="0" anchor="ctr">
            <a:spAutoFit/>
          </a:bodyPr>
          <a:lstStyle/>
          <a:p>
            <a:pPr algn="l"/>
            <a:r>
              <a:rPr sz="1125" b="0" i="0" u="none">
                <a:solidFill>
                  <a:srgbClr val="38BDF8"/>
                </a:solidFill>
                <a:latin typeface="Plus Jakarta Sans SemiBold"/>
              </a:rPr>
              <a:t>July 2026</a:t>
            </a:r>
          </a:p>
        </p:txBody>
      </p:sp>
      <p:pic>
        <p:nvPicPr>
          <p:cNvPr id="13" name="Picture 12" descr="image.png"/>
          <p:cNvPicPr>
            <a:picLocks noChangeAspect="1"/>
          </p:cNvPicPr>
          <p:nvPr/>
        </p:nvPicPr>
        <p:blipFill>
          <a:blip r:embed="rId6"/>
          <a:stretch>
            <a:fillRect/>
          </a:stretch>
        </p:blipFill>
        <p:spPr>
          <a:xfrm>
            <a:off x="857250" y="4983360"/>
            <a:ext cx="180975" cy="190500"/>
          </a:xfrm>
          <a:prstGeom prst="rect">
            <a:avLst/>
          </a:prstGeom>
        </p:spPr>
      </p:pic>
      <p:pic>
        <p:nvPicPr>
          <p:cNvPr id="14" name="Picture 13" descr="image.png"/>
          <p:cNvPicPr>
            <a:picLocks noChangeAspect="1"/>
          </p:cNvPicPr>
          <p:nvPr/>
        </p:nvPicPr>
        <p:blipFill>
          <a:blip r:embed="rId7"/>
          <a:stretch>
            <a:fillRect/>
          </a:stretch>
        </p:blipFill>
        <p:spPr>
          <a:xfrm>
            <a:off x="5715000" y="5016698"/>
            <a:ext cx="123825" cy="123825"/>
          </a:xfrm>
          <a:prstGeom prst="rect">
            <a:avLst/>
          </a:prstGeom>
        </p:spPr>
      </p:pic>
      <p:pic>
        <p:nvPicPr>
          <p:cNvPr id="15" name="Picture 14" descr="image.png"/>
          <p:cNvPicPr>
            <a:picLocks noChangeAspect="1"/>
          </p:cNvPicPr>
          <p:nvPr/>
        </p:nvPicPr>
        <p:blipFill>
          <a:blip r:embed="rId8"/>
          <a:stretch>
            <a:fillRect/>
          </a:stretch>
        </p:blipFill>
        <p:spPr>
          <a:xfrm>
            <a:off x="857250" y="4335660"/>
            <a:ext cx="180975" cy="142875"/>
          </a:xfrm>
          <a:prstGeom prst="rect">
            <a:avLst/>
          </a:prstGeom>
        </p:spPr>
      </p:pic>
      <p:pic>
        <p:nvPicPr>
          <p:cNvPr id="16" name="Picture 15" descr="image.png"/>
          <p:cNvPicPr>
            <a:picLocks noChangeAspect="1"/>
          </p:cNvPicPr>
          <p:nvPr/>
        </p:nvPicPr>
        <p:blipFill>
          <a:blip r:embed="rId9"/>
          <a:stretch>
            <a:fillRect/>
          </a:stretch>
        </p:blipFill>
        <p:spPr>
          <a:xfrm>
            <a:off x="3514725" y="4335660"/>
            <a:ext cx="123825" cy="142875"/>
          </a:xfrm>
          <a:prstGeom prst="rect">
            <a:avLst/>
          </a:prstGeom>
        </p:spPr>
      </p:pic>
    </p:spTree>
    <p:extLst>
      <p:ext uri="{BB962C8B-B14F-4D97-AF65-F5344CB8AC3E}">
        <p14:creationId xmlns:p14="http://schemas.microsoft.com/office/powerpoint/2010/main" val="401560606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15672"/>
            <a:ext cx="12192000" cy="7038548"/>
          </a:xfrm>
          <a:prstGeom prst="rect">
            <a:avLst/>
          </a:prstGeom>
        </p:spPr>
      </p:pic>
      <p:sp>
        <p:nvSpPr>
          <p:cNvPr id="3" name="Rectangle 2"/>
          <p:cNvSpPr/>
          <p:nvPr/>
        </p:nvSpPr>
        <p:spPr>
          <a:xfrm>
            <a:off x="1479885" y="1649479"/>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6274" y="994673"/>
            <a:ext cx="3513221" cy="600164"/>
          </a:xfrm>
          <a:prstGeom prst="rect">
            <a:avLst/>
          </a:prstGeom>
          <a:noFill/>
        </p:spPr>
        <p:txBody>
          <a:bodyPr wrap="square" lIns="0" tIns="0" rIns="0" bIns="0" anchor="t">
            <a:spAutoFit/>
          </a:bodyPr>
          <a:lstStyle/>
          <a:p>
            <a:r>
              <a:rPr lang="fr-FR" sz="3900" b="1" i="0" u="none" dirty="0" smtClean="0">
                <a:solidFill>
                  <a:srgbClr val="FFFFFF"/>
                </a:solidFill>
                <a:latin typeface="Orbitron"/>
              </a:rPr>
              <a:t>OUTLINE</a:t>
            </a:r>
            <a:endParaRPr sz="3900" b="1" i="0" u="none" dirty="0">
              <a:solidFill>
                <a:srgbClr val="FFFFFF"/>
              </a:solidFill>
              <a:latin typeface="Orbitron"/>
            </a:endParaRPr>
          </a:p>
        </p:txBody>
      </p:sp>
      <p:sp>
        <p:nvSpPr>
          <p:cNvPr id="6" name="TextBox 5"/>
          <p:cNvSpPr txBox="1"/>
          <p:nvPr/>
        </p:nvSpPr>
        <p:spPr>
          <a:xfrm>
            <a:off x="870284" y="2220177"/>
            <a:ext cx="3637547" cy="2677656"/>
          </a:xfrm>
          <a:prstGeom prst="rect">
            <a:avLst/>
          </a:prstGeom>
          <a:noFill/>
        </p:spPr>
        <p:txBody>
          <a:bodyPr wrap="square" rtlCol="0">
            <a:spAutoFit/>
          </a:bodyPr>
          <a:lstStyle/>
          <a:p>
            <a:pPr marL="285750" indent="-285750">
              <a:buFontTx/>
              <a:buChar char="-"/>
            </a:pPr>
            <a:r>
              <a:rPr lang="fr-FR" sz="2800" dirty="0" err="1" smtClean="0">
                <a:solidFill>
                  <a:schemeClr val="bg1"/>
                </a:solidFill>
              </a:rPr>
              <a:t>Executive</a:t>
            </a:r>
            <a:r>
              <a:rPr lang="fr-FR" sz="2800" dirty="0" smtClean="0">
                <a:solidFill>
                  <a:schemeClr val="bg1"/>
                </a:solidFill>
              </a:rPr>
              <a:t> </a:t>
            </a:r>
            <a:r>
              <a:rPr lang="fr-FR" sz="2800" dirty="0" err="1" smtClean="0">
                <a:solidFill>
                  <a:schemeClr val="bg1"/>
                </a:solidFill>
              </a:rPr>
              <a:t>Summary</a:t>
            </a:r>
            <a:endParaRPr lang="fr-FR" sz="2800" dirty="0" smtClean="0">
              <a:solidFill>
                <a:schemeClr val="bg1"/>
              </a:solidFill>
            </a:endParaRPr>
          </a:p>
          <a:p>
            <a:pPr marL="285750" indent="-285750">
              <a:buFontTx/>
              <a:buChar char="-"/>
            </a:pPr>
            <a:r>
              <a:rPr lang="fr-FR" sz="2800" dirty="0" err="1" smtClean="0">
                <a:solidFill>
                  <a:schemeClr val="bg1"/>
                </a:solidFill>
              </a:rPr>
              <a:t>Intoduction</a:t>
            </a:r>
            <a:endParaRPr lang="fr-FR" sz="2800" dirty="0" smtClean="0">
              <a:solidFill>
                <a:schemeClr val="bg1"/>
              </a:solidFill>
            </a:endParaRPr>
          </a:p>
          <a:p>
            <a:pPr marL="285750" indent="-285750">
              <a:buFontTx/>
              <a:buChar char="-"/>
            </a:pPr>
            <a:r>
              <a:rPr lang="fr-FR" sz="2800" dirty="0" err="1" smtClean="0">
                <a:solidFill>
                  <a:schemeClr val="bg1"/>
                </a:solidFill>
              </a:rPr>
              <a:t>Methodology</a:t>
            </a:r>
            <a:endParaRPr lang="fr-FR" sz="2800" dirty="0" smtClean="0">
              <a:solidFill>
                <a:schemeClr val="bg1"/>
              </a:solidFill>
            </a:endParaRPr>
          </a:p>
          <a:p>
            <a:pPr marL="285750" indent="-285750">
              <a:buFontTx/>
              <a:buChar char="-"/>
            </a:pPr>
            <a:r>
              <a:rPr lang="fr-FR" sz="2800" dirty="0" err="1" smtClean="0">
                <a:solidFill>
                  <a:schemeClr val="bg1"/>
                </a:solidFill>
              </a:rPr>
              <a:t>Results</a:t>
            </a:r>
            <a:endParaRPr lang="fr-FR" sz="2800" dirty="0" smtClean="0">
              <a:solidFill>
                <a:schemeClr val="bg1"/>
              </a:solidFill>
            </a:endParaRPr>
          </a:p>
          <a:p>
            <a:pPr marL="285750" indent="-285750">
              <a:buFontTx/>
              <a:buChar char="-"/>
            </a:pPr>
            <a:r>
              <a:rPr lang="fr-FR" sz="2800" dirty="0" smtClean="0">
                <a:solidFill>
                  <a:schemeClr val="bg1"/>
                </a:solidFill>
              </a:rPr>
              <a:t>Discussion</a:t>
            </a:r>
          </a:p>
          <a:p>
            <a:pPr marL="285750" indent="-285750">
              <a:buFontTx/>
              <a:buChar char="-"/>
            </a:pPr>
            <a:r>
              <a:rPr lang="fr-FR" sz="2800" dirty="0" smtClean="0">
                <a:solidFill>
                  <a:schemeClr val="bg1"/>
                </a:solidFill>
              </a:rPr>
              <a:t>Conclusion</a:t>
            </a:r>
            <a:endParaRPr lang="en-US" sz="2800" dirty="0">
              <a:solidFill>
                <a:schemeClr val="bg1"/>
              </a:solidFill>
            </a:endParaRPr>
          </a:p>
        </p:txBody>
      </p:sp>
    </p:spTree>
    <p:extLst>
      <p:ext uri="{BB962C8B-B14F-4D97-AF65-F5344CB8AC3E}">
        <p14:creationId xmlns:p14="http://schemas.microsoft.com/office/powerpoint/2010/main" val="265320746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32B"/>
        </a:solidFill>
        <a:effectLst/>
      </p:bgPr>
    </p:bg>
    <p:spTree>
      <p:nvGrpSpPr>
        <p:cNvPr id="1" name=""/>
        <p:cNvGrpSpPr/>
        <p:nvPr/>
      </p:nvGrpSpPr>
      <p:grpSpPr>
        <a:xfrm>
          <a:off x="0" y="0"/>
          <a:ext cx="0" cy="0"/>
          <a:chOff x="0" y="0"/>
          <a:chExt cx="0" cy="0"/>
        </a:xfrm>
      </p:grpSpPr>
      <p:sp>
        <p:nvSpPr>
          <p:cNvPr id="3" name="Rectangle 2"/>
          <p:cNvSpPr/>
          <p:nvPr/>
        </p:nvSpPr>
        <p:spPr>
          <a:xfrm>
            <a:off x="5715000" y="1382395"/>
            <a:ext cx="762000" cy="3810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285398" y="636922"/>
            <a:ext cx="9621202" cy="628650"/>
          </a:xfrm>
          <a:prstGeom prst="rect">
            <a:avLst/>
          </a:prstGeom>
          <a:noFill/>
        </p:spPr>
        <p:txBody>
          <a:bodyPr wrap="square" lIns="0" tIns="0" rIns="0" bIns="0" anchor="t">
            <a:spAutoFit/>
          </a:bodyPr>
          <a:lstStyle/>
          <a:p>
            <a:pPr algn="ctr"/>
            <a:r>
              <a:rPr sz="3900" b="1" i="0" u="none" dirty="0">
                <a:solidFill>
                  <a:srgbClr val="FFFFFF"/>
                </a:solidFill>
                <a:latin typeface="Orbitron"/>
              </a:rPr>
              <a:t>Executive Summary &amp; Overview</a:t>
            </a:r>
          </a:p>
        </p:txBody>
      </p:sp>
      <p:sp>
        <p:nvSpPr>
          <p:cNvPr id="5" name="TextBox 4"/>
          <p:cNvSpPr txBox="1"/>
          <p:nvPr/>
        </p:nvSpPr>
        <p:spPr>
          <a:xfrm>
            <a:off x="466725" y="1902494"/>
            <a:ext cx="11195886" cy="3347583"/>
          </a:xfrm>
          <a:prstGeom prst="rect">
            <a:avLst/>
          </a:prstGeom>
          <a:noFill/>
        </p:spPr>
        <p:txBody>
          <a:bodyPr wrap="square" lIns="0" tIns="0" rIns="0" bIns="0" anchor="t">
            <a:spAutoFit/>
          </a:bodyPr>
          <a:lstStyle/>
          <a:p>
            <a:pPr>
              <a:lnSpc>
                <a:spcPts val="2250"/>
              </a:lnSpc>
            </a:pPr>
            <a:endParaRPr lang="fr-FR" sz="1500" dirty="0">
              <a:solidFill>
                <a:schemeClr val="bg1"/>
              </a:solidFill>
              <a:latin typeface="Inter"/>
            </a:endParaRPr>
          </a:p>
          <a:p>
            <a:pPr marL="285750" indent="-285750">
              <a:buFont typeface="Arial" panose="020B0604020202020204" pitchFamily="34" charset="0"/>
              <a:buChar char="•"/>
            </a:pPr>
            <a:r>
              <a:rPr lang="en-US" sz="1280" dirty="0">
                <a:solidFill>
                  <a:schemeClr val="bg1"/>
                </a:solidFill>
              </a:rPr>
              <a:t>This Applied Data Science capstone project was centered on the prediction of </a:t>
            </a:r>
            <a:r>
              <a:rPr lang="en-US" sz="1280" dirty="0" err="1">
                <a:solidFill>
                  <a:schemeClr val="bg1"/>
                </a:solidFill>
              </a:rPr>
              <a:t>SpaceX</a:t>
            </a:r>
            <a:r>
              <a:rPr lang="en-US" sz="1280" dirty="0">
                <a:solidFill>
                  <a:schemeClr val="bg1"/>
                </a:solidFill>
              </a:rPr>
              <a:t> Falcon 9 first-stage landing outcomes—a practical challenge situated at the intersection of aerospace engineering and data-driven modeling</a:t>
            </a:r>
            <a:r>
              <a:rPr lang="en-US" sz="1280" dirty="0" smtClean="0">
                <a:solidFill>
                  <a:schemeClr val="bg1"/>
                </a:solidFill>
              </a:rPr>
              <a:t>.</a:t>
            </a:r>
          </a:p>
          <a:p>
            <a:endParaRPr lang="en-US" sz="1280" dirty="0" smtClean="0">
              <a:solidFill>
                <a:schemeClr val="bg1"/>
              </a:solidFill>
            </a:endParaRPr>
          </a:p>
          <a:p>
            <a:pPr marL="285750" indent="-285750">
              <a:buFont typeface="Arial" panose="020B0604020202020204" pitchFamily="34" charset="0"/>
              <a:buChar char="•"/>
            </a:pPr>
            <a:r>
              <a:rPr lang="en-US" sz="1280" dirty="0">
                <a:solidFill>
                  <a:schemeClr val="bg1"/>
                </a:solidFill>
              </a:rPr>
              <a:t>The work commenced with the collection and preprocessing of launch records, during which the data were cleansed, structured, and transformed into an analyzable format. Exploratory data analysis was then conducted to uncover latent patterns and correlations within the dataset</a:t>
            </a:r>
            <a:r>
              <a:rPr lang="en-US" sz="1280" dirty="0" smtClean="0">
                <a:solidFill>
                  <a:schemeClr val="bg1"/>
                </a:solidFill>
              </a:rPr>
              <a:t>.</a:t>
            </a:r>
          </a:p>
          <a:p>
            <a:pPr marL="285750" indent="-285750">
              <a:buFont typeface="Arial" panose="020B0604020202020204" pitchFamily="34" charset="0"/>
              <a:buChar char="•"/>
            </a:pPr>
            <a:endParaRPr lang="fr-FR" sz="1280" dirty="0">
              <a:solidFill>
                <a:schemeClr val="bg1"/>
              </a:solidFill>
            </a:endParaRPr>
          </a:p>
          <a:p>
            <a:pPr marL="285750" indent="-285750">
              <a:buFont typeface="Arial" panose="020B0604020202020204" pitchFamily="34" charset="0"/>
              <a:buChar char="•"/>
            </a:pPr>
            <a:r>
              <a:rPr lang="en-US" sz="1280" dirty="0">
                <a:solidFill>
                  <a:schemeClr val="bg1"/>
                </a:solidFill>
              </a:rPr>
              <a:t>Through the use of interactive visualization techniques, the influence of key predictors—including payload mass, orbital destination, and booster configuration—on mission success was systematically examined</a:t>
            </a:r>
            <a:r>
              <a:rPr lang="en-US" sz="1280" dirty="0" smtClean="0">
                <a:solidFill>
                  <a:schemeClr val="bg1"/>
                </a:solidFill>
              </a:rPr>
              <a:t>.</a:t>
            </a:r>
          </a:p>
          <a:p>
            <a:pPr marL="285750" indent="-285750">
              <a:buFont typeface="Arial" panose="020B0604020202020204" pitchFamily="34" charset="0"/>
              <a:buChar char="•"/>
            </a:pPr>
            <a:endParaRPr lang="fr-FR" sz="1280" dirty="0">
              <a:solidFill>
                <a:schemeClr val="bg1"/>
              </a:solidFill>
            </a:endParaRPr>
          </a:p>
          <a:p>
            <a:pPr marL="285750" indent="-285750">
              <a:buFont typeface="Arial" panose="020B0604020202020204" pitchFamily="34" charset="0"/>
              <a:buChar char="•"/>
            </a:pPr>
            <a:r>
              <a:rPr lang="en-US" sz="1280" dirty="0">
                <a:solidFill>
                  <a:schemeClr val="bg1"/>
                </a:solidFill>
              </a:rPr>
              <a:t>A range of machine learning classifiers was subsequently trained and evaluated. Among these, the Decision Tree algorithm yielded the highest predictive accuracy for landing success</a:t>
            </a:r>
            <a:r>
              <a:rPr lang="en-US" sz="1280" dirty="0" smtClean="0">
                <a:solidFill>
                  <a:schemeClr val="bg1"/>
                </a:solidFill>
              </a:rPr>
              <a:t>.</a:t>
            </a:r>
          </a:p>
          <a:p>
            <a:pPr marL="285750" indent="-285750">
              <a:buFont typeface="Arial" panose="020B0604020202020204" pitchFamily="34" charset="0"/>
              <a:buChar char="•"/>
            </a:pPr>
            <a:endParaRPr lang="fr-FR" sz="1280" dirty="0">
              <a:solidFill>
                <a:schemeClr val="bg1"/>
              </a:solidFill>
            </a:endParaRPr>
          </a:p>
          <a:p>
            <a:pPr marL="285750" indent="-285750">
              <a:buFont typeface="Arial" panose="020B0604020202020204" pitchFamily="34" charset="0"/>
              <a:buChar char="•"/>
            </a:pPr>
            <a:r>
              <a:rPr lang="en-US" sz="1280" dirty="0">
                <a:solidFill>
                  <a:schemeClr val="bg1"/>
                </a:solidFill>
              </a:rPr>
              <a:t>Overall, this project contributed to both technical competency in data science and a broader appreciation for its application in high-stakes, real-world domains such as spaceflight operations</a:t>
            </a:r>
            <a:r>
              <a:rPr lang="en-US" sz="1280" dirty="0" smtClean="0">
                <a:solidFill>
                  <a:schemeClr val="bg1"/>
                </a:solidFill>
              </a:rPr>
              <a:t>.</a:t>
            </a:r>
            <a:endParaRPr lang="en-US" sz="1280" dirty="0">
              <a:solidFill>
                <a:schemeClr val="bg1"/>
              </a:solidFill>
            </a:endParaRPr>
          </a:p>
          <a:p>
            <a:pPr>
              <a:lnSpc>
                <a:spcPts val="2250"/>
              </a:lnSpc>
            </a:pPr>
            <a:endParaRPr sz="1280" dirty="0">
              <a:solidFill>
                <a:schemeClr val="bg1"/>
              </a:solidFill>
            </a:endParaRP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82296" y="-16032"/>
            <a:ext cx="12545620" cy="7056912"/>
          </a:xfrm>
          <a:prstGeom prst="rect">
            <a:avLst/>
          </a:prstGeom>
        </p:spPr>
      </p:pic>
      <p:sp>
        <p:nvSpPr>
          <p:cNvPr id="3" name="Rectangle 2"/>
          <p:cNvSpPr/>
          <p:nvPr/>
        </p:nvSpPr>
        <p:spPr>
          <a:xfrm>
            <a:off x="5715000" y="1382395"/>
            <a:ext cx="762000" cy="3810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285398" y="636922"/>
            <a:ext cx="9621202" cy="600164"/>
          </a:xfrm>
          <a:prstGeom prst="rect">
            <a:avLst/>
          </a:prstGeom>
          <a:noFill/>
        </p:spPr>
        <p:txBody>
          <a:bodyPr wrap="square" lIns="0" tIns="0" rIns="0" bIns="0" anchor="t">
            <a:spAutoFit/>
          </a:bodyPr>
          <a:lstStyle/>
          <a:p>
            <a:pPr algn="ctr"/>
            <a:r>
              <a:rPr lang="fr-FR" sz="3900" b="1" i="0" u="none" dirty="0" smtClean="0">
                <a:solidFill>
                  <a:srgbClr val="FFFFFF"/>
                </a:solidFill>
                <a:latin typeface="Orbitron"/>
              </a:rPr>
              <a:t>Introduction</a:t>
            </a:r>
            <a:endParaRPr sz="3900" b="1" i="0" u="none" dirty="0">
              <a:solidFill>
                <a:srgbClr val="FFFFFF"/>
              </a:solidFill>
              <a:latin typeface="Orbitron"/>
            </a:endParaRPr>
          </a:p>
        </p:txBody>
      </p:sp>
      <p:sp>
        <p:nvSpPr>
          <p:cNvPr id="6" name="TextBox 5"/>
          <p:cNvSpPr txBox="1"/>
          <p:nvPr/>
        </p:nvSpPr>
        <p:spPr>
          <a:xfrm>
            <a:off x="466725" y="1902494"/>
            <a:ext cx="11195886" cy="1772793"/>
          </a:xfrm>
          <a:prstGeom prst="rect">
            <a:avLst/>
          </a:prstGeom>
          <a:noFill/>
        </p:spPr>
        <p:txBody>
          <a:bodyPr wrap="square" lIns="0" tIns="0" rIns="0" bIns="0" anchor="t">
            <a:spAutoFit/>
          </a:bodyPr>
          <a:lstStyle/>
          <a:p>
            <a:pPr indent="-285750">
              <a:buFont typeface="Arial" panose="020B0604020202020204" pitchFamily="34" charset="0"/>
              <a:buChar char="•"/>
            </a:pPr>
            <a:r>
              <a:rPr lang="en-US" sz="1280" dirty="0" smtClean="0">
                <a:solidFill>
                  <a:schemeClr val="bg1"/>
                </a:solidFill>
              </a:rPr>
              <a:t>In this capstone, the prediction of whether the Falcon 9 first stage will land successfully is undertaken. Falcon 9 rocket launches are advertised by </a:t>
            </a:r>
            <a:r>
              <a:rPr lang="en-US" sz="1280" dirty="0" err="1" smtClean="0">
                <a:solidFill>
                  <a:schemeClr val="bg1"/>
                </a:solidFill>
              </a:rPr>
              <a:t>SpaceX</a:t>
            </a:r>
            <a:r>
              <a:rPr lang="en-US" sz="1280" dirty="0" smtClean="0">
                <a:solidFill>
                  <a:schemeClr val="bg1"/>
                </a:solidFill>
              </a:rPr>
              <a:t> on its website at a cost of 62 million dollars; costs of upward of 165 million dollars per launch are charged by other providers. Much of this savings is accounted for by the reusability of the first stage by </a:t>
            </a:r>
            <a:r>
              <a:rPr lang="en-US" sz="1280" dirty="0" err="1" smtClean="0">
                <a:solidFill>
                  <a:schemeClr val="bg1"/>
                </a:solidFill>
              </a:rPr>
              <a:t>SpaceX</a:t>
            </a:r>
            <a:r>
              <a:rPr lang="en-US" sz="1280" dirty="0" smtClean="0">
                <a:solidFill>
                  <a:schemeClr val="bg1"/>
                </a:solidFill>
              </a:rPr>
              <a:t>. Therefore, if the successful landing of the first stage can be determined, the cost of a launch can also be determined. This information can be used if a bid against </a:t>
            </a:r>
            <a:r>
              <a:rPr lang="en-US" sz="1280" dirty="0" err="1" smtClean="0">
                <a:solidFill>
                  <a:schemeClr val="bg1"/>
                </a:solidFill>
              </a:rPr>
              <a:t>SpaceX</a:t>
            </a:r>
            <a:r>
              <a:rPr lang="en-US" sz="1280" dirty="0" smtClean="0">
                <a:solidFill>
                  <a:schemeClr val="bg1"/>
                </a:solidFill>
              </a:rPr>
              <a:t> for a rocket launch is being considered by an alternate company.</a:t>
            </a:r>
          </a:p>
          <a:p>
            <a:endParaRPr lang="en-US" sz="1280" dirty="0" smtClean="0">
              <a:solidFill>
                <a:schemeClr val="bg1"/>
              </a:solidFill>
            </a:endParaRPr>
          </a:p>
          <a:p>
            <a:pPr indent="-285750">
              <a:buFont typeface="Arial" panose="020B0604020202020204" pitchFamily="34" charset="0"/>
              <a:buChar char="•"/>
            </a:pPr>
            <a:r>
              <a:rPr lang="en-US" sz="1280" dirty="0" smtClean="0">
                <a:solidFill>
                  <a:schemeClr val="bg1"/>
                </a:solidFill>
              </a:rPr>
              <a:t>Most </a:t>
            </a:r>
            <a:r>
              <a:rPr lang="en-US" sz="1280" dirty="0">
                <a:solidFill>
                  <a:schemeClr val="bg1"/>
                </a:solidFill>
              </a:rPr>
              <a:t>unsuccessful landings are planned. Occasionally, a controlled landing in the ocean is performed by </a:t>
            </a:r>
            <a:r>
              <a:rPr lang="en-US" sz="1280" dirty="0" err="1">
                <a:solidFill>
                  <a:schemeClr val="bg1"/>
                </a:solidFill>
              </a:rPr>
              <a:t>SpaceX</a:t>
            </a:r>
            <a:r>
              <a:rPr lang="en-US" sz="1280" dirty="0" smtClean="0">
                <a:solidFill>
                  <a:schemeClr val="bg1"/>
                </a:solidFill>
              </a:rPr>
              <a:t>.</a:t>
            </a:r>
          </a:p>
          <a:p>
            <a:pPr indent="-285750">
              <a:buFont typeface="Arial" panose="020B0604020202020204" pitchFamily="34" charset="0"/>
              <a:buChar char="•"/>
            </a:pPr>
            <a:endParaRPr lang="fr-FR" sz="1280" dirty="0">
              <a:solidFill>
                <a:schemeClr val="bg1"/>
              </a:solidFill>
            </a:endParaRPr>
          </a:p>
          <a:p>
            <a:pPr indent="-285750">
              <a:buFont typeface="Arial" panose="020B0604020202020204" pitchFamily="34" charset="0"/>
              <a:buChar char="•"/>
            </a:pPr>
            <a:r>
              <a:rPr lang="en-US" sz="1280" dirty="0">
                <a:solidFill>
                  <a:schemeClr val="bg1"/>
                </a:solidFill>
              </a:rPr>
              <a:t>The main question that is being addressed is this: given a set of features about a Falcon 9 rocket launch—which include its payload mass, orbit type, launch site, and so on—will a successful landing of the first stage be achieved</a:t>
            </a:r>
            <a:r>
              <a:rPr lang="en-US" sz="1280" dirty="0" smtClean="0">
                <a:solidFill>
                  <a:schemeClr val="bg1"/>
                </a:solidFill>
              </a:rPr>
              <a:t>?</a:t>
            </a:r>
            <a:endParaRPr lang="en-US" sz="1280" dirty="0">
              <a:solidFill>
                <a:schemeClr val="bg1"/>
              </a:solidFill>
            </a:endParaRPr>
          </a:p>
        </p:txBody>
      </p:sp>
    </p:spTree>
    <p:extLst>
      <p:ext uri="{BB962C8B-B14F-4D97-AF65-F5344CB8AC3E}">
        <p14:creationId xmlns:p14="http://schemas.microsoft.com/office/powerpoint/2010/main" val="272705549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153202" y="0"/>
            <a:ext cx="12573802" cy="6858000"/>
          </a:xfrm>
          <a:prstGeom prst="rect">
            <a:avLst/>
          </a:prstGeom>
        </p:spPr>
      </p:pic>
      <p:sp>
        <p:nvSpPr>
          <p:cNvPr id="3" name="Rectangle 2"/>
          <p:cNvSpPr/>
          <p:nvPr/>
        </p:nvSpPr>
        <p:spPr>
          <a:xfrm>
            <a:off x="5715000" y="1382395"/>
            <a:ext cx="762000" cy="3810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285398" y="636922"/>
            <a:ext cx="9621202" cy="600164"/>
          </a:xfrm>
          <a:prstGeom prst="rect">
            <a:avLst/>
          </a:prstGeom>
          <a:noFill/>
        </p:spPr>
        <p:txBody>
          <a:bodyPr wrap="square" lIns="0" tIns="0" rIns="0" bIns="0" anchor="t">
            <a:spAutoFit/>
          </a:bodyPr>
          <a:lstStyle/>
          <a:p>
            <a:pPr algn="ctr"/>
            <a:r>
              <a:rPr lang="fr-FR" sz="3900" b="1" i="0" u="none" dirty="0" err="1" smtClean="0">
                <a:solidFill>
                  <a:srgbClr val="FFFFFF"/>
                </a:solidFill>
                <a:latin typeface="Orbitron"/>
              </a:rPr>
              <a:t>Methodology</a:t>
            </a:r>
            <a:endParaRPr sz="3900" b="1" i="0" u="none" dirty="0">
              <a:solidFill>
                <a:srgbClr val="FFFFFF"/>
              </a:solidFill>
              <a:latin typeface="Orbitron"/>
            </a:endParaRPr>
          </a:p>
        </p:txBody>
      </p:sp>
      <p:sp>
        <p:nvSpPr>
          <p:cNvPr id="5" name="TextBox 4"/>
          <p:cNvSpPr txBox="1"/>
          <p:nvPr/>
        </p:nvSpPr>
        <p:spPr>
          <a:xfrm>
            <a:off x="360897" y="1874008"/>
            <a:ext cx="11195886" cy="3742563"/>
          </a:xfrm>
          <a:prstGeom prst="rect">
            <a:avLst/>
          </a:prstGeom>
          <a:noFill/>
        </p:spPr>
        <p:txBody>
          <a:bodyPr wrap="square" lIns="0" tIns="0" rIns="0" bIns="0" anchor="t">
            <a:spAutoFit/>
          </a:bodyPr>
          <a:lstStyle/>
          <a:p>
            <a:pPr marL="285750" indent="-285750">
              <a:buFont typeface="Arial" panose="020B0604020202020204" pitchFamily="34" charset="0"/>
              <a:buChar char="•"/>
            </a:pPr>
            <a:r>
              <a:rPr lang="en-US" sz="1280" dirty="0" smtClean="0">
                <a:solidFill>
                  <a:schemeClr val="bg1"/>
                </a:solidFill>
              </a:rPr>
              <a:t>Data collection methodology :</a:t>
            </a:r>
          </a:p>
          <a:p>
            <a:pPr marL="742950" lvl="1" indent="-285750">
              <a:buFont typeface="Arial" panose="020B0604020202020204" pitchFamily="34" charset="0"/>
              <a:buChar char="•"/>
            </a:pPr>
            <a:r>
              <a:rPr lang="en-US" sz="1280" dirty="0" smtClean="0">
                <a:solidFill>
                  <a:schemeClr val="bg1"/>
                </a:solidFill>
              </a:rPr>
              <a:t>Retrieval and consolidation from multiple </a:t>
            </a:r>
            <a:r>
              <a:rPr lang="en-US" sz="1280" dirty="0" err="1" smtClean="0">
                <a:solidFill>
                  <a:schemeClr val="bg1"/>
                </a:solidFill>
              </a:rPr>
              <a:t>SpaceX</a:t>
            </a:r>
            <a:r>
              <a:rPr lang="en-US" sz="1280" dirty="0" smtClean="0">
                <a:solidFill>
                  <a:schemeClr val="bg1"/>
                </a:solidFill>
              </a:rPr>
              <a:t> API  </a:t>
            </a:r>
            <a:r>
              <a:rPr lang="en-US" sz="1280" dirty="0" err="1" smtClean="0">
                <a:solidFill>
                  <a:schemeClr val="bg1"/>
                </a:solidFill>
              </a:rPr>
              <a:t>endponts</a:t>
            </a:r>
            <a:endParaRPr lang="en-US" sz="1280" dirty="0" smtClean="0">
              <a:solidFill>
                <a:schemeClr val="bg1"/>
              </a:solidFill>
            </a:endParaRPr>
          </a:p>
          <a:p>
            <a:pPr marL="742950" lvl="1" indent="-285750">
              <a:buFont typeface="Arial" panose="020B0604020202020204" pitchFamily="34" charset="0"/>
              <a:buChar char="•"/>
            </a:pPr>
            <a:r>
              <a:rPr lang="en-US" sz="1280" dirty="0" smtClean="0">
                <a:solidFill>
                  <a:schemeClr val="bg1"/>
                </a:solidFill>
              </a:rPr>
              <a:t>Web </a:t>
            </a:r>
            <a:r>
              <a:rPr lang="en-US" sz="1280" dirty="0" err="1" smtClean="0">
                <a:solidFill>
                  <a:schemeClr val="bg1"/>
                </a:solidFill>
              </a:rPr>
              <a:t>scaping</a:t>
            </a:r>
            <a:r>
              <a:rPr lang="en-US" sz="1280" dirty="0" smtClean="0">
                <a:solidFill>
                  <a:schemeClr val="bg1"/>
                </a:solidFill>
              </a:rPr>
              <a:t> tabular data from Wikipedia  </a:t>
            </a:r>
          </a:p>
          <a:p>
            <a:pPr marL="285750" indent="-285750">
              <a:buFont typeface="Arial" panose="020B0604020202020204" pitchFamily="34" charset="0"/>
              <a:buChar char="•"/>
            </a:pPr>
            <a:endParaRPr lang="en-US" sz="1280" dirty="0" smtClean="0">
              <a:solidFill>
                <a:schemeClr val="bg1"/>
              </a:solidFill>
            </a:endParaRPr>
          </a:p>
          <a:p>
            <a:pPr marL="285750" indent="-285750">
              <a:buFont typeface="Arial" panose="020B0604020202020204" pitchFamily="34" charset="0"/>
              <a:buChar char="•"/>
            </a:pPr>
            <a:r>
              <a:rPr lang="en-US" sz="1280" dirty="0" smtClean="0">
                <a:solidFill>
                  <a:schemeClr val="bg1"/>
                </a:solidFill>
              </a:rPr>
              <a:t>Perform data wrangling </a:t>
            </a:r>
          </a:p>
          <a:p>
            <a:pPr marL="742950" lvl="1" indent="-285750">
              <a:buFont typeface="Arial" panose="020B0604020202020204" pitchFamily="34" charset="0"/>
              <a:buChar char="•"/>
            </a:pPr>
            <a:r>
              <a:rPr lang="en-US" sz="1280" dirty="0" smtClean="0">
                <a:solidFill>
                  <a:schemeClr val="bg1"/>
                </a:solidFill>
              </a:rPr>
              <a:t>Extracted relevant records </a:t>
            </a:r>
          </a:p>
          <a:p>
            <a:pPr marL="742950" lvl="1" indent="-285750">
              <a:buFont typeface="Arial" panose="020B0604020202020204" pitchFamily="34" charset="0"/>
              <a:buChar char="•"/>
            </a:pPr>
            <a:r>
              <a:rPr lang="en-US" sz="1280" dirty="0" smtClean="0">
                <a:solidFill>
                  <a:schemeClr val="bg1"/>
                </a:solidFill>
              </a:rPr>
              <a:t>Flattened fields and resolved missing values endpoints </a:t>
            </a:r>
          </a:p>
          <a:p>
            <a:pPr marL="285750" indent="-285750">
              <a:buFont typeface="Arial" panose="020B0604020202020204" pitchFamily="34" charset="0"/>
              <a:buChar char="•"/>
            </a:pPr>
            <a:endParaRPr lang="en-US" sz="1280" dirty="0" smtClean="0">
              <a:solidFill>
                <a:schemeClr val="bg1"/>
              </a:solidFill>
            </a:endParaRPr>
          </a:p>
          <a:p>
            <a:pPr marL="285750" indent="-285750">
              <a:buFont typeface="Arial" panose="020B0604020202020204" pitchFamily="34" charset="0"/>
              <a:buChar char="•"/>
            </a:pPr>
            <a:r>
              <a:rPr lang="en-US" sz="1280" dirty="0" smtClean="0">
                <a:solidFill>
                  <a:schemeClr val="bg1"/>
                </a:solidFill>
              </a:rPr>
              <a:t> Perform exploratory data analysis (EDA) using visualization and SQL </a:t>
            </a:r>
          </a:p>
          <a:p>
            <a:pPr marL="742950" lvl="1" indent="-285750">
              <a:buFont typeface="Arial" panose="020B0604020202020204" pitchFamily="34" charset="0"/>
              <a:buChar char="•"/>
            </a:pPr>
            <a:r>
              <a:rPr lang="en-US" sz="1280" dirty="0" smtClean="0">
                <a:solidFill>
                  <a:schemeClr val="bg1"/>
                </a:solidFill>
              </a:rPr>
              <a:t> Visualize variable relationships </a:t>
            </a:r>
          </a:p>
          <a:p>
            <a:pPr marL="742950" lvl="1" indent="-285750">
              <a:buFont typeface="Arial" panose="020B0604020202020204" pitchFamily="34" charset="0"/>
              <a:buChar char="•"/>
            </a:pPr>
            <a:r>
              <a:rPr lang="en-US" sz="1280" dirty="0" smtClean="0">
                <a:solidFill>
                  <a:schemeClr val="bg1"/>
                </a:solidFill>
              </a:rPr>
              <a:t> Look at the data in aggregate </a:t>
            </a:r>
          </a:p>
          <a:p>
            <a:pPr lvl="1"/>
            <a:endParaRPr lang="en-US" sz="1280" dirty="0" smtClean="0">
              <a:solidFill>
                <a:schemeClr val="bg1"/>
              </a:solidFill>
            </a:endParaRPr>
          </a:p>
          <a:p>
            <a:pPr marL="285750" indent="-285750">
              <a:buFont typeface="Arial" panose="020B0604020202020204" pitchFamily="34" charset="0"/>
              <a:buChar char="•"/>
            </a:pPr>
            <a:r>
              <a:rPr lang="en-US" sz="1280" dirty="0" smtClean="0">
                <a:solidFill>
                  <a:schemeClr val="bg1"/>
                </a:solidFill>
              </a:rPr>
              <a:t>Perform interactive visual analytics using Folium and </a:t>
            </a:r>
            <a:r>
              <a:rPr lang="en-US" sz="1280" dirty="0" err="1" smtClean="0">
                <a:solidFill>
                  <a:schemeClr val="bg1"/>
                </a:solidFill>
              </a:rPr>
              <a:t>Plotly</a:t>
            </a:r>
            <a:r>
              <a:rPr lang="en-US" sz="1280" dirty="0" smtClean="0">
                <a:solidFill>
                  <a:schemeClr val="bg1"/>
                </a:solidFill>
              </a:rPr>
              <a:t> Dash</a:t>
            </a:r>
          </a:p>
          <a:p>
            <a:pPr marL="742950" lvl="1" indent="-285750">
              <a:buFont typeface="Arial" panose="020B0604020202020204" pitchFamily="34" charset="0"/>
              <a:buChar char="•"/>
            </a:pPr>
            <a:r>
              <a:rPr lang="en-US" sz="1280" dirty="0" smtClean="0">
                <a:solidFill>
                  <a:schemeClr val="bg1"/>
                </a:solidFill>
              </a:rPr>
              <a:t>Mark all launch sites on a map </a:t>
            </a:r>
          </a:p>
          <a:p>
            <a:pPr marL="742950" lvl="1" indent="-285750">
              <a:buFont typeface="Arial" panose="020B0604020202020204" pitchFamily="34" charset="0"/>
              <a:buChar char="•"/>
            </a:pPr>
            <a:r>
              <a:rPr lang="en-US" sz="1280" dirty="0" smtClean="0">
                <a:solidFill>
                  <a:schemeClr val="bg1"/>
                </a:solidFill>
              </a:rPr>
              <a:t> Mark successful and failed launches</a:t>
            </a:r>
          </a:p>
          <a:p>
            <a:pPr marL="742950" lvl="1" indent="-285750">
              <a:buFont typeface="Arial" panose="020B0604020202020204" pitchFamily="34" charset="0"/>
              <a:buChar char="•"/>
            </a:pPr>
            <a:r>
              <a:rPr lang="en-US" sz="1280" dirty="0" smtClean="0">
                <a:solidFill>
                  <a:schemeClr val="bg1"/>
                </a:solidFill>
              </a:rPr>
              <a:t> Calculate distances to proximate locations </a:t>
            </a:r>
          </a:p>
          <a:p>
            <a:pPr marL="742950" lvl="1" indent="-285750">
              <a:buFont typeface="Arial" panose="020B0604020202020204" pitchFamily="34" charset="0"/>
              <a:buChar char="•"/>
            </a:pPr>
            <a:r>
              <a:rPr lang="en-US" sz="1280" dirty="0" smtClean="0">
                <a:solidFill>
                  <a:schemeClr val="bg1"/>
                </a:solidFill>
              </a:rPr>
              <a:t>Provide for interactive exploration of the data </a:t>
            </a:r>
          </a:p>
          <a:p>
            <a:pPr marL="285750" indent="-285750">
              <a:buFont typeface="Arial" panose="020B0604020202020204" pitchFamily="34" charset="0"/>
              <a:buChar char="•"/>
            </a:pPr>
            <a:r>
              <a:rPr lang="en-US" sz="1280" dirty="0" smtClean="0">
                <a:solidFill>
                  <a:schemeClr val="bg1"/>
                </a:solidFill>
              </a:rPr>
              <a:t>Perform predictive analysis using classification models 7 </a:t>
            </a:r>
          </a:p>
          <a:p>
            <a:pPr marL="742950" lvl="1" indent="-285750">
              <a:buFont typeface="Arial" panose="020B0604020202020204" pitchFamily="34" charset="0"/>
              <a:buChar char="•"/>
            </a:pPr>
            <a:r>
              <a:rPr lang="en-US" sz="1280" dirty="0" smtClean="0">
                <a:solidFill>
                  <a:schemeClr val="bg1"/>
                </a:solidFill>
              </a:rPr>
              <a:t> Build, evaluate, and compare several predictive classification models</a:t>
            </a:r>
            <a:endParaRPr lang="en-US" sz="1280" dirty="0">
              <a:solidFill>
                <a:schemeClr val="bg1"/>
              </a:solidFill>
            </a:endParaRPr>
          </a:p>
        </p:txBody>
      </p:sp>
    </p:spTree>
    <p:extLst>
      <p:ext uri="{BB962C8B-B14F-4D97-AF65-F5344CB8AC3E}">
        <p14:creationId xmlns:p14="http://schemas.microsoft.com/office/powerpoint/2010/main" val="196556880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715000" y="1382395"/>
            <a:ext cx="762000" cy="3810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285398" y="636922"/>
            <a:ext cx="9621202" cy="600164"/>
          </a:xfrm>
          <a:prstGeom prst="rect">
            <a:avLst/>
          </a:prstGeom>
          <a:noFill/>
        </p:spPr>
        <p:txBody>
          <a:bodyPr wrap="square" lIns="0" tIns="0" rIns="0" bIns="0" anchor="t">
            <a:spAutoFit/>
          </a:bodyPr>
          <a:lstStyle/>
          <a:p>
            <a:pPr algn="ctr"/>
            <a:r>
              <a:rPr lang="fr-FR" sz="3900" b="1" i="0" u="none" dirty="0" smtClean="0">
                <a:solidFill>
                  <a:srgbClr val="FFFFFF"/>
                </a:solidFill>
                <a:latin typeface="Orbitron"/>
              </a:rPr>
              <a:t>Data Collection</a:t>
            </a:r>
            <a:endParaRPr sz="3900" b="1" i="0" u="none" dirty="0">
              <a:solidFill>
                <a:srgbClr val="FFFFFF"/>
              </a:solidFill>
              <a:latin typeface="Orbitron"/>
            </a:endParaRPr>
          </a:p>
        </p:txBody>
      </p:sp>
      <p:sp>
        <p:nvSpPr>
          <p:cNvPr id="5" name="TextBox 4"/>
          <p:cNvSpPr txBox="1"/>
          <p:nvPr/>
        </p:nvSpPr>
        <p:spPr>
          <a:xfrm>
            <a:off x="360897" y="1874008"/>
            <a:ext cx="11195886" cy="1772793"/>
          </a:xfrm>
          <a:prstGeom prst="rect">
            <a:avLst/>
          </a:prstGeom>
          <a:noFill/>
        </p:spPr>
        <p:txBody>
          <a:bodyPr wrap="square" lIns="0" tIns="0" rIns="0" bIns="0" anchor="t">
            <a:spAutoFit/>
          </a:bodyPr>
          <a:lstStyle/>
          <a:p>
            <a:pPr marL="285750" indent="-285750">
              <a:buFont typeface="Arial" panose="020B0604020202020204" pitchFamily="34" charset="0"/>
              <a:buChar char="•"/>
            </a:pPr>
            <a:r>
              <a:rPr lang="fr-FR" sz="1280" dirty="0">
                <a:solidFill>
                  <a:schemeClr val="bg1"/>
                </a:solidFill>
              </a:rPr>
              <a:t>Data </a:t>
            </a:r>
            <a:r>
              <a:rPr lang="fr-FR" sz="1280" dirty="0" err="1">
                <a:solidFill>
                  <a:schemeClr val="bg1"/>
                </a:solidFill>
              </a:rPr>
              <a:t>was</a:t>
            </a:r>
            <a:r>
              <a:rPr lang="fr-FR" sz="1280" dirty="0">
                <a:solidFill>
                  <a:schemeClr val="bg1"/>
                </a:solidFill>
              </a:rPr>
              <a:t> </a:t>
            </a:r>
            <a:r>
              <a:rPr lang="fr-FR" sz="1280" dirty="0" err="1">
                <a:solidFill>
                  <a:schemeClr val="bg1"/>
                </a:solidFill>
              </a:rPr>
              <a:t>collected</a:t>
            </a:r>
            <a:r>
              <a:rPr lang="fr-FR" sz="1280" dirty="0">
                <a:solidFill>
                  <a:schemeClr val="bg1"/>
                </a:solidFill>
              </a:rPr>
              <a:t> </a:t>
            </a:r>
            <a:r>
              <a:rPr lang="fr-FR" sz="1280" dirty="0" err="1">
                <a:solidFill>
                  <a:schemeClr val="bg1"/>
                </a:solidFill>
              </a:rPr>
              <a:t>using</a:t>
            </a:r>
            <a:r>
              <a:rPr lang="fr-FR" sz="1280" dirty="0">
                <a:solidFill>
                  <a:schemeClr val="bg1"/>
                </a:solidFill>
              </a:rPr>
              <a:t> a </a:t>
            </a:r>
            <a:r>
              <a:rPr lang="fr-FR" sz="1280" dirty="0" err="1">
                <a:solidFill>
                  <a:schemeClr val="bg1"/>
                </a:solidFill>
              </a:rPr>
              <a:t>combination</a:t>
            </a:r>
            <a:r>
              <a:rPr lang="fr-FR" sz="1280" dirty="0">
                <a:solidFill>
                  <a:schemeClr val="bg1"/>
                </a:solidFill>
              </a:rPr>
              <a:t> of </a:t>
            </a:r>
            <a:r>
              <a:rPr lang="fr-FR" sz="1280" dirty="0" err="1">
                <a:solidFill>
                  <a:schemeClr val="bg1"/>
                </a:solidFill>
              </a:rPr>
              <a:t>retrieval</a:t>
            </a:r>
            <a:r>
              <a:rPr lang="fr-FR" sz="1280" dirty="0">
                <a:solidFill>
                  <a:schemeClr val="bg1"/>
                </a:solidFill>
              </a:rPr>
              <a:t> </a:t>
            </a:r>
            <a:r>
              <a:rPr lang="fr-FR" sz="1280" dirty="0" err="1">
                <a:solidFill>
                  <a:schemeClr val="bg1"/>
                </a:solidFill>
              </a:rPr>
              <a:t>techiniques</a:t>
            </a:r>
            <a:r>
              <a:rPr lang="fr-FR" sz="1280" dirty="0">
                <a:solidFill>
                  <a:schemeClr val="bg1"/>
                </a:solidFill>
              </a:rPr>
              <a:t>:</a:t>
            </a:r>
          </a:p>
          <a:p>
            <a:pPr marL="742950" lvl="1" indent="-285750">
              <a:buFont typeface="Arial" panose="020B0604020202020204" pitchFamily="34" charset="0"/>
              <a:buChar char="•"/>
            </a:pPr>
            <a:r>
              <a:rPr lang="fr-FR" sz="1280" dirty="0">
                <a:solidFill>
                  <a:schemeClr val="bg1"/>
                </a:solidFill>
              </a:rPr>
              <a:t>HTTP </a:t>
            </a:r>
            <a:r>
              <a:rPr lang="fr-FR" sz="1280" dirty="0" err="1">
                <a:solidFill>
                  <a:schemeClr val="bg1"/>
                </a:solidFill>
              </a:rPr>
              <a:t>requests</a:t>
            </a:r>
            <a:r>
              <a:rPr lang="fr-FR" sz="1280" dirty="0">
                <a:solidFill>
                  <a:schemeClr val="bg1"/>
                </a:solidFill>
              </a:rPr>
              <a:t>, </a:t>
            </a:r>
            <a:r>
              <a:rPr lang="fr-FR" sz="1280" dirty="0" err="1">
                <a:solidFill>
                  <a:schemeClr val="bg1"/>
                </a:solidFill>
              </a:rPr>
              <a:t>SpaceX</a:t>
            </a:r>
            <a:r>
              <a:rPr lang="fr-FR" sz="1280" dirty="0">
                <a:solidFill>
                  <a:schemeClr val="bg1"/>
                </a:solidFill>
              </a:rPr>
              <a:t> API :</a:t>
            </a:r>
          </a:p>
          <a:p>
            <a:pPr marL="1200150" lvl="2" indent="-285750">
              <a:buFont typeface="Arial" panose="020B0604020202020204" pitchFamily="34" charset="0"/>
              <a:buChar char="•"/>
            </a:pPr>
            <a:r>
              <a:rPr lang="fr-FR" sz="1280" dirty="0">
                <a:solidFill>
                  <a:schemeClr val="bg1"/>
                </a:solidFill>
              </a:rPr>
              <a:t>Initial </a:t>
            </a:r>
            <a:r>
              <a:rPr lang="fr-FR" sz="1280" dirty="0" err="1">
                <a:solidFill>
                  <a:schemeClr val="bg1"/>
                </a:solidFill>
              </a:rPr>
              <a:t>lauch</a:t>
            </a:r>
            <a:r>
              <a:rPr lang="fr-FR" sz="1280" dirty="0">
                <a:solidFill>
                  <a:schemeClr val="bg1"/>
                </a:solidFill>
              </a:rPr>
              <a:t> data </a:t>
            </a:r>
            <a:r>
              <a:rPr lang="fr-FR" sz="1280" dirty="0" err="1">
                <a:solidFill>
                  <a:schemeClr val="bg1"/>
                </a:solidFill>
              </a:rPr>
              <a:t>was</a:t>
            </a:r>
            <a:r>
              <a:rPr lang="fr-FR" sz="1280" dirty="0">
                <a:solidFill>
                  <a:schemeClr val="bg1"/>
                </a:solidFill>
              </a:rPr>
              <a:t> </a:t>
            </a:r>
            <a:r>
              <a:rPr lang="fr-FR" sz="1280" dirty="0" err="1">
                <a:solidFill>
                  <a:schemeClr val="bg1"/>
                </a:solidFill>
              </a:rPr>
              <a:t>obtained</a:t>
            </a:r>
            <a:r>
              <a:rPr lang="fr-FR" sz="1280" dirty="0">
                <a:solidFill>
                  <a:schemeClr val="bg1"/>
                </a:solidFill>
              </a:rPr>
              <a:t> </a:t>
            </a:r>
            <a:r>
              <a:rPr lang="fr-FR" sz="1280" dirty="0" err="1">
                <a:solidFill>
                  <a:schemeClr val="bg1"/>
                </a:solidFill>
              </a:rPr>
              <a:t>from</a:t>
            </a:r>
            <a:r>
              <a:rPr lang="fr-FR" sz="1280" dirty="0">
                <a:solidFill>
                  <a:schemeClr val="bg1"/>
                </a:solidFill>
              </a:rPr>
              <a:t> : /v4/</a:t>
            </a:r>
            <a:r>
              <a:rPr lang="fr-FR" sz="1280" dirty="0" err="1">
                <a:solidFill>
                  <a:schemeClr val="bg1"/>
                </a:solidFill>
              </a:rPr>
              <a:t>launches</a:t>
            </a:r>
            <a:r>
              <a:rPr lang="fr-FR" sz="1280" dirty="0">
                <a:solidFill>
                  <a:schemeClr val="bg1"/>
                </a:solidFill>
              </a:rPr>
              <a:t>/</a:t>
            </a:r>
            <a:r>
              <a:rPr lang="fr-FR" sz="1280" dirty="0" err="1">
                <a:solidFill>
                  <a:schemeClr val="bg1"/>
                </a:solidFill>
              </a:rPr>
              <a:t>past</a:t>
            </a:r>
            <a:endParaRPr lang="fr-FR" sz="1280" dirty="0">
              <a:solidFill>
                <a:schemeClr val="bg1"/>
              </a:solidFill>
            </a:endParaRPr>
          </a:p>
          <a:p>
            <a:pPr marL="1200150" lvl="2" indent="-285750">
              <a:buFont typeface="Arial" panose="020B0604020202020204" pitchFamily="34" charset="0"/>
              <a:buChar char="•"/>
            </a:pPr>
            <a:r>
              <a:rPr lang="fr-FR" sz="1280" dirty="0" err="1">
                <a:solidFill>
                  <a:schemeClr val="bg1"/>
                </a:solidFill>
              </a:rPr>
              <a:t>Additional</a:t>
            </a:r>
            <a:r>
              <a:rPr lang="fr-FR" sz="1280" dirty="0">
                <a:solidFill>
                  <a:schemeClr val="bg1"/>
                </a:solidFill>
              </a:rPr>
              <a:t> data </a:t>
            </a:r>
            <a:r>
              <a:rPr lang="fr-FR" sz="1280" dirty="0" err="1">
                <a:solidFill>
                  <a:schemeClr val="bg1"/>
                </a:solidFill>
              </a:rPr>
              <a:t>was</a:t>
            </a:r>
            <a:r>
              <a:rPr lang="fr-FR" sz="1280" dirty="0">
                <a:solidFill>
                  <a:schemeClr val="bg1"/>
                </a:solidFill>
              </a:rPr>
              <a:t> </a:t>
            </a:r>
            <a:r>
              <a:rPr lang="fr-FR" sz="1280" dirty="0" err="1">
                <a:solidFill>
                  <a:schemeClr val="bg1"/>
                </a:solidFill>
              </a:rPr>
              <a:t>backfilled</a:t>
            </a:r>
            <a:r>
              <a:rPr lang="fr-FR" sz="1280" dirty="0">
                <a:solidFill>
                  <a:schemeClr val="bg1"/>
                </a:solidFill>
              </a:rPr>
              <a:t> </a:t>
            </a:r>
            <a:r>
              <a:rPr lang="fr-FR" sz="1280" dirty="0" err="1">
                <a:solidFill>
                  <a:schemeClr val="bg1"/>
                </a:solidFill>
              </a:rPr>
              <a:t>from</a:t>
            </a:r>
            <a:r>
              <a:rPr lang="fr-FR" sz="1280" dirty="0">
                <a:solidFill>
                  <a:schemeClr val="bg1"/>
                </a:solidFill>
              </a:rPr>
              <a:t>:</a:t>
            </a:r>
          </a:p>
          <a:p>
            <a:pPr marL="1657350" lvl="3" indent="-285750">
              <a:buFont typeface="Arial" panose="020B0604020202020204" pitchFamily="34" charset="0"/>
              <a:buChar char="•"/>
            </a:pPr>
            <a:r>
              <a:rPr lang="fr-FR" sz="1280" dirty="0">
                <a:solidFill>
                  <a:schemeClr val="bg1"/>
                </a:solidFill>
              </a:rPr>
              <a:t>/V4/</a:t>
            </a:r>
            <a:r>
              <a:rPr lang="fr-FR" sz="1280" dirty="0" err="1">
                <a:solidFill>
                  <a:schemeClr val="bg1"/>
                </a:solidFill>
              </a:rPr>
              <a:t>rockests</a:t>
            </a:r>
            <a:endParaRPr lang="fr-FR" sz="1280" dirty="0">
              <a:solidFill>
                <a:schemeClr val="bg1"/>
              </a:solidFill>
            </a:endParaRPr>
          </a:p>
          <a:p>
            <a:pPr marL="1657350" lvl="3" indent="-285750">
              <a:buFont typeface="Arial" panose="020B0604020202020204" pitchFamily="34" charset="0"/>
              <a:buChar char="•"/>
            </a:pPr>
            <a:r>
              <a:rPr lang="fr-FR" sz="1280" dirty="0">
                <a:solidFill>
                  <a:schemeClr val="bg1"/>
                </a:solidFill>
              </a:rPr>
              <a:t>/V4/</a:t>
            </a:r>
            <a:r>
              <a:rPr lang="fr-FR" sz="1280" dirty="0" err="1">
                <a:solidFill>
                  <a:schemeClr val="bg1"/>
                </a:solidFill>
              </a:rPr>
              <a:t>launchpads</a:t>
            </a:r>
            <a:endParaRPr lang="fr-FR" sz="1280" dirty="0">
              <a:solidFill>
                <a:schemeClr val="bg1"/>
              </a:solidFill>
            </a:endParaRPr>
          </a:p>
          <a:p>
            <a:pPr marL="1657350" lvl="3" indent="-285750">
              <a:buFont typeface="Arial" panose="020B0604020202020204" pitchFamily="34" charset="0"/>
              <a:buChar char="•"/>
            </a:pPr>
            <a:r>
              <a:rPr lang="fr-FR" sz="1280" dirty="0">
                <a:solidFill>
                  <a:schemeClr val="bg1"/>
                </a:solidFill>
              </a:rPr>
              <a:t>/V4/</a:t>
            </a:r>
            <a:r>
              <a:rPr lang="fr-FR" sz="1280" dirty="0" err="1">
                <a:solidFill>
                  <a:schemeClr val="bg1"/>
                </a:solidFill>
              </a:rPr>
              <a:t>playloads</a:t>
            </a:r>
            <a:endParaRPr lang="fr-FR" sz="1280" dirty="0">
              <a:solidFill>
                <a:schemeClr val="bg1"/>
              </a:solidFill>
            </a:endParaRPr>
          </a:p>
          <a:p>
            <a:pPr marL="1657350" lvl="3" indent="-285750">
              <a:buFont typeface="Arial" panose="020B0604020202020204" pitchFamily="34" charset="0"/>
              <a:buChar char="•"/>
            </a:pPr>
            <a:r>
              <a:rPr lang="fr-FR" sz="1280" dirty="0">
                <a:solidFill>
                  <a:schemeClr val="bg1"/>
                </a:solidFill>
              </a:rPr>
              <a:t>/V4/</a:t>
            </a:r>
            <a:r>
              <a:rPr lang="fr-FR" sz="1280" dirty="0" err="1">
                <a:solidFill>
                  <a:schemeClr val="bg1"/>
                </a:solidFill>
              </a:rPr>
              <a:t>cores</a:t>
            </a:r>
            <a:endParaRPr lang="fr-FR" sz="1280" dirty="0">
              <a:solidFill>
                <a:schemeClr val="bg1"/>
              </a:solidFill>
            </a:endParaRPr>
          </a:p>
          <a:p>
            <a:pPr marL="1200150" lvl="2" indent="-285750">
              <a:buFont typeface="Arial" panose="020B0604020202020204" pitchFamily="34" charset="0"/>
              <a:buChar char="•"/>
            </a:pPr>
            <a:r>
              <a:rPr lang="fr-FR" sz="1280" dirty="0" err="1">
                <a:solidFill>
                  <a:schemeClr val="bg1"/>
                </a:solidFill>
              </a:rPr>
              <a:t>Tabular</a:t>
            </a:r>
            <a:r>
              <a:rPr lang="fr-FR" sz="1280" dirty="0">
                <a:solidFill>
                  <a:schemeClr val="bg1"/>
                </a:solidFill>
              </a:rPr>
              <a:t> data </a:t>
            </a:r>
            <a:r>
              <a:rPr lang="fr-FR" sz="1280" dirty="0" err="1">
                <a:solidFill>
                  <a:schemeClr val="bg1"/>
                </a:solidFill>
              </a:rPr>
              <a:t>from</a:t>
            </a:r>
            <a:r>
              <a:rPr lang="fr-FR" sz="1280" dirty="0">
                <a:solidFill>
                  <a:schemeClr val="bg1"/>
                </a:solidFill>
              </a:rPr>
              <a:t> the : </a:t>
            </a:r>
            <a:r>
              <a:rPr lang="en-US" sz="1280" dirty="0">
                <a:solidFill>
                  <a:schemeClr val="bg1"/>
                </a:solidFill>
                <a:hlinkClick r:id="rId3"/>
              </a:rPr>
              <a:t>List of Falcon 9 and Falcon Heavy launches – Wikipedia</a:t>
            </a:r>
            <a:r>
              <a:rPr lang="en-US" sz="1280" dirty="0">
                <a:solidFill>
                  <a:schemeClr val="bg1"/>
                </a:solidFill>
              </a:rPr>
              <a:t> page.</a:t>
            </a:r>
          </a:p>
        </p:txBody>
      </p:sp>
    </p:spTree>
    <p:extLst>
      <p:ext uri="{BB962C8B-B14F-4D97-AF65-F5344CB8AC3E}">
        <p14:creationId xmlns:p14="http://schemas.microsoft.com/office/powerpoint/2010/main" val="10283496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i="0" u="none" dirty="0" smtClean="0">
                <a:solidFill>
                  <a:srgbClr val="FFFFFF"/>
                </a:solidFill>
                <a:latin typeface="Orbitron"/>
              </a:rPr>
              <a:t>Data </a:t>
            </a:r>
            <a:r>
              <a:rPr lang="fr-FR" sz="3900" b="1" dirty="0">
                <a:solidFill>
                  <a:srgbClr val="FFFFFF"/>
                </a:solidFill>
                <a:latin typeface="Orbitron"/>
              </a:rPr>
              <a:t>c</a:t>
            </a:r>
            <a:r>
              <a:rPr lang="fr-FR" sz="3900" b="1" i="0" u="none" dirty="0" smtClean="0">
                <a:solidFill>
                  <a:srgbClr val="FFFFFF"/>
                </a:solidFill>
                <a:latin typeface="Orbitron"/>
              </a:rPr>
              <a:t>ollection, </a:t>
            </a:r>
            <a:r>
              <a:rPr lang="fr-FR" sz="3900" b="1" i="0" u="none" dirty="0" err="1" smtClean="0">
                <a:solidFill>
                  <a:srgbClr val="FFFFFF"/>
                </a:solidFill>
                <a:latin typeface="Orbitron"/>
              </a:rPr>
              <a:t>wrangling</a:t>
            </a:r>
            <a:r>
              <a:rPr lang="fr-FR" sz="3900" b="1" dirty="0">
                <a:solidFill>
                  <a:srgbClr val="FFFFFF"/>
                </a:solidFill>
                <a:latin typeface="Orbitron"/>
              </a:rPr>
              <a:t> </a:t>
            </a:r>
            <a:r>
              <a:rPr lang="fr-FR" sz="3900" b="1" dirty="0" smtClean="0">
                <a:solidFill>
                  <a:srgbClr val="FFFFFF"/>
                </a:solidFill>
                <a:latin typeface="Orbitron"/>
              </a:rPr>
              <a:t>and </a:t>
            </a:r>
            <a:r>
              <a:rPr lang="fr-FR" sz="3900" b="1" dirty="0" err="1" smtClean="0">
                <a:solidFill>
                  <a:srgbClr val="FFFFFF"/>
                </a:solidFill>
                <a:latin typeface="Orbitron"/>
              </a:rPr>
              <a:t>formating</a:t>
            </a:r>
            <a:endParaRPr sz="3900" b="1" i="0" u="none" dirty="0">
              <a:solidFill>
                <a:srgbClr val="FFFFFF"/>
              </a:solidFill>
              <a:latin typeface="Orbitron"/>
            </a:endParaRPr>
          </a:p>
        </p:txBody>
      </p:sp>
      <p:sp>
        <p:nvSpPr>
          <p:cNvPr id="8" name="TextBox 7"/>
          <p:cNvSpPr txBox="1"/>
          <p:nvPr/>
        </p:nvSpPr>
        <p:spPr>
          <a:xfrm>
            <a:off x="820615" y="1688122"/>
            <a:ext cx="10426505" cy="1865126"/>
          </a:xfrm>
          <a:prstGeom prst="rect">
            <a:avLst/>
          </a:prstGeom>
          <a:noFill/>
        </p:spPr>
        <p:txBody>
          <a:bodyPr wrap="square" rtlCol="0">
            <a:spAutoFit/>
          </a:bodyPr>
          <a:lstStyle/>
          <a:p>
            <a:r>
              <a:rPr lang="en-US" sz="1280" dirty="0">
                <a:solidFill>
                  <a:schemeClr val="bg1"/>
                </a:solidFill>
              </a:rPr>
              <a:t>The initial data were obtained from the /v4/launches/past API endpoint. Additional data were backfilled from the rocket, </a:t>
            </a:r>
            <a:r>
              <a:rPr lang="en-US" sz="1280" dirty="0" err="1">
                <a:solidFill>
                  <a:schemeClr val="bg1"/>
                </a:solidFill>
              </a:rPr>
              <a:t>launchpad</a:t>
            </a:r>
            <a:r>
              <a:rPr lang="en-US" sz="1280" dirty="0">
                <a:solidFill>
                  <a:schemeClr val="bg1"/>
                </a:solidFill>
              </a:rPr>
              <a:t>, payloads, and cores API endpoints, for records with extant corresponding IDs.</a:t>
            </a:r>
          </a:p>
          <a:p>
            <a:endParaRPr lang="en-US" sz="1280" dirty="0">
              <a:solidFill>
                <a:schemeClr val="bg1"/>
              </a:solidFill>
            </a:endParaRPr>
          </a:p>
          <a:p>
            <a:r>
              <a:rPr lang="en-US" sz="1280" dirty="0">
                <a:solidFill>
                  <a:schemeClr val="bg1"/>
                </a:solidFill>
              </a:rPr>
              <a:t>The API that was used in this capstone project was provided by Coursera: </a:t>
            </a:r>
            <a:r>
              <a:rPr lang="en-US" sz="1280" dirty="0">
                <a:solidFill>
                  <a:schemeClr val="bg1"/>
                </a:solidFill>
                <a:hlinkClick r:id="rId3"/>
              </a:rPr>
              <a:t>https://api.spacexdata.com/v4/rockets</a:t>
            </a:r>
            <a:r>
              <a:rPr lang="en-US" sz="1280" dirty="0" smtClean="0">
                <a:solidFill>
                  <a:schemeClr val="bg1"/>
                </a:solidFill>
                <a:hlinkClick r:id="rId3"/>
              </a:rPr>
              <a:t>/</a:t>
            </a:r>
            <a:r>
              <a:rPr lang="en-US" sz="1280" dirty="0" smtClean="0">
                <a:solidFill>
                  <a:schemeClr val="bg1"/>
                </a:solidFill>
              </a:rPr>
              <a:t>  </a:t>
            </a:r>
            <a:r>
              <a:rPr lang="en-US" sz="1280" dirty="0">
                <a:solidFill>
                  <a:schemeClr val="bg1"/>
                </a:solidFill>
              </a:rPr>
              <a:t>Data about different rocket launches were obtained using the </a:t>
            </a:r>
            <a:r>
              <a:rPr lang="en-US" sz="1280" dirty="0" err="1">
                <a:solidFill>
                  <a:schemeClr val="bg1"/>
                </a:solidFill>
              </a:rPr>
              <a:t>SpaceX</a:t>
            </a:r>
            <a:r>
              <a:rPr lang="en-US" sz="1280" dirty="0">
                <a:solidFill>
                  <a:schemeClr val="bg1"/>
                </a:solidFill>
              </a:rPr>
              <a:t> API. However, because this project was focused exclusively on Falcon 9, the data were filtered to include only Falcon 9 launches. Missing values were identified in some columns, and these were filled with the average (mean) of the respective column.</a:t>
            </a:r>
          </a:p>
          <a:p>
            <a:endParaRPr lang="en-US" sz="1280" dirty="0">
              <a:solidFill>
                <a:schemeClr val="bg1"/>
              </a:solidFill>
            </a:endParaRPr>
          </a:p>
          <a:p>
            <a:r>
              <a:rPr lang="en-US" sz="1280" dirty="0">
                <a:solidFill>
                  <a:schemeClr val="bg1"/>
                </a:solidFill>
              </a:rPr>
              <a:t>In the end, a cleaned dataset consisting of 90 rows (launch records) and 17 columns (features) was produced. A preview of the dataset after cleaning is shown below.</a:t>
            </a:r>
          </a:p>
        </p:txBody>
      </p:sp>
      <p:sp>
        <p:nvSpPr>
          <p:cNvPr id="15" name="Rounded Rectangle 14"/>
          <p:cNvSpPr/>
          <p:nvPr/>
        </p:nvSpPr>
        <p:spPr>
          <a:xfrm>
            <a:off x="581025" y="4859534"/>
            <a:ext cx="5534025" cy="497325"/>
          </a:xfrm>
          <a:prstGeom prst="roundRect">
            <a:avLst>
              <a:gd name="adj" fmla="val 50000"/>
            </a:avLst>
          </a:prstGeom>
          <a:noFill/>
          <a:ln w="9525">
            <a:solidFill>
              <a:srgbClr val="00F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143000" y="4905486"/>
            <a:ext cx="4705350" cy="346249"/>
          </a:xfrm>
          <a:prstGeom prst="rect">
            <a:avLst/>
          </a:prstGeom>
          <a:noFill/>
        </p:spPr>
        <p:txBody>
          <a:bodyPr wrap="square" lIns="0" tIns="0" rIns="0" bIns="0" anchor="ctr">
            <a:spAutoFit/>
          </a:bodyPr>
          <a:lstStyle/>
          <a:p>
            <a:r>
              <a:rPr lang="en-US" sz="1125" dirty="0">
                <a:solidFill>
                  <a:srgbClr val="FFFFFF"/>
                </a:solidFill>
                <a:latin typeface="Plus Jakarta Sans SemiBold"/>
              </a:rPr>
              <a:t>https://github.com/LahcenAmroune/Applied-Data-Science-Capstone/blob/main/1%20Data%20Collection%20API.ipynb</a:t>
            </a:r>
            <a:endParaRPr sz="1125" b="0" i="0" u="none" dirty="0">
              <a:solidFill>
                <a:srgbClr val="FFFFFF"/>
              </a:solidFill>
              <a:latin typeface="Plus Jakarta Sans SemiBold"/>
            </a:endParaRPr>
          </a:p>
        </p:txBody>
      </p:sp>
      <p:pic>
        <p:nvPicPr>
          <p:cNvPr id="17" name="Picture 16" descr="image.png"/>
          <p:cNvPicPr>
            <a:picLocks noChangeAspect="1"/>
          </p:cNvPicPr>
          <p:nvPr/>
        </p:nvPicPr>
        <p:blipFill>
          <a:blip r:embed="rId4"/>
          <a:stretch>
            <a:fillRect/>
          </a:stretch>
        </p:blipFill>
        <p:spPr>
          <a:xfrm>
            <a:off x="857250" y="4983360"/>
            <a:ext cx="180975" cy="190500"/>
          </a:xfrm>
          <a:prstGeom prst="rect">
            <a:avLst/>
          </a:prstGeom>
        </p:spPr>
      </p:pic>
      <p:pic>
        <p:nvPicPr>
          <p:cNvPr id="18" name="Picture 17" descr="image.png"/>
          <p:cNvPicPr>
            <a:picLocks noChangeAspect="1"/>
          </p:cNvPicPr>
          <p:nvPr/>
        </p:nvPicPr>
        <p:blipFill>
          <a:blip r:embed="rId5"/>
          <a:stretch>
            <a:fillRect/>
          </a:stretch>
        </p:blipFill>
        <p:spPr>
          <a:xfrm>
            <a:off x="5715000" y="5016698"/>
            <a:ext cx="123825" cy="123825"/>
          </a:xfrm>
          <a:prstGeom prst="rect">
            <a:avLst/>
          </a:prstGeom>
        </p:spPr>
      </p:pic>
    </p:spTree>
    <p:extLst>
      <p:ext uri="{BB962C8B-B14F-4D97-AF65-F5344CB8AC3E}">
        <p14:creationId xmlns:p14="http://schemas.microsoft.com/office/powerpoint/2010/main" val="11766406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en-US" sz="3900" b="1" dirty="0">
                <a:solidFill>
                  <a:srgbClr val="FFFFFF"/>
                </a:solidFill>
                <a:latin typeface="Orbitron"/>
              </a:rPr>
              <a:t>Data collection, wrangling and </a:t>
            </a:r>
            <a:r>
              <a:rPr lang="en-US" sz="3900" b="1" dirty="0" err="1">
                <a:solidFill>
                  <a:srgbClr val="FFFFFF"/>
                </a:solidFill>
                <a:latin typeface="Orbitron"/>
              </a:rPr>
              <a:t>formating</a:t>
            </a:r>
            <a:endParaRPr lang="en-US" sz="3900" b="1" dirty="0">
              <a:solidFill>
                <a:srgbClr val="FFFFFF"/>
              </a:solidFill>
              <a:latin typeface="Orbitron"/>
            </a:endParaRPr>
          </a:p>
        </p:txBody>
      </p:sp>
      <p:sp>
        <p:nvSpPr>
          <p:cNvPr id="8" name="TextBox 7"/>
          <p:cNvSpPr txBox="1"/>
          <p:nvPr/>
        </p:nvSpPr>
        <p:spPr>
          <a:xfrm>
            <a:off x="820615" y="1688122"/>
            <a:ext cx="10426505" cy="2259080"/>
          </a:xfrm>
          <a:prstGeom prst="rect">
            <a:avLst/>
          </a:prstGeom>
          <a:noFill/>
        </p:spPr>
        <p:txBody>
          <a:bodyPr wrap="square" rtlCol="0">
            <a:spAutoFit/>
          </a:bodyPr>
          <a:lstStyle/>
          <a:p>
            <a:r>
              <a:rPr lang="en-US" sz="1280" dirty="0">
                <a:solidFill>
                  <a:schemeClr val="bg1"/>
                </a:solidFill>
              </a:rPr>
              <a:t>Web Scraping Workflow</a:t>
            </a:r>
          </a:p>
          <a:p>
            <a:endParaRPr lang="en-US" sz="1280" dirty="0">
              <a:solidFill>
                <a:schemeClr val="bg1"/>
              </a:solidFill>
            </a:endParaRPr>
          </a:p>
          <a:p>
            <a:r>
              <a:rPr lang="en-US" sz="1280" dirty="0">
                <a:solidFill>
                  <a:schemeClr val="bg1"/>
                </a:solidFill>
              </a:rPr>
              <a:t>A web scraping workflow was implemented. An HTTP GET request was sent to the Falcon 9 Launch page at Wikipedia, and the HTML source was retrieved. A </a:t>
            </a:r>
            <a:r>
              <a:rPr lang="en-US" sz="1280" dirty="0" err="1">
                <a:solidFill>
                  <a:schemeClr val="bg1"/>
                </a:solidFill>
              </a:rPr>
              <a:t>BeautifulSoup</a:t>
            </a:r>
            <a:r>
              <a:rPr lang="en-US" sz="1280" dirty="0">
                <a:solidFill>
                  <a:schemeClr val="bg1"/>
                </a:solidFill>
              </a:rPr>
              <a:t> object was then created to extract the tables containing launch data. A Pandas </a:t>
            </a:r>
            <a:r>
              <a:rPr lang="en-US" sz="1280" dirty="0" err="1">
                <a:solidFill>
                  <a:schemeClr val="bg1"/>
                </a:solidFill>
              </a:rPr>
              <a:t>DataFrame</a:t>
            </a:r>
            <a:r>
              <a:rPr lang="en-US" sz="1280" dirty="0">
                <a:solidFill>
                  <a:schemeClr val="bg1"/>
                </a:solidFill>
              </a:rPr>
              <a:t> was populated using the extracted columns.</a:t>
            </a:r>
          </a:p>
          <a:p>
            <a:endParaRPr lang="en-US" sz="1280" dirty="0">
              <a:solidFill>
                <a:schemeClr val="bg1"/>
              </a:solidFill>
            </a:endParaRPr>
          </a:p>
          <a:p>
            <a:r>
              <a:rPr lang="en-US" sz="1280" dirty="0">
                <a:solidFill>
                  <a:schemeClr val="bg1"/>
                </a:solidFill>
              </a:rPr>
              <a:t>Data Source</a:t>
            </a:r>
          </a:p>
          <a:p>
            <a:endParaRPr lang="en-US" sz="1280" dirty="0">
              <a:solidFill>
                <a:schemeClr val="bg1"/>
              </a:solidFill>
            </a:endParaRPr>
          </a:p>
          <a:p>
            <a:r>
              <a:rPr lang="en-US" sz="1280" dirty="0">
                <a:solidFill>
                  <a:schemeClr val="bg1"/>
                </a:solidFill>
              </a:rPr>
              <a:t>The data used in this project were scraped from </a:t>
            </a:r>
            <a:r>
              <a:rPr lang="en-US" sz="1280" dirty="0">
                <a:solidFill>
                  <a:schemeClr val="bg1"/>
                </a:solidFill>
                <a:hlinkClick r:id="rId3"/>
              </a:rPr>
              <a:t>https://</a:t>
            </a:r>
            <a:r>
              <a:rPr lang="en-US" sz="1280" dirty="0" smtClean="0">
                <a:solidFill>
                  <a:schemeClr val="bg1"/>
                </a:solidFill>
                <a:hlinkClick r:id="rId3"/>
              </a:rPr>
              <a:t>en.wikipedia.org/w/index.php?title=List_of_Falcon_9_and_Falcon_Heavy_launches&amp;oldid=1027686922</a:t>
            </a:r>
            <a:r>
              <a:rPr lang="en-US" sz="1280" dirty="0">
                <a:solidFill>
                  <a:schemeClr val="bg1"/>
                </a:solidFill>
              </a:rPr>
              <a:t> </a:t>
            </a:r>
            <a:endParaRPr lang="en-US" sz="1280" dirty="0" smtClean="0">
              <a:solidFill>
                <a:schemeClr val="bg1"/>
              </a:solidFill>
            </a:endParaRPr>
          </a:p>
          <a:p>
            <a:r>
              <a:rPr lang="en-US" sz="1280" dirty="0" smtClean="0">
                <a:solidFill>
                  <a:schemeClr val="bg1"/>
                </a:solidFill>
              </a:rPr>
              <a:t>Specifically</a:t>
            </a:r>
            <a:r>
              <a:rPr lang="en-US" sz="1280" dirty="0">
                <a:solidFill>
                  <a:schemeClr val="bg1"/>
                </a:solidFill>
              </a:rPr>
              <a:t>, the website provides data related only to Falcon 9 launches.</a:t>
            </a:r>
          </a:p>
          <a:p>
            <a:endParaRPr lang="en-US" sz="1280" dirty="0">
              <a:solidFill>
                <a:schemeClr val="bg1"/>
              </a:solidFill>
            </a:endParaRPr>
          </a:p>
        </p:txBody>
      </p:sp>
      <p:sp>
        <p:nvSpPr>
          <p:cNvPr id="9" name="Rounded Rectangle 8"/>
          <p:cNvSpPr/>
          <p:nvPr/>
        </p:nvSpPr>
        <p:spPr>
          <a:xfrm>
            <a:off x="581025" y="4762500"/>
            <a:ext cx="5534025" cy="594359"/>
          </a:xfrm>
          <a:prstGeom prst="roundRect">
            <a:avLst>
              <a:gd name="adj" fmla="val 50000"/>
            </a:avLst>
          </a:prstGeom>
          <a:noFill/>
          <a:ln w="9525">
            <a:solidFill>
              <a:srgbClr val="00F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43000" y="4818924"/>
            <a:ext cx="4705350" cy="519373"/>
          </a:xfrm>
          <a:prstGeom prst="rect">
            <a:avLst/>
          </a:prstGeom>
          <a:noFill/>
        </p:spPr>
        <p:txBody>
          <a:bodyPr wrap="square" lIns="0" tIns="0" rIns="0" bIns="0" anchor="ctr">
            <a:spAutoFit/>
          </a:bodyPr>
          <a:lstStyle/>
          <a:p>
            <a:r>
              <a:rPr lang="en-US" sz="1125" dirty="0">
                <a:solidFill>
                  <a:srgbClr val="FFFFFF"/>
                </a:solidFill>
                <a:latin typeface="Plus Jakarta Sans SemiBold"/>
              </a:rPr>
              <a:t>https://github.com/LahcenAmroune/Applied-Data-Science-Capstone/blob/main/2%20Data%20Collection%20with%20Web%20Scraping.ipynb</a:t>
            </a:r>
            <a:endParaRPr sz="1125" b="0" i="0" u="none" dirty="0">
              <a:solidFill>
                <a:srgbClr val="FFFFFF"/>
              </a:solidFill>
              <a:latin typeface="Plus Jakarta Sans SemiBold"/>
            </a:endParaRPr>
          </a:p>
        </p:txBody>
      </p:sp>
      <p:pic>
        <p:nvPicPr>
          <p:cNvPr id="11" name="Picture 10" descr="image.png"/>
          <p:cNvPicPr>
            <a:picLocks noChangeAspect="1"/>
          </p:cNvPicPr>
          <p:nvPr/>
        </p:nvPicPr>
        <p:blipFill>
          <a:blip r:embed="rId4"/>
          <a:stretch>
            <a:fillRect/>
          </a:stretch>
        </p:blipFill>
        <p:spPr>
          <a:xfrm>
            <a:off x="857250" y="4983360"/>
            <a:ext cx="180975" cy="190500"/>
          </a:xfrm>
          <a:prstGeom prst="rect">
            <a:avLst/>
          </a:prstGeom>
        </p:spPr>
      </p:pic>
      <p:pic>
        <p:nvPicPr>
          <p:cNvPr id="12" name="Picture 11" descr="image.png"/>
          <p:cNvPicPr>
            <a:picLocks noChangeAspect="1"/>
          </p:cNvPicPr>
          <p:nvPr/>
        </p:nvPicPr>
        <p:blipFill>
          <a:blip r:embed="rId5"/>
          <a:stretch>
            <a:fillRect/>
          </a:stretch>
        </p:blipFill>
        <p:spPr>
          <a:xfrm>
            <a:off x="5715000" y="5016698"/>
            <a:ext cx="123825" cy="123825"/>
          </a:xfrm>
          <a:prstGeom prst="rect">
            <a:avLst/>
          </a:prstGeom>
        </p:spPr>
      </p:pic>
    </p:spTree>
    <p:extLst>
      <p:ext uri="{BB962C8B-B14F-4D97-AF65-F5344CB8AC3E}">
        <p14:creationId xmlns:p14="http://schemas.microsoft.com/office/powerpoint/2010/main" val="71860722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1996"/>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en-US" sz="3900" b="1" dirty="0">
                <a:solidFill>
                  <a:srgbClr val="FFFFFF"/>
                </a:solidFill>
                <a:latin typeface="Orbitron"/>
              </a:rPr>
              <a:t>Data collection, wrangling and </a:t>
            </a:r>
            <a:r>
              <a:rPr lang="en-US" sz="3900" b="1" dirty="0" err="1">
                <a:solidFill>
                  <a:srgbClr val="FFFFFF"/>
                </a:solidFill>
                <a:latin typeface="Orbitron"/>
              </a:rPr>
              <a:t>formating</a:t>
            </a:r>
            <a:endParaRPr lang="en-US" sz="3900" b="1" dirty="0">
              <a:solidFill>
                <a:srgbClr val="FFFFFF"/>
              </a:solidFill>
              <a:latin typeface="Orbitron"/>
            </a:endParaRPr>
          </a:p>
        </p:txBody>
      </p:sp>
      <p:pic>
        <p:nvPicPr>
          <p:cNvPr id="5" name="Picture 4"/>
          <p:cNvPicPr>
            <a:picLocks noChangeAspect="1"/>
          </p:cNvPicPr>
          <p:nvPr/>
        </p:nvPicPr>
        <p:blipFill rotWithShape="1">
          <a:blip r:embed="rId3">
            <a:extLst>
              <a:ext uri="{28A0092B-C50C-407E-A947-70E740481C1C}">
                <a14:useLocalDpi xmlns:a14="http://schemas.microsoft.com/office/drawing/2010/main" val="0"/>
              </a:ext>
            </a:extLst>
          </a:blip>
          <a:srcRect l="320" t="20638" r="46836" b="1685"/>
          <a:stretch/>
        </p:blipFill>
        <p:spPr>
          <a:xfrm>
            <a:off x="10625750" y="4041154"/>
            <a:ext cx="1349010" cy="2259235"/>
          </a:xfrm>
          <a:prstGeom prst="rect">
            <a:avLst/>
          </a:prstGeom>
        </p:spPr>
      </p:pic>
      <p:sp>
        <p:nvSpPr>
          <p:cNvPr id="8" name="TextBox 7"/>
          <p:cNvSpPr txBox="1"/>
          <p:nvPr/>
        </p:nvSpPr>
        <p:spPr>
          <a:xfrm>
            <a:off x="523398" y="1573163"/>
            <a:ext cx="10148207" cy="3637919"/>
          </a:xfrm>
          <a:prstGeom prst="rect">
            <a:avLst/>
          </a:prstGeom>
          <a:noFill/>
        </p:spPr>
        <p:txBody>
          <a:bodyPr wrap="square" rtlCol="0">
            <a:spAutoFit/>
          </a:bodyPr>
          <a:lstStyle/>
          <a:p>
            <a:r>
              <a:rPr lang="en-US" sz="1280" dirty="0">
                <a:solidFill>
                  <a:schemeClr val="bg1"/>
                </a:solidFill>
              </a:rPr>
              <a:t>Goals</a:t>
            </a:r>
          </a:p>
          <a:p>
            <a:endParaRPr lang="en-US" sz="1280" dirty="0">
              <a:solidFill>
                <a:schemeClr val="bg1"/>
              </a:solidFill>
            </a:endParaRPr>
          </a:p>
          <a:p>
            <a:r>
              <a:rPr lang="en-US" sz="1280" dirty="0">
                <a:solidFill>
                  <a:schemeClr val="bg1"/>
                </a:solidFill>
              </a:rPr>
              <a:t>The following goals were established for this phase of the project: the use of Exploratory Data Analysis (EDA) was planned to identify patterns within the data, and the determination of labels for the training of supervised models was also undertaken.</a:t>
            </a:r>
          </a:p>
          <a:p>
            <a:endParaRPr lang="en-US" sz="1280" dirty="0">
              <a:solidFill>
                <a:schemeClr val="bg1"/>
              </a:solidFill>
            </a:endParaRPr>
          </a:p>
          <a:p>
            <a:r>
              <a:rPr lang="en-US" sz="1280" dirty="0">
                <a:solidFill>
                  <a:schemeClr val="bg1"/>
                </a:solidFill>
              </a:rPr>
              <a:t>Steps</a:t>
            </a:r>
          </a:p>
          <a:p>
            <a:endParaRPr lang="en-US" sz="1280" dirty="0">
              <a:solidFill>
                <a:schemeClr val="bg1"/>
              </a:solidFill>
            </a:endParaRPr>
          </a:p>
          <a:p>
            <a:r>
              <a:rPr lang="en-US" sz="1280" dirty="0">
                <a:solidFill>
                  <a:schemeClr val="bg1"/>
                </a:solidFill>
              </a:rPr>
              <a:t>A series of analytical steps were performed. Missing values were calculated as a percentage of each attribute. Column types were identified and classified as either numerical or categorical. The distribution of launches per launch site was visualized, and the distribution of orbit types present in the dataset was also examined. Launch outcomes were explored and subsequently grouped by binary outcome—success or failure. A new column, designated as "Class," was created to store these outcomes, and this column was intended to be used as the target value during model training.</a:t>
            </a:r>
          </a:p>
          <a:p>
            <a:endParaRPr lang="en-US" sz="1280" dirty="0">
              <a:solidFill>
                <a:schemeClr val="bg1"/>
              </a:solidFill>
            </a:endParaRPr>
          </a:p>
          <a:p>
            <a:r>
              <a:rPr lang="en-US" sz="1280" dirty="0">
                <a:solidFill>
                  <a:schemeClr val="bg1"/>
                </a:solidFill>
              </a:rPr>
              <a:t>Data Preprocessing</a:t>
            </a:r>
          </a:p>
          <a:p>
            <a:endParaRPr lang="en-US" sz="1280" dirty="0">
              <a:solidFill>
                <a:schemeClr val="bg1"/>
              </a:solidFill>
            </a:endParaRPr>
          </a:p>
          <a:p>
            <a:r>
              <a:rPr lang="en-US" sz="1280" dirty="0">
                <a:solidFill>
                  <a:schemeClr val="bg1"/>
                </a:solidFill>
              </a:rPr>
              <a:t>Following the exploratory phase, the data were cleaned to remove any remaining missing values. All categorical features were converted into numerical form through the application of one-hot encoding. Additionally, a new column called 'Class' was added to indicate the outcome of each launch—where '0' was assigned to failed launches and '1' was assigned to successful ones. After this preprocessing was completed, a final dataset containing 90 rows (launches) and 83 columns (features) was obtained.</a:t>
            </a:r>
            <a:endParaRPr lang="en-US" sz="1280" dirty="0">
              <a:solidFill>
                <a:schemeClr val="bg1"/>
              </a:solidFill>
            </a:endParaRPr>
          </a:p>
        </p:txBody>
      </p:sp>
      <p:sp>
        <p:nvSpPr>
          <p:cNvPr id="38" name="Rounded Rectangle 37"/>
          <p:cNvSpPr/>
          <p:nvPr/>
        </p:nvSpPr>
        <p:spPr>
          <a:xfrm>
            <a:off x="628650" y="6176564"/>
            <a:ext cx="5534025" cy="498556"/>
          </a:xfrm>
          <a:prstGeom prst="roundRect">
            <a:avLst>
              <a:gd name="adj" fmla="val 50000"/>
            </a:avLst>
          </a:prstGeom>
          <a:noFill/>
          <a:ln w="9525">
            <a:solidFill>
              <a:srgbClr val="00F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190624" y="6234840"/>
            <a:ext cx="4924426" cy="346249"/>
          </a:xfrm>
          <a:prstGeom prst="rect">
            <a:avLst/>
          </a:prstGeom>
          <a:noFill/>
        </p:spPr>
        <p:txBody>
          <a:bodyPr wrap="square" lIns="0" tIns="0" rIns="0" bIns="0" anchor="ctr">
            <a:spAutoFit/>
          </a:bodyPr>
          <a:lstStyle/>
          <a:p>
            <a:r>
              <a:rPr lang="en-US" sz="1125" dirty="0">
                <a:solidFill>
                  <a:srgbClr val="FFFFFF"/>
                </a:solidFill>
                <a:latin typeface="Plus Jakarta Sans SemiBold"/>
              </a:rPr>
              <a:t>https://github.com/LahcenAmroune/Applied-Data-Science-Capstone/blob/main/3%20Data%20Collection%20data%20wrangling.ipynb</a:t>
            </a:r>
            <a:endParaRPr sz="1125" b="0" i="0" u="none" dirty="0">
              <a:solidFill>
                <a:srgbClr val="FFFFFF"/>
              </a:solidFill>
              <a:latin typeface="Plus Jakarta Sans SemiBold"/>
            </a:endParaRPr>
          </a:p>
        </p:txBody>
      </p:sp>
      <p:pic>
        <p:nvPicPr>
          <p:cNvPr id="40" name="Picture 39" descr="image.png"/>
          <p:cNvPicPr>
            <a:picLocks noChangeAspect="1"/>
          </p:cNvPicPr>
          <p:nvPr/>
        </p:nvPicPr>
        <p:blipFill>
          <a:blip r:embed="rId4"/>
          <a:stretch>
            <a:fillRect/>
          </a:stretch>
        </p:blipFill>
        <p:spPr>
          <a:xfrm>
            <a:off x="904875" y="6300389"/>
            <a:ext cx="180975" cy="190500"/>
          </a:xfrm>
          <a:prstGeom prst="rect">
            <a:avLst/>
          </a:prstGeom>
        </p:spPr>
      </p:pic>
      <p:pic>
        <p:nvPicPr>
          <p:cNvPr id="41" name="Picture 40" descr="image.png"/>
          <p:cNvPicPr>
            <a:picLocks noChangeAspect="1"/>
          </p:cNvPicPr>
          <p:nvPr/>
        </p:nvPicPr>
        <p:blipFill>
          <a:blip r:embed="rId5"/>
          <a:stretch>
            <a:fillRect/>
          </a:stretch>
        </p:blipFill>
        <p:spPr>
          <a:xfrm>
            <a:off x="5762625" y="6333727"/>
            <a:ext cx="123825" cy="123825"/>
          </a:xfrm>
          <a:prstGeom prst="rect">
            <a:avLst/>
          </a:prstGeom>
        </p:spPr>
      </p:pic>
    </p:spTree>
    <p:extLst>
      <p:ext uri="{BB962C8B-B14F-4D97-AF65-F5344CB8AC3E}">
        <p14:creationId xmlns:p14="http://schemas.microsoft.com/office/powerpoint/2010/main" val="132955516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i="0" u="none" dirty="0" err="1" smtClean="0">
                <a:solidFill>
                  <a:srgbClr val="FFFFFF"/>
                </a:solidFill>
                <a:latin typeface="Orbitron"/>
              </a:rPr>
              <a:t>Exploratory</a:t>
            </a:r>
            <a:r>
              <a:rPr lang="fr-FR" sz="3900" b="1" i="0" u="none" dirty="0" smtClean="0">
                <a:solidFill>
                  <a:srgbClr val="FFFFFF"/>
                </a:solidFill>
                <a:latin typeface="Orbitron"/>
              </a:rPr>
              <a:t> Data </a:t>
            </a:r>
            <a:r>
              <a:rPr lang="fr-FR" sz="3900" b="1" i="0" u="none" dirty="0" err="1" smtClean="0">
                <a:solidFill>
                  <a:srgbClr val="FFFFFF"/>
                </a:solidFill>
                <a:latin typeface="Orbitron"/>
              </a:rPr>
              <a:t>Analysis</a:t>
            </a:r>
            <a:r>
              <a:rPr lang="fr-FR" sz="3900" b="1" i="0" u="none" dirty="0" smtClean="0">
                <a:solidFill>
                  <a:srgbClr val="FFFFFF"/>
                </a:solidFill>
                <a:latin typeface="Orbitron"/>
              </a:rPr>
              <a:t> (EDA)</a:t>
            </a:r>
            <a:endParaRPr sz="3900" b="1" i="0" u="none" dirty="0">
              <a:solidFill>
                <a:srgbClr val="FFFFFF"/>
              </a:solidFill>
              <a:latin typeface="Orbitron"/>
            </a:endParaRPr>
          </a:p>
        </p:txBody>
      </p:sp>
      <p:sp>
        <p:nvSpPr>
          <p:cNvPr id="7" name="TextBox 6"/>
          <p:cNvSpPr txBox="1"/>
          <p:nvPr/>
        </p:nvSpPr>
        <p:spPr>
          <a:xfrm>
            <a:off x="360897" y="1874008"/>
            <a:ext cx="11195886" cy="3348609"/>
          </a:xfrm>
          <a:prstGeom prst="rect">
            <a:avLst/>
          </a:prstGeom>
          <a:noFill/>
        </p:spPr>
        <p:txBody>
          <a:bodyPr wrap="square" lIns="0" tIns="0" rIns="0" bIns="0" anchor="t">
            <a:spAutoFit/>
          </a:bodyPr>
          <a:lstStyle/>
          <a:p>
            <a:r>
              <a:rPr lang="en-US" sz="1280" b="1" dirty="0">
                <a:solidFill>
                  <a:schemeClr val="bg1"/>
                </a:solidFill>
              </a:rPr>
              <a:t>Pandas &amp; </a:t>
            </a:r>
            <a:r>
              <a:rPr lang="en-US" sz="1280" b="1" dirty="0" err="1">
                <a:solidFill>
                  <a:schemeClr val="bg1"/>
                </a:solidFill>
              </a:rPr>
              <a:t>NumPy</a:t>
            </a:r>
            <a:r>
              <a:rPr lang="en-US" sz="1280" b="1" dirty="0">
                <a:solidFill>
                  <a:schemeClr val="bg1"/>
                </a:solidFill>
              </a:rPr>
              <a:t> Analysis</a:t>
            </a:r>
          </a:p>
          <a:p>
            <a:pPr marL="285750" indent="-285750">
              <a:buFont typeface="Arial" panose="020B0604020202020204" pitchFamily="34" charset="0"/>
              <a:buChar char="•"/>
            </a:pPr>
            <a:endParaRPr lang="en-US" sz="1280" dirty="0">
              <a:solidFill>
                <a:schemeClr val="bg1"/>
              </a:solidFill>
            </a:endParaRPr>
          </a:p>
          <a:p>
            <a:pPr marL="285750" indent="-285750">
              <a:buFont typeface="Arial" panose="020B0604020202020204" pitchFamily="34" charset="0"/>
              <a:buChar char="•"/>
            </a:pPr>
            <a:r>
              <a:rPr lang="en-US" sz="1280" dirty="0">
                <a:solidFill>
                  <a:schemeClr val="bg1"/>
                </a:solidFill>
              </a:rPr>
              <a:t>Functions from the Pandas and </a:t>
            </a:r>
            <a:r>
              <a:rPr lang="en-US" sz="1280" dirty="0" err="1">
                <a:solidFill>
                  <a:schemeClr val="bg1"/>
                </a:solidFill>
              </a:rPr>
              <a:t>NumPy</a:t>
            </a:r>
            <a:r>
              <a:rPr lang="en-US" sz="1280" dirty="0">
                <a:solidFill>
                  <a:schemeClr val="bg1"/>
                </a:solidFill>
              </a:rPr>
              <a:t> libraries were used to explore and understand the dataset. Several insights were extracted during this process, including: the number of launches that took place at each launch site, the frequency with which each orbit type was used, and the count and types of different mission outcomes.</a:t>
            </a:r>
          </a:p>
          <a:p>
            <a:pPr marL="285750" indent="-285750">
              <a:buFont typeface="Arial" panose="020B0604020202020204" pitchFamily="34" charset="0"/>
              <a:buChar char="•"/>
            </a:pPr>
            <a:endParaRPr lang="en-US" sz="1280" dirty="0">
              <a:solidFill>
                <a:schemeClr val="bg1"/>
              </a:solidFill>
            </a:endParaRPr>
          </a:p>
          <a:p>
            <a:r>
              <a:rPr lang="en-US" sz="1280" b="1" dirty="0">
                <a:solidFill>
                  <a:schemeClr val="bg1"/>
                </a:solidFill>
              </a:rPr>
              <a:t>SQL-Based Exploration</a:t>
            </a:r>
          </a:p>
          <a:p>
            <a:pPr marL="285750" indent="-285750">
              <a:buFont typeface="Arial" panose="020B0604020202020204" pitchFamily="34" charset="0"/>
              <a:buChar char="•"/>
            </a:pPr>
            <a:endParaRPr lang="en-US" sz="1280" dirty="0">
              <a:solidFill>
                <a:schemeClr val="bg1"/>
              </a:solidFill>
            </a:endParaRPr>
          </a:p>
          <a:p>
            <a:pPr marL="285750" indent="-285750">
              <a:buFont typeface="Arial" panose="020B0604020202020204" pitchFamily="34" charset="0"/>
              <a:buChar char="•"/>
            </a:pPr>
            <a:r>
              <a:rPr lang="en-US" sz="1280" dirty="0">
                <a:solidFill>
                  <a:schemeClr val="bg1"/>
                </a:solidFill>
              </a:rPr>
              <a:t>The dataset was further explored using SQL queries to answer key questions, such as: what the unique launch sites in the dataset are, how much total payload mass was launched by NASA (CRS) missions, and what the average payload mass is for the booster version F9 v1.1</a:t>
            </a:r>
            <a:r>
              <a:rPr lang="en-US" sz="1280" dirty="0" smtClean="0">
                <a:solidFill>
                  <a:schemeClr val="bg1"/>
                </a:solidFill>
              </a:rPr>
              <a:t>.</a:t>
            </a:r>
          </a:p>
          <a:p>
            <a:pPr marL="285750" indent="-285750">
              <a:buFont typeface="Arial" panose="020B0604020202020204" pitchFamily="34" charset="0"/>
              <a:buChar char="•"/>
            </a:pPr>
            <a:endParaRPr lang="en-US" sz="1280" dirty="0" smtClean="0">
              <a:solidFill>
                <a:schemeClr val="bg1"/>
              </a:solidFill>
            </a:endParaRPr>
          </a:p>
          <a:p>
            <a:r>
              <a:rPr lang="en-US" sz="1280" b="1" dirty="0" smtClean="0">
                <a:solidFill>
                  <a:schemeClr val="bg1"/>
                </a:solidFill>
              </a:rPr>
              <a:t>Data </a:t>
            </a:r>
            <a:r>
              <a:rPr lang="en-US" sz="1280" b="1" dirty="0">
                <a:solidFill>
                  <a:schemeClr val="bg1"/>
                </a:solidFill>
              </a:rPr>
              <a:t>Visualization</a:t>
            </a:r>
          </a:p>
          <a:p>
            <a:pPr marL="285750" indent="-285750">
              <a:buFont typeface="Arial" panose="020B0604020202020204" pitchFamily="34" charset="0"/>
              <a:buChar char="•"/>
            </a:pPr>
            <a:endParaRPr lang="en-US" sz="1280" dirty="0">
              <a:solidFill>
                <a:schemeClr val="bg1"/>
              </a:solidFill>
            </a:endParaRPr>
          </a:p>
          <a:p>
            <a:pPr marL="285750" indent="-285750">
              <a:buFont typeface="Arial" panose="020B0604020202020204" pitchFamily="34" charset="0"/>
              <a:buChar char="•"/>
            </a:pPr>
            <a:r>
              <a:rPr lang="en-US" sz="1280" dirty="0" smtClean="0">
                <a:solidFill>
                  <a:schemeClr val="bg1"/>
                </a:solidFill>
              </a:rPr>
              <a:t> </a:t>
            </a:r>
            <a:r>
              <a:rPr lang="en-US" sz="1280" dirty="0" err="1">
                <a:solidFill>
                  <a:schemeClr val="bg1"/>
                </a:solidFill>
              </a:rPr>
              <a:t>Matplotlib</a:t>
            </a:r>
            <a:r>
              <a:rPr lang="en-US" sz="1280" dirty="0">
                <a:solidFill>
                  <a:schemeClr val="bg1"/>
                </a:solidFill>
              </a:rPr>
              <a:t> and </a:t>
            </a:r>
            <a:r>
              <a:rPr lang="en-US" sz="1280" dirty="0" err="1">
                <a:solidFill>
                  <a:schemeClr val="bg1"/>
                </a:solidFill>
              </a:rPr>
              <a:t>Seaborn</a:t>
            </a:r>
            <a:endParaRPr lang="en-US" sz="1280" dirty="0">
              <a:solidFill>
                <a:schemeClr val="bg1"/>
              </a:solidFill>
            </a:endParaRPr>
          </a:p>
          <a:p>
            <a:pPr marL="285750" indent="-285750">
              <a:buFont typeface="Arial" panose="020B0604020202020204" pitchFamily="34" charset="0"/>
              <a:buChar char="•"/>
            </a:pPr>
            <a:endParaRPr lang="en-US" sz="1280" dirty="0">
              <a:solidFill>
                <a:schemeClr val="bg1"/>
              </a:solidFill>
            </a:endParaRPr>
          </a:p>
          <a:p>
            <a:pPr marL="742950" lvl="1" indent="-285750">
              <a:buFont typeface="Arial" panose="020B0604020202020204" pitchFamily="34" charset="0"/>
              <a:buChar char="•"/>
            </a:pPr>
            <a:r>
              <a:rPr lang="en-US" sz="1280" dirty="0" err="1">
                <a:solidFill>
                  <a:schemeClr val="bg1"/>
                </a:solidFill>
              </a:rPr>
              <a:t>Matplotlib</a:t>
            </a:r>
            <a:r>
              <a:rPr lang="en-US" sz="1280" dirty="0">
                <a:solidFill>
                  <a:schemeClr val="bg1"/>
                </a:solidFill>
              </a:rPr>
              <a:t> and </a:t>
            </a:r>
            <a:r>
              <a:rPr lang="en-US" sz="1280" dirty="0" err="1">
                <a:solidFill>
                  <a:schemeClr val="bg1"/>
                </a:solidFill>
              </a:rPr>
              <a:t>Seaborn</a:t>
            </a:r>
            <a:r>
              <a:rPr lang="en-US" sz="1280" dirty="0">
                <a:solidFill>
                  <a:schemeClr val="bg1"/>
                </a:solidFill>
              </a:rPr>
              <a:t> were used to create various types of plots, including scatter plots, bar charts, and line charts. These visualizations were instrumental in understanding key relationships within the data, such as how launch site varies with flight number, how payload mass is distributed across launch sites, and how orbit type is related to the success rate of launches</a:t>
            </a:r>
            <a:r>
              <a:rPr lang="en-US" sz="1280" dirty="0" smtClean="0">
                <a:solidFill>
                  <a:schemeClr val="bg1"/>
                </a:solidFill>
              </a:rPr>
              <a:t>.</a:t>
            </a:r>
            <a:endParaRPr lang="en-US" sz="1280" dirty="0">
              <a:solidFill>
                <a:schemeClr val="bg1"/>
              </a:solidFill>
            </a:endParaRPr>
          </a:p>
        </p:txBody>
      </p:sp>
    </p:spTree>
    <p:extLst>
      <p:ext uri="{BB962C8B-B14F-4D97-AF65-F5344CB8AC3E}">
        <p14:creationId xmlns:p14="http://schemas.microsoft.com/office/powerpoint/2010/main" val="2817294214"/>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i="0" u="none" dirty="0" err="1" smtClean="0">
                <a:solidFill>
                  <a:srgbClr val="FFFFFF"/>
                </a:solidFill>
                <a:latin typeface="Orbitron"/>
              </a:rPr>
              <a:t>Exploratory</a:t>
            </a:r>
            <a:r>
              <a:rPr lang="fr-FR" sz="3900" b="1" i="0" u="none" dirty="0" smtClean="0">
                <a:solidFill>
                  <a:srgbClr val="FFFFFF"/>
                </a:solidFill>
                <a:latin typeface="Orbitron"/>
              </a:rPr>
              <a:t> Data </a:t>
            </a:r>
            <a:r>
              <a:rPr lang="fr-FR" sz="3900" b="1" i="0" u="none" dirty="0" err="1" smtClean="0">
                <a:solidFill>
                  <a:srgbClr val="FFFFFF"/>
                </a:solidFill>
                <a:latin typeface="Orbitron"/>
              </a:rPr>
              <a:t>Analysis</a:t>
            </a:r>
            <a:r>
              <a:rPr lang="fr-FR" sz="3900" b="1" i="0" u="none" dirty="0" smtClean="0">
                <a:solidFill>
                  <a:srgbClr val="FFFFFF"/>
                </a:solidFill>
                <a:latin typeface="Orbitron"/>
              </a:rPr>
              <a:t> (EDA)</a:t>
            </a:r>
            <a:endParaRPr sz="3900" b="1" i="0" u="none" dirty="0">
              <a:solidFill>
                <a:srgbClr val="FFFFFF"/>
              </a:solidFill>
              <a:latin typeface="Orbitron"/>
            </a:endParaRPr>
          </a:p>
        </p:txBody>
      </p:sp>
      <p:sp>
        <p:nvSpPr>
          <p:cNvPr id="7" name="TextBox 6"/>
          <p:cNvSpPr txBox="1"/>
          <p:nvPr/>
        </p:nvSpPr>
        <p:spPr>
          <a:xfrm>
            <a:off x="360897" y="1874008"/>
            <a:ext cx="11195886" cy="4333494"/>
          </a:xfrm>
          <a:prstGeom prst="rect">
            <a:avLst/>
          </a:prstGeom>
          <a:noFill/>
        </p:spPr>
        <p:txBody>
          <a:bodyPr wrap="square" lIns="0" tIns="0" rIns="0" bIns="0" anchor="t">
            <a:spAutoFit/>
          </a:bodyPr>
          <a:lstStyle/>
          <a:p>
            <a:pPr marL="285750" indent="-285750">
              <a:buFont typeface="Arial" panose="020B0604020202020204" pitchFamily="34" charset="0"/>
              <a:buChar char="•"/>
            </a:pPr>
            <a:endParaRPr lang="en-US" sz="1280" dirty="0">
              <a:solidFill>
                <a:schemeClr val="bg1"/>
              </a:solidFill>
            </a:endParaRPr>
          </a:p>
          <a:p>
            <a:pPr marL="285750" indent="-285750">
              <a:buFont typeface="Arial" panose="020B0604020202020204" pitchFamily="34" charset="0"/>
              <a:buChar char="•"/>
            </a:pPr>
            <a:r>
              <a:rPr lang="en-US" sz="1280" dirty="0" smtClean="0">
                <a:solidFill>
                  <a:schemeClr val="bg1"/>
                </a:solidFill>
              </a:rPr>
              <a:t>Interactive </a:t>
            </a:r>
            <a:r>
              <a:rPr lang="en-US" sz="1280" dirty="0">
                <a:solidFill>
                  <a:schemeClr val="bg1"/>
                </a:solidFill>
              </a:rPr>
              <a:t>Mapping with Folium</a:t>
            </a:r>
          </a:p>
          <a:p>
            <a:pPr marL="285750" indent="-285750">
              <a:buFont typeface="Arial" panose="020B0604020202020204" pitchFamily="34" charset="0"/>
              <a:buChar char="•"/>
            </a:pPr>
            <a:endParaRPr lang="en-US" sz="1280" dirty="0">
              <a:solidFill>
                <a:schemeClr val="bg1"/>
              </a:solidFill>
            </a:endParaRPr>
          </a:p>
          <a:p>
            <a:pPr marL="742950" lvl="1" indent="-285750">
              <a:buFont typeface="Arial" panose="020B0604020202020204" pitchFamily="34" charset="0"/>
              <a:buChar char="•"/>
            </a:pPr>
            <a:r>
              <a:rPr lang="en-US" sz="1280" dirty="0">
                <a:solidFill>
                  <a:schemeClr val="bg1"/>
                </a:solidFill>
              </a:rPr>
              <a:t>Interactive maps were created using Folium to enable deeper spatial understanding. With Folium, the following were achieved: all launch sites were plotted on a map, successful and failed launches were highlighted at each site, and distances from launch sites to nearby locations—such as cities, highways, and railways—were displayed.</a:t>
            </a:r>
          </a:p>
          <a:p>
            <a:pPr marL="285750" indent="-285750">
              <a:buFont typeface="Arial" panose="020B0604020202020204" pitchFamily="34" charset="0"/>
              <a:buChar char="•"/>
            </a:pPr>
            <a:endParaRPr lang="en-US" sz="1280" dirty="0">
              <a:solidFill>
                <a:schemeClr val="bg1"/>
              </a:solidFill>
            </a:endParaRPr>
          </a:p>
          <a:p>
            <a:pPr marL="285750" indent="-285750">
              <a:buFont typeface="Arial" panose="020B0604020202020204" pitchFamily="34" charset="0"/>
              <a:buChar char="•"/>
            </a:pPr>
            <a:r>
              <a:rPr lang="en-US" sz="1280" dirty="0" smtClean="0">
                <a:solidFill>
                  <a:schemeClr val="bg1"/>
                </a:solidFill>
              </a:rPr>
              <a:t>Interactive </a:t>
            </a:r>
            <a:r>
              <a:rPr lang="en-US" sz="1280" dirty="0">
                <a:solidFill>
                  <a:schemeClr val="bg1"/>
                </a:solidFill>
              </a:rPr>
              <a:t>Dashboard with Dash</a:t>
            </a:r>
          </a:p>
          <a:p>
            <a:pPr marL="285750" indent="-285750">
              <a:buFont typeface="Arial" panose="020B0604020202020204" pitchFamily="34" charset="0"/>
              <a:buChar char="•"/>
            </a:pPr>
            <a:endParaRPr lang="en-US" sz="1280" dirty="0">
              <a:solidFill>
                <a:schemeClr val="bg1"/>
              </a:solidFill>
            </a:endParaRPr>
          </a:p>
          <a:p>
            <a:pPr marL="742950" lvl="1" indent="-285750">
              <a:buFont typeface="Arial" panose="020B0604020202020204" pitchFamily="34" charset="0"/>
              <a:buChar char="•"/>
            </a:pPr>
            <a:r>
              <a:rPr lang="en-US" sz="1280" dirty="0">
                <a:solidFill>
                  <a:schemeClr val="bg1"/>
                </a:solidFill>
              </a:rPr>
              <a:t>An interactive web dashboard was built using Dash, allowing users to explore the data through a dropdown menu and a range slider. The dashboard includes a pie chart that shows the total number of successful launches from each launch site, as well as a scatter plot that reveals the relationship between payload mass and mission outcome (success or failure) for different launch sites</a:t>
            </a:r>
            <a:r>
              <a:rPr lang="en-US" sz="1280" dirty="0" smtClean="0">
                <a:solidFill>
                  <a:schemeClr val="bg1"/>
                </a:solidFill>
              </a:rPr>
              <a:t>.</a:t>
            </a:r>
          </a:p>
          <a:p>
            <a:pPr lvl="1"/>
            <a:endParaRPr lang="en-US" sz="1280" dirty="0" smtClean="0">
              <a:solidFill>
                <a:schemeClr val="bg1"/>
              </a:solidFill>
            </a:endParaRPr>
          </a:p>
          <a:p>
            <a:r>
              <a:rPr lang="en-US" sz="1280" b="1" dirty="0">
                <a:solidFill>
                  <a:schemeClr val="bg1"/>
                </a:solidFill>
              </a:rPr>
              <a:t>Machine Learning Prediction</a:t>
            </a:r>
          </a:p>
          <a:p>
            <a:endParaRPr lang="en-US" sz="1280" b="1" dirty="0">
              <a:solidFill>
                <a:schemeClr val="bg1"/>
              </a:solidFill>
            </a:endParaRPr>
          </a:p>
          <a:p>
            <a:pPr marL="285750" indent="-285750">
              <a:buFont typeface="Arial" panose="020B0604020202020204" pitchFamily="34" charset="0"/>
              <a:buChar char="•"/>
            </a:pPr>
            <a:r>
              <a:rPr lang="en-US" sz="1280" dirty="0">
                <a:solidFill>
                  <a:schemeClr val="bg1"/>
                </a:solidFill>
              </a:rPr>
              <a:t>Library: </a:t>
            </a:r>
            <a:r>
              <a:rPr lang="en-US" sz="1280" dirty="0" err="1">
                <a:solidFill>
                  <a:schemeClr val="bg1"/>
                </a:solidFill>
              </a:rPr>
              <a:t>Scikit</a:t>
            </a:r>
            <a:r>
              <a:rPr lang="en-US" sz="1280" dirty="0">
                <a:solidFill>
                  <a:schemeClr val="bg1"/>
                </a:solidFill>
              </a:rPr>
              <a:t>-learn.</a:t>
            </a:r>
          </a:p>
          <a:p>
            <a:pPr marL="285750" indent="-285750">
              <a:buFont typeface="Arial" panose="020B0604020202020204" pitchFamily="34" charset="0"/>
              <a:buChar char="•"/>
            </a:pPr>
            <a:r>
              <a:rPr lang="en-US" sz="1280" dirty="0">
                <a:solidFill>
                  <a:schemeClr val="bg1"/>
                </a:solidFill>
              </a:rPr>
              <a:t>Process: The workflow includes data standardization and splitting data into training/testing sets.</a:t>
            </a:r>
          </a:p>
          <a:p>
            <a:pPr marL="285750" indent="-285750">
              <a:buFont typeface="Arial" panose="020B0604020202020204" pitchFamily="34" charset="0"/>
              <a:buChar char="•"/>
            </a:pPr>
            <a:r>
              <a:rPr lang="en-US" sz="1280" dirty="0">
                <a:solidFill>
                  <a:schemeClr val="bg1"/>
                </a:solidFill>
              </a:rPr>
              <a:t>Models: Implements Logistic Regression, SVM, Decision Trees, and KNN.</a:t>
            </a:r>
          </a:p>
          <a:p>
            <a:pPr marL="285750" indent="-285750">
              <a:buFont typeface="Arial" panose="020B0604020202020204" pitchFamily="34" charset="0"/>
              <a:buChar char="•"/>
            </a:pPr>
            <a:r>
              <a:rPr lang="en-US" sz="1280" dirty="0">
                <a:solidFill>
                  <a:schemeClr val="bg1"/>
                </a:solidFill>
              </a:rPr>
              <a:t>Evaluation: Models are tuned via </a:t>
            </a:r>
            <a:r>
              <a:rPr lang="en-US" sz="1280" dirty="0" err="1">
                <a:solidFill>
                  <a:schemeClr val="bg1"/>
                </a:solidFill>
              </a:rPr>
              <a:t>hyperparameter</a:t>
            </a:r>
            <a:r>
              <a:rPr lang="en-US" sz="1280" dirty="0">
                <a:solidFill>
                  <a:schemeClr val="bg1"/>
                </a:solidFill>
              </a:rPr>
              <a:t> optimization and assessed using accuracy scores and confusion matrices.</a:t>
            </a:r>
          </a:p>
          <a:p>
            <a:pPr marL="285750" indent="-285750">
              <a:buFont typeface="Arial" panose="020B0604020202020204" pitchFamily="34" charset="0"/>
              <a:buChar char="•"/>
            </a:pPr>
            <a:endParaRPr lang="en-US" sz="1280" dirty="0" smtClean="0">
              <a:solidFill>
                <a:schemeClr val="bg1"/>
              </a:solidFill>
            </a:endParaRPr>
          </a:p>
          <a:p>
            <a:pPr marL="285750" indent="-285750">
              <a:buFont typeface="Arial" panose="020B0604020202020204" pitchFamily="34" charset="0"/>
              <a:buChar char="•"/>
            </a:pPr>
            <a:endParaRPr lang="fr-FR" sz="1280" dirty="0">
              <a:solidFill>
                <a:schemeClr val="bg1"/>
              </a:solidFill>
            </a:endParaRPr>
          </a:p>
          <a:p>
            <a:endParaRPr lang="en-US" sz="1280" dirty="0">
              <a:solidFill>
                <a:schemeClr val="bg1"/>
              </a:solidFill>
            </a:endParaRPr>
          </a:p>
        </p:txBody>
      </p:sp>
    </p:spTree>
    <p:extLst>
      <p:ext uri="{BB962C8B-B14F-4D97-AF65-F5344CB8AC3E}">
        <p14:creationId xmlns:p14="http://schemas.microsoft.com/office/powerpoint/2010/main" val="361170492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i="0" u="none" dirty="0" err="1" smtClean="0">
                <a:solidFill>
                  <a:srgbClr val="FFFFFF"/>
                </a:solidFill>
                <a:latin typeface="Orbitron"/>
              </a:rPr>
              <a:t>Exploratory</a:t>
            </a:r>
            <a:r>
              <a:rPr lang="fr-FR" sz="3900" b="1" i="0" u="none" dirty="0" smtClean="0">
                <a:solidFill>
                  <a:srgbClr val="FFFFFF"/>
                </a:solidFill>
                <a:latin typeface="Orbitron"/>
              </a:rPr>
              <a:t> Data </a:t>
            </a:r>
            <a:r>
              <a:rPr lang="fr-FR" sz="3900" b="1" i="0" u="none" dirty="0" err="1" smtClean="0">
                <a:solidFill>
                  <a:srgbClr val="FFFFFF"/>
                </a:solidFill>
                <a:latin typeface="Orbitron"/>
              </a:rPr>
              <a:t>Analysis</a:t>
            </a:r>
            <a:r>
              <a:rPr lang="fr-FR" sz="3900" b="1" i="0" u="none" dirty="0" smtClean="0">
                <a:solidFill>
                  <a:srgbClr val="FFFFFF"/>
                </a:solidFill>
                <a:latin typeface="Orbitron"/>
              </a:rPr>
              <a:t> (EDA)</a:t>
            </a:r>
            <a:endParaRPr sz="3900" b="1" i="0" u="none" dirty="0">
              <a:solidFill>
                <a:srgbClr val="FFFFFF"/>
              </a:solidFill>
              <a:latin typeface="Orbitron"/>
            </a:endParaRPr>
          </a:p>
        </p:txBody>
      </p:sp>
      <p:sp>
        <p:nvSpPr>
          <p:cNvPr id="7" name="TextBox 6"/>
          <p:cNvSpPr txBox="1"/>
          <p:nvPr/>
        </p:nvSpPr>
        <p:spPr>
          <a:xfrm>
            <a:off x="360897" y="1874008"/>
            <a:ext cx="11195886" cy="4530471"/>
          </a:xfrm>
          <a:prstGeom prst="rect">
            <a:avLst/>
          </a:prstGeom>
          <a:noFill/>
        </p:spPr>
        <p:txBody>
          <a:bodyPr wrap="square" lIns="0" tIns="0" rIns="0" bIns="0" anchor="t">
            <a:spAutoFit/>
          </a:bodyPr>
          <a:lstStyle/>
          <a:p>
            <a:r>
              <a:rPr lang="en-US" sz="1280" b="1" dirty="0" smtClean="0">
                <a:solidFill>
                  <a:schemeClr val="bg1"/>
                </a:solidFill>
              </a:rPr>
              <a:t>Model Development and Evaluation</a:t>
            </a:r>
          </a:p>
          <a:p>
            <a:endParaRPr lang="en-US" sz="1280" dirty="0" smtClean="0">
              <a:solidFill>
                <a:schemeClr val="bg1"/>
              </a:solidFill>
            </a:endParaRPr>
          </a:p>
          <a:p>
            <a:r>
              <a:rPr lang="en-US" sz="1280" dirty="0" smtClean="0">
                <a:solidFill>
                  <a:schemeClr val="bg1"/>
                </a:solidFill>
              </a:rPr>
              <a:t>The </a:t>
            </a:r>
            <a:r>
              <a:rPr lang="en-US" sz="1280" dirty="0" err="1">
                <a:solidFill>
                  <a:schemeClr val="bg1"/>
                </a:solidFill>
              </a:rPr>
              <a:t>Scikit</a:t>
            </a:r>
            <a:r>
              <a:rPr lang="en-US" sz="1280" dirty="0">
                <a:solidFill>
                  <a:schemeClr val="bg1"/>
                </a:solidFill>
              </a:rPr>
              <a:t>-learn library was used for the construction and evaluation of multiple machine learning models. The following prediction pipeline was carried out:</a:t>
            </a:r>
          </a:p>
          <a:p>
            <a:pPr marL="342900" indent="-342900">
              <a:buFont typeface="+mj-lt"/>
              <a:buAutoNum type="arabicPeriod"/>
            </a:pPr>
            <a:endParaRPr lang="en-US" sz="1280" dirty="0">
              <a:solidFill>
                <a:schemeClr val="bg1"/>
              </a:solidFill>
            </a:endParaRPr>
          </a:p>
          <a:p>
            <a:pPr marL="342900" indent="-342900">
              <a:buFont typeface="+mj-lt"/>
              <a:buAutoNum type="arabicPeriod"/>
            </a:pPr>
            <a:r>
              <a:rPr lang="en-US" sz="1280" dirty="0">
                <a:solidFill>
                  <a:schemeClr val="bg1"/>
                </a:solidFill>
              </a:rPr>
              <a:t>The data were standardized to enhance model performance.</a:t>
            </a:r>
          </a:p>
          <a:p>
            <a:pPr marL="342900" indent="-342900">
              <a:buFont typeface="+mj-lt"/>
              <a:buAutoNum type="arabicPeriod"/>
            </a:pPr>
            <a:endParaRPr lang="en-US" sz="1280" dirty="0">
              <a:solidFill>
                <a:schemeClr val="bg1"/>
              </a:solidFill>
            </a:endParaRPr>
          </a:p>
          <a:p>
            <a:pPr marL="342900" indent="-342900">
              <a:buFont typeface="+mj-lt"/>
              <a:buAutoNum type="arabicPeriod"/>
            </a:pPr>
            <a:r>
              <a:rPr lang="en-US" sz="1280" dirty="0">
                <a:solidFill>
                  <a:schemeClr val="bg1"/>
                </a:solidFill>
              </a:rPr>
              <a:t>The dataset was divided into training and testing sets.</a:t>
            </a:r>
          </a:p>
          <a:p>
            <a:pPr marL="342900" indent="-342900">
              <a:buFont typeface="+mj-lt"/>
              <a:buAutoNum type="arabicPeriod"/>
            </a:pPr>
            <a:endParaRPr lang="en-US" sz="1280" dirty="0">
              <a:solidFill>
                <a:schemeClr val="bg1"/>
              </a:solidFill>
            </a:endParaRPr>
          </a:p>
          <a:p>
            <a:pPr marL="342900" indent="-342900">
              <a:buFont typeface="+mj-lt"/>
              <a:buAutoNum type="arabicPeriod"/>
            </a:pPr>
            <a:r>
              <a:rPr lang="en-US" sz="1280" dirty="0">
                <a:solidFill>
                  <a:schemeClr val="bg1"/>
                </a:solidFill>
              </a:rPr>
              <a:t>Four different classification models were trained:</a:t>
            </a:r>
          </a:p>
          <a:p>
            <a:pPr lvl="1"/>
            <a:endParaRPr lang="en-US" sz="1280" dirty="0">
              <a:solidFill>
                <a:schemeClr val="bg1"/>
              </a:solidFill>
            </a:endParaRPr>
          </a:p>
          <a:p>
            <a:pPr marL="800100" lvl="1" indent="-342900">
              <a:buFont typeface="+mj-lt"/>
              <a:buAutoNum type="arabicPeriod"/>
            </a:pPr>
            <a:r>
              <a:rPr lang="en-US" sz="1280" dirty="0">
                <a:solidFill>
                  <a:schemeClr val="bg1"/>
                </a:solidFill>
              </a:rPr>
              <a:t>Logistic </a:t>
            </a:r>
            <a:r>
              <a:rPr lang="en-US" sz="1280" dirty="0" smtClean="0">
                <a:solidFill>
                  <a:schemeClr val="bg1"/>
                </a:solidFill>
              </a:rPr>
              <a:t>Regression</a:t>
            </a:r>
          </a:p>
          <a:p>
            <a:pPr marL="800100" lvl="1" indent="-342900">
              <a:buFont typeface="+mj-lt"/>
              <a:buAutoNum type="arabicPeriod"/>
            </a:pPr>
            <a:r>
              <a:rPr lang="en-US" sz="1280" dirty="0">
                <a:solidFill>
                  <a:schemeClr val="bg1"/>
                </a:solidFill>
              </a:rPr>
              <a:t>Support Vector Machine (SVM)</a:t>
            </a:r>
          </a:p>
          <a:p>
            <a:pPr marL="800100" lvl="1" indent="-342900">
              <a:buFont typeface="+mj-lt"/>
              <a:buAutoNum type="arabicPeriod"/>
            </a:pPr>
            <a:r>
              <a:rPr lang="en-US" sz="1280" dirty="0">
                <a:solidFill>
                  <a:schemeClr val="bg1"/>
                </a:solidFill>
              </a:rPr>
              <a:t>Decision </a:t>
            </a:r>
            <a:r>
              <a:rPr lang="en-US" sz="1280" dirty="0" smtClean="0">
                <a:solidFill>
                  <a:schemeClr val="bg1"/>
                </a:solidFill>
              </a:rPr>
              <a:t>Tree</a:t>
            </a:r>
          </a:p>
          <a:p>
            <a:pPr marL="800100" lvl="1" indent="-342900">
              <a:buFont typeface="+mj-lt"/>
              <a:buAutoNum type="arabicPeriod"/>
            </a:pPr>
            <a:r>
              <a:rPr lang="en-US" sz="1280" dirty="0">
                <a:solidFill>
                  <a:schemeClr val="bg1"/>
                </a:solidFill>
              </a:rPr>
              <a:t>K-Nearest Neighbors (KNN)</a:t>
            </a:r>
          </a:p>
          <a:p>
            <a:pPr marL="342900" indent="-342900">
              <a:buFont typeface="+mj-lt"/>
              <a:buAutoNum type="arabicPeriod"/>
            </a:pPr>
            <a:endParaRPr lang="en-US" sz="1280" dirty="0">
              <a:solidFill>
                <a:schemeClr val="bg1"/>
              </a:solidFill>
            </a:endParaRPr>
          </a:p>
          <a:p>
            <a:pPr marL="342900" indent="-342900">
              <a:buFont typeface="+mj-lt"/>
              <a:buAutoNum type="arabicPeriod"/>
            </a:pPr>
            <a:r>
              <a:rPr lang="en-US" sz="1280" dirty="0">
                <a:solidFill>
                  <a:schemeClr val="bg1"/>
                </a:solidFill>
              </a:rPr>
              <a:t>Each model was fitted on the training data.</a:t>
            </a:r>
          </a:p>
          <a:p>
            <a:pPr marL="342900" indent="-342900">
              <a:buFont typeface="+mj-lt"/>
              <a:buAutoNum type="arabicPeriod"/>
            </a:pPr>
            <a:endParaRPr lang="en-US" sz="1280" dirty="0">
              <a:solidFill>
                <a:schemeClr val="bg1"/>
              </a:solidFill>
            </a:endParaRPr>
          </a:p>
          <a:p>
            <a:pPr marL="342900" indent="-342900">
              <a:buFont typeface="+mj-lt"/>
              <a:buAutoNum type="arabicPeriod"/>
            </a:pPr>
            <a:r>
              <a:rPr lang="en-US" sz="1280" dirty="0" err="1">
                <a:solidFill>
                  <a:schemeClr val="bg1"/>
                </a:solidFill>
              </a:rPr>
              <a:t>Hyperparameters</a:t>
            </a:r>
            <a:r>
              <a:rPr lang="en-US" sz="1280" dirty="0">
                <a:solidFill>
                  <a:schemeClr val="bg1"/>
                </a:solidFill>
              </a:rPr>
              <a:t> were tuned to determine the optimal settings for each model.</a:t>
            </a:r>
          </a:p>
          <a:p>
            <a:pPr marL="342900" indent="-342900">
              <a:buFont typeface="+mj-lt"/>
              <a:buAutoNum type="arabicPeriod"/>
            </a:pPr>
            <a:endParaRPr lang="en-US" sz="1280" dirty="0">
              <a:solidFill>
                <a:schemeClr val="bg1"/>
              </a:solidFill>
            </a:endParaRPr>
          </a:p>
          <a:p>
            <a:pPr marL="342900" indent="-342900">
              <a:buFont typeface="+mj-lt"/>
              <a:buAutoNum type="arabicPeriod"/>
            </a:pPr>
            <a:r>
              <a:rPr lang="en-US" sz="1280" dirty="0">
                <a:solidFill>
                  <a:schemeClr val="bg1"/>
                </a:solidFill>
              </a:rPr>
              <a:t>Model performance was evaluated using:</a:t>
            </a:r>
          </a:p>
          <a:p>
            <a:pPr marL="342900" indent="-342900">
              <a:buFont typeface="+mj-lt"/>
              <a:buAutoNum type="arabicPeriod"/>
            </a:pPr>
            <a:endParaRPr lang="en-US" sz="1280" dirty="0">
              <a:solidFill>
                <a:schemeClr val="bg1"/>
              </a:solidFill>
            </a:endParaRPr>
          </a:p>
          <a:p>
            <a:pPr marL="800100" lvl="1" indent="-342900">
              <a:buFont typeface="+mj-lt"/>
              <a:buAutoNum type="arabicPeriod"/>
            </a:pPr>
            <a:r>
              <a:rPr lang="en-US" sz="1280" dirty="0">
                <a:solidFill>
                  <a:schemeClr val="bg1"/>
                </a:solidFill>
              </a:rPr>
              <a:t>Accuracy scores, which were calculated for each </a:t>
            </a:r>
            <a:r>
              <a:rPr lang="en-US" sz="1280" dirty="0" smtClean="0">
                <a:solidFill>
                  <a:schemeClr val="bg1"/>
                </a:solidFill>
              </a:rPr>
              <a:t>model</a:t>
            </a:r>
          </a:p>
          <a:p>
            <a:pPr marL="800100" lvl="1" indent="-342900">
              <a:buFont typeface="+mj-lt"/>
              <a:buAutoNum type="arabicPeriod"/>
            </a:pPr>
            <a:r>
              <a:rPr lang="en-US" sz="1280" dirty="0">
                <a:solidFill>
                  <a:schemeClr val="bg1"/>
                </a:solidFill>
              </a:rPr>
              <a:t>Confusion matrices, which were generated for each </a:t>
            </a:r>
            <a:r>
              <a:rPr lang="en-US" sz="1280" dirty="0" smtClean="0">
                <a:solidFill>
                  <a:schemeClr val="bg1"/>
                </a:solidFill>
              </a:rPr>
              <a:t>model</a:t>
            </a:r>
            <a:endParaRPr lang="en-US" sz="1280" dirty="0">
              <a:solidFill>
                <a:schemeClr val="bg1"/>
              </a:solidFill>
            </a:endParaRPr>
          </a:p>
        </p:txBody>
      </p:sp>
    </p:spTree>
    <p:extLst>
      <p:ext uri="{BB962C8B-B14F-4D97-AF65-F5344CB8AC3E}">
        <p14:creationId xmlns:p14="http://schemas.microsoft.com/office/powerpoint/2010/main" val="1166201043"/>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1553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i="0" u="none" dirty="0" smtClean="0">
                <a:solidFill>
                  <a:srgbClr val="FFFFFF"/>
                </a:solidFill>
                <a:latin typeface="Orbitron"/>
              </a:rPr>
              <a:t>EDA </a:t>
            </a:r>
            <a:r>
              <a:rPr lang="fr-FR" sz="3900" b="1" i="0" u="none" dirty="0" err="1" smtClean="0">
                <a:solidFill>
                  <a:srgbClr val="FFFFFF"/>
                </a:solidFill>
                <a:latin typeface="Orbitron"/>
              </a:rPr>
              <a:t>with</a:t>
            </a:r>
            <a:r>
              <a:rPr lang="fr-FR" sz="3900" b="1" i="0" u="none" dirty="0" smtClean="0">
                <a:solidFill>
                  <a:srgbClr val="FFFFFF"/>
                </a:solidFill>
                <a:latin typeface="Orbitron"/>
              </a:rPr>
              <a:t> SQL</a:t>
            </a:r>
            <a:endParaRPr sz="3900" b="1" i="0" u="none" dirty="0">
              <a:solidFill>
                <a:srgbClr val="FFFFFF"/>
              </a:solidFill>
              <a:latin typeface="Orbitron"/>
            </a:endParaRPr>
          </a:p>
        </p:txBody>
      </p:sp>
      <p:sp>
        <p:nvSpPr>
          <p:cNvPr id="7" name="TextBox 6"/>
          <p:cNvSpPr txBox="1"/>
          <p:nvPr/>
        </p:nvSpPr>
        <p:spPr>
          <a:xfrm>
            <a:off x="360897" y="1862433"/>
            <a:ext cx="11195886" cy="2560701"/>
          </a:xfrm>
          <a:prstGeom prst="rect">
            <a:avLst/>
          </a:prstGeom>
          <a:noFill/>
        </p:spPr>
        <p:txBody>
          <a:bodyPr wrap="square" lIns="0" tIns="0" rIns="0" bIns="0" anchor="t">
            <a:spAutoFit/>
          </a:bodyPr>
          <a:lstStyle/>
          <a:p>
            <a:r>
              <a:rPr lang="fr-FR" sz="1280" b="1" dirty="0" smtClean="0">
                <a:solidFill>
                  <a:schemeClr val="bg1"/>
                </a:solidFill>
              </a:rPr>
              <a:t>SQL </a:t>
            </a:r>
            <a:r>
              <a:rPr lang="fr-FR" sz="1280" b="1" dirty="0" err="1" smtClean="0">
                <a:solidFill>
                  <a:schemeClr val="bg1"/>
                </a:solidFill>
              </a:rPr>
              <a:t>Queries</a:t>
            </a:r>
            <a:r>
              <a:rPr lang="fr-FR" sz="1280" b="1" dirty="0" smtClean="0">
                <a:solidFill>
                  <a:schemeClr val="bg1"/>
                </a:solidFill>
              </a:rPr>
              <a:t> :</a:t>
            </a:r>
          </a:p>
          <a:p>
            <a:endParaRPr lang="en-US" sz="1280" dirty="0">
              <a:solidFill>
                <a:schemeClr val="bg1"/>
              </a:solidFill>
            </a:endParaRPr>
          </a:p>
          <a:p>
            <a:pPr marL="285750" indent="-285750">
              <a:buFont typeface="Arial" panose="020B0604020202020204" pitchFamily="34" charset="0"/>
              <a:buChar char="•"/>
            </a:pPr>
            <a:r>
              <a:rPr lang="en-US" sz="1280" dirty="0" smtClean="0">
                <a:solidFill>
                  <a:schemeClr val="bg1"/>
                </a:solidFill>
              </a:rPr>
              <a:t>Show </a:t>
            </a:r>
            <a:r>
              <a:rPr lang="en-US" sz="1280" dirty="0">
                <a:solidFill>
                  <a:schemeClr val="bg1"/>
                </a:solidFill>
              </a:rPr>
              <a:t>each unique launch site</a:t>
            </a:r>
          </a:p>
          <a:p>
            <a:pPr marL="285750" indent="-285750">
              <a:buFont typeface="Arial" panose="020B0604020202020204" pitchFamily="34" charset="0"/>
              <a:buChar char="•"/>
            </a:pPr>
            <a:r>
              <a:rPr lang="en-US" sz="1280" dirty="0" smtClean="0">
                <a:solidFill>
                  <a:schemeClr val="bg1"/>
                </a:solidFill>
              </a:rPr>
              <a:t>Show </a:t>
            </a:r>
            <a:r>
              <a:rPr lang="en-US" sz="1280" dirty="0">
                <a:solidFill>
                  <a:schemeClr val="bg1"/>
                </a:solidFill>
              </a:rPr>
              <a:t>5 records where launch site names begin with 'CCA'</a:t>
            </a:r>
          </a:p>
          <a:p>
            <a:pPr marL="285750" indent="-285750">
              <a:buFont typeface="Arial" panose="020B0604020202020204" pitchFamily="34" charset="0"/>
              <a:buChar char="•"/>
            </a:pPr>
            <a:r>
              <a:rPr lang="en-US" sz="1280" dirty="0" smtClean="0">
                <a:solidFill>
                  <a:schemeClr val="bg1"/>
                </a:solidFill>
              </a:rPr>
              <a:t>Display </a:t>
            </a:r>
            <a:r>
              <a:rPr lang="en-US" sz="1280" dirty="0">
                <a:solidFill>
                  <a:schemeClr val="bg1"/>
                </a:solidFill>
              </a:rPr>
              <a:t>the total payload mass carried by boosters launched by 'NASA (CRS)'</a:t>
            </a:r>
          </a:p>
          <a:p>
            <a:pPr marL="285750" indent="-285750">
              <a:buFont typeface="Arial" panose="020B0604020202020204" pitchFamily="34" charset="0"/>
              <a:buChar char="•"/>
            </a:pPr>
            <a:r>
              <a:rPr lang="en-US" sz="1280" dirty="0" smtClean="0">
                <a:solidFill>
                  <a:schemeClr val="bg1"/>
                </a:solidFill>
              </a:rPr>
              <a:t>Display </a:t>
            </a:r>
            <a:r>
              <a:rPr lang="en-US" sz="1280" dirty="0">
                <a:solidFill>
                  <a:schemeClr val="bg1"/>
                </a:solidFill>
              </a:rPr>
              <a:t>the average payload mass carried by the v1.1 Falcon 9 booster</a:t>
            </a:r>
          </a:p>
          <a:p>
            <a:pPr marL="285750" indent="-285750">
              <a:buFont typeface="Arial" panose="020B0604020202020204" pitchFamily="34" charset="0"/>
              <a:buChar char="•"/>
            </a:pPr>
            <a:r>
              <a:rPr lang="en-US" sz="1280" dirty="0" smtClean="0">
                <a:solidFill>
                  <a:schemeClr val="bg1"/>
                </a:solidFill>
              </a:rPr>
              <a:t>List </a:t>
            </a:r>
            <a:r>
              <a:rPr lang="en-US" sz="1280" dirty="0">
                <a:solidFill>
                  <a:schemeClr val="bg1"/>
                </a:solidFill>
              </a:rPr>
              <a:t>the date of the first successful ground landing outcome</a:t>
            </a:r>
          </a:p>
          <a:p>
            <a:pPr marL="285750" indent="-285750">
              <a:buFont typeface="Arial" panose="020B0604020202020204" pitchFamily="34" charset="0"/>
              <a:buChar char="•"/>
            </a:pPr>
            <a:r>
              <a:rPr lang="en-US" sz="1280" dirty="0" smtClean="0">
                <a:solidFill>
                  <a:schemeClr val="bg1"/>
                </a:solidFill>
              </a:rPr>
              <a:t>List </a:t>
            </a:r>
            <a:r>
              <a:rPr lang="en-US" sz="1280" dirty="0">
                <a:solidFill>
                  <a:schemeClr val="bg1"/>
                </a:solidFill>
              </a:rPr>
              <a:t>the booster versions with successful outcomes landing on the drone ship with payloads between </a:t>
            </a:r>
            <a:r>
              <a:rPr lang="en-US" sz="1280" dirty="0" smtClean="0">
                <a:solidFill>
                  <a:schemeClr val="bg1"/>
                </a:solidFill>
              </a:rPr>
              <a:t>4000kg </a:t>
            </a:r>
            <a:r>
              <a:rPr lang="en-US" sz="1280" dirty="0">
                <a:solidFill>
                  <a:schemeClr val="bg1"/>
                </a:solidFill>
              </a:rPr>
              <a:t>and 6000kg.</a:t>
            </a:r>
          </a:p>
          <a:p>
            <a:pPr marL="285750" indent="-285750">
              <a:buFont typeface="Arial" panose="020B0604020202020204" pitchFamily="34" charset="0"/>
              <a:buChar char="•"/>
            </a:pPr>
            <a:r>
              <a:rPr lang="en-US" sz="1280" dirty="0" smtClean="0">
                <a:solidFill>
                  <a:schemeClr val="bg1"/>
                </a:solidFill>
              </a:rPr>
              <a:t>List </a:t>
            </a:r>
            <a:r>
              <a:rPr lang="en-US" sz="1280" dirty="0">
                <a:solidFill>
                  <a:schemeClr val="bg1"/>
                </a:solidFill>
              </a:rPr>
              <a:t>the number of successful and failed mission outcomes</a:t>
            </a:r>
          </a:p>
          <a:p>
            <a:pPr marL="285750" indent="-285750">
              <a:buFont typeface="Arial" panose="020B0604020202020204" pitchFamily="34" charset="0"/>
              <a:buChar char="•"/>
            </a:pPr>
            <a:r>
              <a:rPr lang="en-US" sz="1280" dirty="0" smtClean="0">
                <a:solidFill>
                  <a:schemeClr val="bg1"/>
                </a:solidFill>
              </a:rPr>
              <a:t>List </a:t>
            </a:r>
            <a:r>
              <a:rPr lang="en-US" sz="1280" dirty="0">
                <a:solidFill>
                  <a:schemeClr val="bg1"/>
                </a:solidFill>
              </a:rPr>
              <a:t>all of the booster versions that carried the max payload mass</a:t>
            </a:r>
          </a:p>
          <a:p>
            <a:pPr marL="285750" indent="-285750">
              <a:buFont typeface="Arial" panose="020B0604020202020204" pitchFamily="34" charset="0"/>
              <a:buChar char="•"/>
            </a:pPr>
            <a:r>
              <a:rPr lang="en-US" sz="1280" dirty="0" smtClean="0">
                <a:solidFill>
                  <a:schemeClr val="bg1"/>
                </a:solidFill>
              </a:rPr>
              <a:t>List </a:t>
            </a:r>
            <a:r>
              <a:rPr lang="en-US" sz="1280" dirty="0">
                <a:solidFill>
                  <a:schemeClr val="bg1"/>
                </a:solidFill>
              </a:rPr>
              <a:t>the month name, outcome, booster version, and launch site for missions with failure outcomes landing </a:t>
            </a:r>
            <a:r>
              <a:rPr lang="en-US" sz="1280" dirty="0" smtClean="0">
                <a:solidFill>
                  <a:schemeClr val="bg1"/>
                </a:solidFill>
              </a:rPr>
              <a:t>on </a:t>
            </a:r>
            <a:r>
              <a:rPr lang="en-US" sz="1280" dirty="0">
                <a:solidFill>
                  <a:schemeClr val="bg1"/>
                </a:solidFill>
              </a:rPr>
              <a:t>a drone ship in 2015.</a:t>
            </a:r>
          </a:p>
          <a:p>
            <a:pPr marL="285750" indent="-285750">
              <a:buFont typeface="Arial" panose="020B0604020202020204" pitchFamily="34" charset="0"/>
              <a:buChar char="•"/>
            </a:pPr>
            <a:r>
              <a:rPr lang="en-US" sz="1280" dirty="0" smtClean="0">
                <a:solidFill>
                  <a:schemeClr val="bg1"/>
                </a:solidFill>
              </a:rPr>
              <a:t>Show </a:t>
            </a:r>
            <a:r>
              <a:rPr lang="en-US" sz="1280" dirty="0">
                <a:solidFill>
                  <a:schemeClr val="bg1"/>
                </a:solidFill>
              </a:rPr>
              <a:t>the distribution of outcomes between June 4th, 2010 and March 20th, 2017</a:t>
            </a:r>
          </a:p>
          <a:p>
            <a:endParaRPr lang="fr-FR" sz="1280" b="1" dirty="0" smtClean="0">
              <a:solidFill>
                <a:schemeClr val="bg1"/>
              </a:solidFill>
            </a:endParaRPr>
          </a:p>
        </p:txBody>
      </p:sp>
      <p:sp>
        <p:nvSpPr>
          <p:cNvPr id="9" name="Rounded Rectangle 8"/>
          <p:cNvSpPr/>
          <p:nvPr/>
        </p:nvSpPr>
        <p:spPr>
          <a:xfrm>
            <a:off x="581025" y="4859534"/>
            <a:ext cx="5534025" cy="497325"/>
          </a:xfrm>
          <a:prstGeom prst="roundRect">
            <a:avLst>
              <a:gd name="adj" fmla="val 50000"/>
            </a:avLst>
          </a:prstGeom>
          <a:noFill/>
          <a:ln w="9525">
            <a:solidFill>
              <a:srgbClr val="00F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43000" y="4905486"/>
            <a:ext cx="4705350" cy="346249"/>
          </a:xfrm>
          <a:prstGeom prst="rect">
            <a:avLst/>
          </a:prstGeom>
          <a:noFill/>
        </p:spPr>
        <p:txBody>
          <a:bodyPr wrap="square" lIns="0" tIns="0" rIns="0" bIns="0" anchor="ctr">
            <a:spAutoFit/>
          </a:bodyPr>
          <a:lstStyle/>
          <a:p>
            <a:r>
              <a:rPr lang="en-US" sz="1125" dirty="0">
                <a:solidFill>
                  <a:srgbClr val="FFFFFF"/>
                </a:solidFill>
                <a:latin typeface="Plus Jakarta Sans SemiBold"/>
              </a:rPr>
              <a:t>https://github.com/LahcenAmroune/Applied-Data-Science-Capstone/blob/main/4%20EDA%20SQL.ipynb</a:t>
            </a:r>
            <a:endParaRPr sz="1125" b="0" i="0" u="none" dirty="0">
              <a:solidFill>
                <a:srgbClr val="FFFFFF"/>
              </a:solidFill>
              <a:latin typeface="Plus Jakarta Sans SemiBold"/>
            </a:endParaRPr>
          </a:p>
        </p:txBody>
      </p:sp>
      <p:pic>
        <p:nvPicPr>
          <p:cNvPr id="11" name="Picture 10" descr="image.png"/>
          <p:cNvPicPr>
            <a:picLocks noChangeAspect="1"/>
          </p:cNvPicPr>
          <p:nvPr/>
        </p:nvPicPr>
        <p:blipFill>
          <a:blip r:embed="rId3"/>
          <a:stretch>
            <a:fillRect/>
          </a:stretch>
        </p:blipFill>
        <p:spPr>
          <a:xfrm>
            <a:off x="857250" y="4983360"/>
            <a:ext cx="180975" cy="190500"/>
          </a:xfrm>
          <a:prstGeom prst="rect">
            <a:avLst/>
          </a:prstGeom>
        </p:spPr>
      </p:pic>
      <p:pic>
        <p:nvPicPr>
          <p:cNvPr id="12" name="Picture 11" descr="image.png"/>
          <p:cNvPicPr>
            <a:picLocks noChangeAspect="1"/>
          </p:cNvPicPr>
          <p:nvPr/>
        </p:nvPicPr>
        <p:blipFill>
          <a:blip r:embed="rId4"/>
          <a:stretch>
            <a:fillRect/>
          </a:stretch>
        </p:blipFill>
        <p:spPr>
          <a:xfrm>
            <a:off x="5715000" y="5016698"/>
            <a:ext cx="123825" cy="123825"/>
          </a:xfrm>
          <a:prstGeom prst="rect">
            <a:avLst/>
          </a:prstGeom>
        </p:spPr>
      </p:pic>
    </p:spTree>
    <p:extLst>
      <p:ext uri="{BB962C8B-B14F-4D97-AF65-F5344CB8AC3E}">
        <p14:creationId xmlns:p14="http://schemas.microsoft.com/office/powerpoint/2010/main" val="3054375980"/>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1553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i="0" u="none" dirty="0" smtClean="0">
                <a:solidFill>
                  <a:srgbClr val="FFFFFF"/>
                </a:solidFill>
                <a:latin typeface="Orbitron"/>
              </a:rPr>
              <a:t>EDA </a:t>
            </a:r>
            <a:r>
              <a:rPr lang="fr-FR" sz="3900" b="1" i="0" u="none" dirty="0" err="1" smtClean="0">
                <a:solidFill>
                  <a:srgbClr val="FFFFFF"/>
                </a:solidFill>
                <a:latin typeface="Orbitron"/>
              </a:rPr>
              <a:t>with</a:t>
            </a:r>
            <a:r>
              <a:rPr lang="fr-FR" sz="3900" b="1" i="0" u="none" dirty="0" smtClean="0">
                <a:solidFill>
                  <a:srgbClr val="FFFFFF"/>
                </a:solidFill>
                <a:latin typeface="Orbitron"/>
              </a:rPr>
              <a:t> SQL</a:t>
            </a:r>
            <a:endParaRPr sz="3900" b="1" i="0" u="none" dirty="0">
              <a:solidFill>
                <a:srgbClr val="FFFFFF"/>
              </a:solidFill>
              <a:latin typeface="Orbitron"/>
            </a:endParaRPr>
          </a:p>
        </p:txBody>
      </p:sp>
      <p:sp>
        <p:nvSpPr>
          <p:cNvPr id="6" name="TextBox 5"/>
          <p:cNvSpPr txBox="1"/>
          <p:nvPr/>
        </p:nvSpPr>
        <p:spPr>
          <a:xfrm>
            <a:off x="724266" y="1932884"/>
            <a:ext cx="2834399" cy="880241"/>
          </a:xfrm>
          <a:prstGeom prst="rect">
            <a:avLst/>
          </a:prstGeom>
          <a:noFill/>
        </p:spPr>
        <p:txBody>
          <a:bodyPr wrap="square" rtlCol="0">
            <a:spAutoFit/>
          </a:bodyPr>
          <a:lstStyle/>
          <a:p>
            <a:r>
              <a:rPr lang="en-US" sz="1280" dirty="0" smtClean="0">
                <a:solidFill>
                  <a:schemeClr val="bg1"/>
                </a:solidFill>
              </a:rPr>
              <a:t>Retrieving </a:t>
            </a:r>
            <a:r>
              <a:rPr lang="en-US" sz="1280" dirty="0">
                <a:solidFill>
                  <a:schemeClr val="bg1"/>
                </a:solidFill>
              </a:rPr>
              <a:t>the names of all unique launch sites involved in the </a:t>
            </a:r>
            <a:r>
              <a:rPr lang="en-US" sz="1280" dirty="0" err="1">
                <a:solidFill>
                  <a:schemeClr val="bg1"/>
                </a:solidFill>
              </a:rPr>
              <a:t>SpaceX</a:t>
            </a:r>
            <a:r>
              <a:rPr lang="en-US" sz="1280" dirty="0">
                <a:solidFill>
                  <a:schemeClr val="bg1"/>
                </a:solidFill>
              </a:rPr>
              <a:t> missions to understand how many different sites were used</a:t>
            </a:r>
          </a:p>
        </p:txBody>
      </p:sp>
      <p:sp>
        <p:nvSpPr>
          <p:cNvPr id="13" name="TextBox 12"/>
          <p:cNvSpPr txBox="1"/>
          <p:nvPr/>
        </p:nvSpPr>
        <p:spPr>
          <a:xfrm>
            <a:off x="733167" y="3718626"/>
            <a:ext cx="4395026" cy="486287"/>
          </a:xfrm>
          <a:prstGeom prst="rect">
            <a:avLst/>
          </a:prstGeom>
          <a:noFill/>
        </p:spPr>
        <p:txBody>
          <a:bodyPr wrap="square" rtlCol="0">
            <a:spAutoFit/>
          </a:bodyPr>
          <a:lstStyle/>
          <a:p>
            <a:r>
              <a:rPr lang="en-US" sz="1280" dirty="0" smtClean="0">
                <a:solidFill>
                  <a:schemeClr val="bg1"/>
                </a:solidFill>
              </a:rPr>
              <a:t>Filtering the </a:t>
            </a:r>
            <a:r>
              <a:rPr lang="en-US" sz="1280" dirty="0">
                <a:solidFill>
                  <a:schemeClr val="bg1"/>
                </a:solidFill>
              </a:rPr>
              <a:t>data to show only those launch sites that begin with 'CCA' revealing 5 specific records matching this condition</a:t>
            </a:r>
          </a:p>
        </p:txBody>
      </p:sp>
      <p:pic>
        <p:nvPicPr>
          <p:cNvPr id="14" name="Picture 1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1973" y="4782034"/>
            <a:ext cx="5111647" cy="1388501"/>
          </a:xfrm>
          <a:prstGeom prst="rect">
            <a:avLst/>
          </a:prstGeom>
        </p:spPr>
      </p:pic>
      <p:sp>
        <p:nvSpPr>
          <p:cNvPr id="16" name="TextBox 15"/>
          <p:cNvSpPr txBox="1"/>
          <p:nvPr/>
        </p:nvSpPr>
        <p:spPr>
          <a:xfrm>
            <a:off x="7909560" y="4130458"/>
            <a:ext cx="4318923" cy="486287"/>
          </a:xfrm>
          <a:prstGeom prst="rect">
            <a:avLst/>
          </a:prstGeom>
          <a:noFill/>
        </p:spPr>
        <p:txBody>
          <a:bodyPr wrap="square" rtlCol="0">
            <a:spAutoFit/>
          </a:bodyPr>
          <a:lstStyle/>
          <a:p>
            <a:r>
              <a:rPr lang="en-US" sz="1280" dirty="0">
                <a:solidFill>
                  <a:schemeClr val="bg1"/>
                </a:solidFill>
              </a:rPr>
              <a:t>• </a:t>
            </a:r>
            <a:r>
              <a:rPr lang="en-US" sz="1280" dirty="0" err="1">
                <a:solidFill>
                  <a:schemeClr val="bg1"/>
                </a:solidFill>
              </a:rPr>
              <a:t>Theaverage</a:t>
            </a:r>
            <a:r>
              <a:rPr lang="en-US" sz="1280" dirty="0">
                <a:solidFill>
                  <a:schemeClr val="bg1"/>
                </a:solidFill>
              </a:rPr>
              <a:t> payload mass carried by booster version F9 v1.1 </a:t>
            </a:r>
            <a:br>
              <a:rPr lang="en-US" sz="1280" dirty="0">
                <a:solidFill>
                  <a:schemeClr val="bg1"/>
                </a:solidFill>
              </a:rPr>
            </a:br>
            <a:endParaRPr lang="en-US" sz="1280" dirty="0">
              <a:solidFill>
                <a:schemeClr val="bg1"/>
              </a:solidFill>
            </a:endParaRPr>
          </a:p>
        </p:txBody>
      </p:sp>
      <p:sp>
        <p:nvSpPr>
          <p:cNvPr id="17" name="TextBox 16"/>
          <p:cNvSpPr txBox="1"/>
          <p:nvPr/>
        </p:nvSpPr>
        <p:spPr>
          <a:xfrm>
            <a:off x="7909560" y="1763342"/>
            <a:ext cx="4133794" cy="880241"/>
          </a:xfrm>
          <a:prstGeom prst="rect">
            <a:avLst/>
          </a:prstGeom>
          <a:noFill/>
        </p:spPr>
        <p:txBody>
          <a:bodyPr wrap="square" rtlCol="0">
            <a:spAutoFit/>
          </a:bodyPr>
          <a:lstStyle/>
          <a:p>
            <a:r>
              <a:rPr lang="en-US" sz="1280" dirty="0">
                <a:solidFill>
                  <a:schemeClr val="bg1"/>
                </a:solidFill>
              </a:rPr>
              <a:t>Total payload mass transported by boosters for NASA (CRS) missions </a:t>
            </a:r>
            <a:endParaRPr lang="fr-FR" sz="1280" dirty="0">
              <a:solidFill>
                <a:schemeClr val="bg1"/>
              </a:solidFill>
            </a:endParaRPr>
          </a:p>
          <a:p>
            <a:r>
              <a:rPr lang="en-US" sz="1280" dirty="0">
                <a:solidFill>
                  <a:schemeClr val="bg1"/>
                </a:solidFill>
              </a:rPr>
              <a:t/>
            </a:r>
            <a:br>
              <a:rPr lang="en-US" sz="1280" dirty="0">
                <a:solidFill>
                  <a:schemeClr val="bg1"/>
                </a:solidFill>
              </a:rPr>
            </a:br>
            <a:endParaRPr lang="en-US" sz="1280" dirty="0">
              <a:solidFill>
                <a:schemeClr val="bg1"/>
              </a:solidFill>
            </a:endParaRPr>
          </a:p>
        </p:txBody>
      </p:sp>
      <p:pic>
        <p:nvPicPr>
          <p:cNvPr id="7" name="Picture 6"/>
          <p:cNvPicPr>
            <a:picLocks noChangeAspect="1"/>
          </p:cNvPicPr>
          <p:nvPr/>
        </p:nvPicPr>
        <p:blipFill>
          <a:blip r:embed="rId4"/>
          <a:stretch>
            <a:fillRect/>
          </a:stretch>
        </p:blipFill>
        <p:spPr>
          <a:xfrm>
            <a:off x="4138842" y="1666459"/>
            <a:ext cx="1336902" cy="1393792"/>
          </a:xfrm>
          <a:prstGeom prst="rect">
            <a:avLst/>
          </a:prstGeom>
        </p:spPr>
      </p:pic>
      <p:pic>
        <p:nvPicPr>
          <p:cNvPr id="8" name="Picture 7"/>
          <p:cNvPicPr>
            <a:picLocks noChangeAspect="1"/>
          </p:cNvPicPr>
          <p:nvPr/>
        </p:nvPicPr>
        <p:blipFill rotWithShape="1">
          <a:blip r:embed="rId5"/>
          <a:srcRect l="13732" t="27513" r="32674" b="60344"/>
          <a:stretch/>
        </p:blipFill>
        <p:spPr>
          <a:xfrm>
            <a:off x="7909560" y="2594610"/>
            <a:ext cx="2781300" cy="617220"/>
          </a:xfrm>
          <a:prstGeom prst="rect">
            <a:avLst/>
          </a:prstGeom>
        </p:spPr>
      </p:pic>
      <p:pic>
        <p:nvPicPr>
          <p:cNvPr id="19" name="Picture 18"/>
          <p:cNvPicPr>
            <a:picLocks noChangeAspect="1"/>
          </p:cNvPicPr>
          <p:nvPr/>
        </p:nvPicPr>
        <p:blipFill rotWithShape="1">
          <a:blip r:embed="rId6"/>
          <a:srcRect l="13865" t="49048" r="14980" b="35995"/>
          <a:stretch/>
        </p:blipFill>
        <p:spPr>
          <a:xfrm>
            <a:off x="7909560" y="4782034"/>
            <a:ext cx="3444240" cy="853440"/>
          </a:xfrm>
          <a:prstGeom prst="rect">
            <a:avLst/>
          </a:prstGeom>
        </p:spPr>
      </p:pic>
    </p:spTree>
    <p:extLst>
      <p:ext uri="{BB962C8B-B14F-4D97-AF65-F5344CB8AC3E}">
        <p14:creationId xmlns:p14="http://schemas.microsoft.com/office/powerpoint/2010/main" val="200613796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1553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i="0" u="none" dirty="0" smtClean="0">
                <a:solidFill>
                  <a:srgbClr val="FFFFFF"/>
                </a:solidFill>
                <a:latin typeface="Orbitron"/>
              </a:rPr>
              <a:t>EDA </a:t>
            </a:r>
            <a:r>
              <a:rPr lang="fr-FR" sz="3900" b="1" i="0" u="none" dirty="0" err="1" smtClean="0">
                <a:solidFill>
                  <a:srgbClr val="FFFFFF"/>
                </a:solidFill>
                <a:latin typeface="Orbitron"/>
              </a:rPr>
              <a:t>with</a:t>
            </a:r>
            <a:r>
              <a:rPr lang="fr-FR" sz="3900" b="1" i="0" u="none" dirty="0" smtClean="0">
                <a:solidFill>
                  <a:srgbClr val="FFFFFF"/>
                </a:solidFill>
                <a:latin typeface="Orbitron"/>
              </a:rPr>
              <a:t> SQL</a:t>
            </a:r>
            <a:endParaRPr sz="3900" b="1" i="0" u="none" dirty="0">
              <a:solidFill>
                <a:srgbClr val="FFFFFF"/>
              </a:solidFill>
              <a:latin typeface="Orbitron"/>
            </a:endParaRPr>
          </a:p>
        </p:txBody>
      </p:sp>
      <p:sp>
        <p:nvSpPr>
          <p:cNvPr id="6" name="TextBox 5"/>
          <p:cNvSpPr txBox="1"/>
          <p:nvPr/>
        </p:nvSpPr>
        <p:spPr>
          <a:xfrm>
            <a:off x="724266" y="1932884"/>
            <a:ext cx="2834399" cy="880241"/>
          </a:xfrm>
          <a:prstGeom prst="rect">
            <a:avLst/>
          </a:prstGeom>
          <a:noFill/>
        </p:spPr>
        <p:txBody>
          <a:bodyPr wrap="square" rtlCol="0">
            <a:spAutoFit/>
          </a:bodyPr>
          <a:lstStyle/>
          <a:p>
            <a:r>
              <a:rPr lang="en-US" sz="1280" dirty="0" smtClean="0">
                <a:solidFill>
                  <a:schemeClr val="bg1"/>
                </a:solidFill>
              </a:rPr>
              <a:t>Retrieving </a:t>
            </a:r>
            <a:r>
              <a:rPr lang="en-US" sz="1280" dirty="0">
                <a:solidFill>
                  <a:schemeClr val="bg1"/>
                </a:solidFill>
              </a:rPr>
              <a:t>the names of all unique launch sites involved in the </a:t>
            </a:r>
            <a:r>
              <a:rPr lang="en-US" sz="1280" dirty="0" err="1">
                <a:solidFill>
                  <a:schemeClr val="bg1"/>
                </a:solidFill>
              </a:rPr>
              <a:t>SpaceX</a:t>
            </a:r>
            <a:r>
              <a:rPr lang="en-US" sz="1280" dirty="0">
                <a:solidFill>
                  <a:schemeClr val="bg1"/>
                </a:solidFill>
              </a:rPr>
              <a:t> missions to understand how many different sites were used</a:t>
            </a:r>
          </a:p>
        </p:txBody>
      </p:sp>
      <p:sp>
        <p:nvSpPr>
          <p:cNvPr id="13" name="TextBox 12"/>
          <p:cNvSpPr txBox="1"/>
          <p:nvPr/>
        </p:nvSpPr>
        <p:spPr>
          <a:xfrm>
            <a:off x="733167" y="3718626"/>
            <a:ext cx="4395026" cy="486287"/>
          </a:xfrm>
          <a:prstGeom prst="rect">
            <a:avLst/>
          </a:prstGeom>
          <a:noFill/>
        </p:spPr>
        <p:txBody>
          <a:bodyPr wrap="square" rtlCol="0">
            <a:spAutoFit/>
          </a:bodyPr>
          <a:lstStyle/>
          <a:p>
            <a:r>
              <a:rPr lang="en-US" sz="1280" dirty="0" smtClean="0">
                <a:solidFill>
                  <a:schemeClr val="bg1"/>
                </a:solidFill>
              </a:rPr>
              <a:t>Filtering the </a:t>
            </a:r>
            <a:r>
              <a:rPr lang="en-US" sz="1280" dirty="0">
                <a:solidFill>
                  <a:schemeClr val="bg1"/>
                </a:solidFill>
              </a:rPr>
              <a:t>data to show only those launch sites that begin with 'CCA' revealing 5 specific records matching this condition</a:t>
            </a:r>
          </a:p>
        </p:txBody>
      </p:sp>
      <p:pic>
        <p:nvPicPr>
          <p:cNvPr id="14" name="Picture 1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1973" y="4782034"/>
            <a:ext cx="5111647" cy="1388501"/>
          </a:xfrm>
          <a:prstGeom prst="rect">
            <a:avLst/>
          </a:prstGeom>
        </p:spPr>
      </p:pic>
      <p:sp>
        <p:nvSpPr>
          <p:cNvPr id="16" name="TextBox 15"/>
          <p:cNvSpPr txBox="1"/>
          <p:nvPr/>
        </p:nvSpPr>
        <p:spPr>
          <a:xfrm>
            <a:off x="7909560" y="4130458"/>
            <a:ext cx="4318923" cy="486287"/>
          </a:xfrm>
          <a:prstGeom prst="rect">
            <a:avLst/>
          </a:prstGeom>
          <a:noFill/>
        </p:spPr>
        <p:txBody>
          <a:bodyPr wrap="square" rtlCol="0">
            <a:spAutoFit/>
          </a:bodyPr>
          <a:lstStyle/>
          <a:p>
            <a:r>
              <a:rPr lang="en-US" sz="1280" dirty="0">
                <a:solidFill>
                  <a:schemeClr val="bg1"/>
                </a:solidFill>
              </a:rPr>
              <a:t>• </a:t>
            </a:r>
            <a:r>
              <a:rPr lang="en-US" sz="1280" dirty="0" err="1">
                <a:solidFill>
                  <a:schemeClr val="bg1"/>
                </a:solidFill>
              </a:rPr>
              <a:t>Theaverage</a:t>
            </a:r>
            <a:r>
              <a:rPr lang="en-US" sz="1280" dirty="0">
                <a:solidFill>
                  <a:schemeClr val="bg1"/>
                </a:solidFill>
              </a:rPr>
              <a:t> payload mass carried by booster version F9 v1.1 </a:t>
            </a:r>
            <a:br>
              <a:rPr lang="en-US" sz="1280" dirty="0">
                <a:solidFill>
                  <a:schemeClr val="bg1"/>
                </a:solidFill>
              </a:rPr>
            </a:br>
            <a:endParaRPr lang="en-US" sz="1280" dirty="0">
              <a:solidFill>
                <a:schemeClr val="bg1"/>
              </a:solidFill>
            </a:endParaRPr>
          </a:p>
        </p:txBody>
      </p:sp>
      <p:sp>
        <p:nvSpPr>
          <p:cNvPr id="17" name="TextBox 16"/>
          <p:cNvSpPr txBox="1"/>
          <p:nvPr/>
        </p:nvSpPr>
        <p:spPr>
          <a:xfrm>
            <a:off x="7909560" y="1763342"/>
            <a:ext cx="4133794" cy="880241"/>
          </a:xfrm>
          <a:prstGeom prst="rect">
            <a:avLst/>
          </a:prstGeom>
          <a:noFill/>
        </p:spPr>
        <p:txBody>
          <a:bodyPr wrap="square" rtlCol="0">
            <a:spAutoFit/>
          </a:bodyPr>
          <a:lstStyle/>
          <a:p>
            <a:r>
              <a:rPr lang="en-US" sz="1280" dirty="0">
                <a:solidFill>
                  <a:schemeClr val="bg1"/>
                </a:solidFill>
              </a:rPr>
              <a:t>Total payload mass transported by boosters for NASA (CRS) missions </a:t>
            </a:r>
            <a:endParaRPr lang="fr-FR" sz="1280" dirty="0">
              <a:solidFill>
                <a:schemeClr val="bg1"/>
              </a:solidFill>
            </a:endParaRPr>
          </a:p>
          <a:p>
            <a:r>
              <a:rPr lang="en-US" sz="1280" dirty="0">
                <a:solidFill>
                  <a:schemeClr val="bg1"/>
                </a:solidFill>
              </a:rPr>
              <a:t/>
            </a:r>
            <a:br>
              <a:rPr lang="en-US" sz="1280" dirty="0">
                <a:solidFill>
                  <a:schemeClr val="bg1"/>
                </a:solidFill>
              </a:rPr>
            </a:br>
            <a:endParaRPr lang="en-US" sz="1280" dirty="0">
              <a:solidFill>
                <a:schemeClr val="bg1"/>
              </a:solidFill>
            </a:endParaRPr>
          </a:p>
        </p:txBody>
      </p:sp>
      <p:pic>
        <p:nvPicPr>
          <p:cNvPr id="7" name="Picture 6"/>
          <p:cNvPicPr>
            <a:picLocks noChangeAspect="1"/>
          </p:cNvPicPr>
          <p:nvPr/>
        </p:nvPicPr>
        <p:blipFill>
          <a:blip r:embed="rId4"/>
          <a:stretch>
            <a:fillRect/>
          </a:stretch>
        </p:blipFill>
        <p:spPr>
          <a:xfrm>
            <a:off x="4138842" y="1666459"/>
            <a:ext cx="1336902" cy="1393792"/>
          </a:xfrm>
          <a:prstGeom prst="rect">
            <a:avLst/>
          </a:prstGeom>
        </p:spPr>
      </p:pic>
      <p:pic>
        <p:nvPicPr>
          <p:cNvPr id="8" name="Picture 7"/>
          <p:cNvPicPr>
            <a:picLocks noChangeAspect="1"/>
          </p:cNvPicPr>
          <p:nvPr/>
        </p:nvPicPr>
        <p:blipFill rotWithShape="1">
          <a:blip r:embed="rId5"/>
          <a:srcRect l="13732" t="27513" r="32674" b="60344"/>
          <a:stretch/>
        </p:blipFill>
        <p:spPr>
          <a:xfrm>
            <a:off x="7909560" y="2594610"/>
            <a:ext cx="2781300" cy="617220"/>
          </a:xfrm>
          <a:prstGeom prst="rect">
            <a:avLst/>
          </a:prstGeom>
        </p:spPr>
      </p:pic>
      <p:pic>
        <p:nvPicPr>
          <p:cNvPr id="19" name="Picture 18"/>
          <p:cNvPicPr>
            <a:picLocks noChangeAspect="1"/>
          </p:cNvPicPr>
          <p:nvPr/>
        </p:nvPicPr>
        <p:blipFill rotWithShape="1">
          <a:blip r:embed="rId6"/>
          <a:srcRect l="13865" t="49048" r="14980" b="35995"/>
          <a:stretch/>
        </p:blipFill>
        <p:spPr>
          <a:xfrm>
            <a:off x="7909560" y="4782034"/>
            <a:ext cx="3444240" cy="853440"/>
          </a:xfrm>
          <a:prstGeom prst="rect">
            <a:avLst/>
          </a:prstGeom>
        </p:spPr>
      </p:pic>
    </p:spTree>
    <p:extLst>
      <p:ext uri="{BB962C8B-B14F-4D97-AF65-F5344CB8AC3E}">
        <p14:creationId xmlns:p14="http://schemas.microsoft.com/office/powerpoint/2010/main" val="13644930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3839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i="0" u="none" dirty="0" smtClean="0">
                <a:solidFill>
                  <a:srgbClr val="FFFFFF"/>
                </a:solidFill>
                <a:latin typeface="Orbitron"/>
              </a:rPr>
              <a:t>EDA </a:t>
            </a:r>
            <a:r>
              <a:rPr lang="fr-FR" sz="3900" b="1" i="0" u="none" dirty="0" err="1" smtClean="0">
                <a:solidFill>
                  <a:srgbClr val="FFFFFF"/>
                </a:solidFill>
                <a:latin typeface="Orbitron"/>
              </a:rPr>
              <a:t>with</a:t>
            </a:r>
            <a:r>
              <a:rPr lang="fr-FR" sz="3900" b="1" i="0" u="none" dirty="0" smtClean="0">
                <a:solidFill>
                  <a:srgbClr val="FFFFFF"/>
                </a:solidFill>
                <a:latin typeface="Orbitron"/>
              </a:rPr>
              <a:t> SQL</a:t>
            </a:r>
            <a:endParaRPr sz="3900" b="1" i="0" u="none" dirty="0">
              <a:solidFill>
                <a:srgbClr val="FFFFFF"/>
              </a:solidFill>
              <a:latin typeface="Orbitron"/>
            </a:endParaRPr>
          </a:p>
        </p:txBody>
      </p:sp>
      <p:sp>
        <p:nvSpPr>
          <p:cNvPr id="6" name="TextBox 5"/>
          <p:cNvSpPr txBox="1"/>
          <p:nvPr/>
        </p:nvSpPr>
        <p:spPr>
          <a:xfrm>
            <a:off x="6232673" y="1874008"/>
            <a:ext cx="2834399" cy="486287"/>
          </a:xfrm>
          <a:prstGeom prst="rect">
            <a:avLst/>
          </a:prstGeom>
          <a:noFill/>
        </p:spPr>
        <p:txBody>
          <a:bodyPr wrap="square" rtlCol="0">
            <a:spAutoFit/>
          </a:bodyPr>
          <a:lstStyle/>
          <a:p>
            <a:r>
              <a:rPr lang="en-US" sz="1280" dirty="0">
                <a:solidFill>
                  <a:schemeClr val="bg1"/>
                </a:solidFill>
              </a:rPr>
              <a:t>• The total number of successful and failure mission outcomes</a:t>
            </a:r>
          </a:p>
        </p:txBody>
      </p:sp>
      <p:sp>
        <p:nvSpPr>
          <p:cNvPr id="13" name="TextBox 12"/>
          <p:cNvSpPr txBox="1"/>
          <p:nvPr/>
        </p:nvSpPr>
        <p:spPr>
          <a:xfrm>
            <a:off x="579635" y="3708586"/>
            <a:ext cx="3896367" cy="683264"/>
          </a:xfrm>
          <a:prstGeom prst="rect">
            <a:avLst/>
          </a:prstGeom>
          <a:noFill/>
        </p:spPr>
        <p:txBody>
          <a:bodyPr wrap="square" rtlCol="0">
            <a:spAutoFit/>
          </a:bodyPr>
          <a:lstStyle/>
          <a:p>
            <a:r>
              <a:rPr lang="en-US" sz="1280" dirty="0">
                <a:solidFill>
                  <a:schemeClr val="bg1"/>
                </a:solidFill>
              </a:rPr>
              <a:t>• The names of the boosters which have success in drone ship and have payload mass greater than 4000 but less than 6000</a:t>
            </a:r>
          </a:p>
        </p:txBody>
      </p:sp>
      <p:sp>
        <p:nvSpPr>
          <p:cNvPr id="20" name="TextBox 19"/>
          <p:cNvSpPr txBox="1"/>
          <p:nvPr/>
        </p:nvSpPr>
        <p:spPr>
          <a:xfrm>
            <a:off x="675798" y="1801318"/>
            <a:ext cx="3516095" cy="486287"/>
          </a:xfrm>
          <a:prstGeom prst="rect">
            <a:avLst/>
          </a:prstGeom>
          <a:noFill/>
        </p:spPr>
        <p:txBody>
          <a:bodyPr wrap="square" rtlCol="0">
            <a:spAutoFit/>
          </a:bodyPr>
          <a:lstStyle/>
          <a:p>
            <a:r>
              <a:rPr lang="en-US" sz="1280" dirty="0">
                <a:solidFill>
                  <a:schemeClr val="bg1"/>
                </a:solidFill>
              </a:rPr>
              <a:t>• </a:t>
            </a:r>
            <a:r>
              <a:rPr lang="en-US" sz="1280" dirty="0" err="1">
                <a:solidFill>
                  <a:schemeClr val="bg1"/>
                </a:solidFill>
              </a:rPr>
              <a:t>Thedate</a:t>
            </a:r>
            <a:r>
              <a:rPr lang="en-US" sz="1280" dirty="0">
                <a:solidFill>
                  <a:schemeClr val="bg1"/>
                </a:solidFill>
              </a:rPr>
              <a:t> </a:t>
            </a:r>
            <a:r>
              <a:rPr lang="en-US" sz="1280" dirty="0" err="1">
                <a:solidFill>
                  <a:schemeClr val="bg1"/>
                </a:solidFill>
              </a:rPr>
              <a:t>whenthe</a:t>
            </a:r>
            <a:r>
              <a:rPr lang="en-US" sz="1280" dirty="0">
                <a:solidFill>
                  <a:schemeClr val="bg1"/>
                </a:solidFill>
              </a:rPr>
              <a:t> first successful landing outcome in ground pad was achieved</a:t>
            </a:r>
          </a:p>
        </p:txBody>
      </p:sp>
      <p:sp>
        <p:nvSpPr>
          <p:cNvPr id="21" name="TextBox 20"/>
          <p:cNvSpPr txBox="1"/>
          <p:nvPr/>
        </p:nvSpPr>
        <p:spPr>
          <a:xfrm>
            <a:off x="6016395" y="4641043"/>
            <a:ext cx="3297925" cy="486287"/>
          </a:xfrm>
          <a:prstGeom prst="rect">
            <a:avLst/>
          </a:prstGeom>
          <a:noFill/>
        </p:spPr>
        <p:txBody>
          <a:bodyPr wrap="square" rtlCol="0">
            <a:spAutoFit/>
          </a:bodyPr>
          <a:lstStyle/>
          <a:p>
            <a:r>
              <a:rPr lang="en-US" sz="1280" dirty="0">
                <a:solidFill>
                  <a:schemeClr val="bg1"/>
                </a:solidFill>
              </a:rPr>
              <a:t>The names of the booster versions which have carried the maximum payload mass </a:t>
            </a:r>
          </a:p>
        </p:txBody>
      </p:sp>
      <p:pic>
        <p:nvPicPr>
          <p:cNvPr id="5" name="Picture 4"/>
          <p:cNvPicPr>
            <a:picLocks noChangeAspect="1"/>
          </p:cNvPicPr>
          <p:nvPr/>
        </p:nvPicPr>
        <p:blipFill rotWithShape="1">
          <a:blip r:embed="rId3"/>
          <a:srcRect l="16545" t="70289" r="6513" b="13454"/>
          <a:stretch/>
        </p:blipFill>
        <p:spPr>
          <a:xfrm>
            <a:off x="764830" y="2526947"/>
            <a:ext cx="2778162" cy="574933"/>
          </a:xfrm>
          <a:prstGeom prst="rect">
            <a:avLst/>
          </a:prstGeom>
        </p:spPr>
      </p:pic>
      <p:pic>
        <p:nvPicPr>
          <p:cNvPr id="12" name="Picture 11"/>
          <p:cNvPicPr>
            <a:picLocks noChangeAspect="1"/>
          </p:cNvPicPr>
          <p:nvPr/>
        </p:nvPicPr>
        <p:blipFill rotWithShape="1">
          <a:blip r:embed="rId4"/>
          <a:srcRect l="17460" t="8966" r="50339" b="75924"/>
          <a:stretch/>
        </p:blipFill>
        <p:spPr>
          <a:xfrm>
            <a:off x="1117083" y="4634088"/>
            <a:ext cx="1427998" cy="1533217"/>
          </a:xfrm>
          <a:prstGeom prst="rect">
            <a:avLst/>
          </a:prstGeom>
        </p:spPr>
      </p:pic>
      <p:pic>
        <p:nvPicPr>
          <p:cNvPr id="14" name="Picture 13"/>
          <p:cNvPicPr>
            <a:picLocks noChangeAspect="1"/>
          </p:cNvPicPr>
          <p:nvPr/>
        </p:nvPicPr>
        <p:blipFill rotWithShape="1">
          <a:blip r:embed="rId5"/>
          <a:srcRect l="10311" t="32477" r="40419" b="31086"/>
          <a:stretch/>
        </p:blipFill>
        <p:spPr>
          <a:xfrm>
            <a:off x="6232673" y="2542222"/>
            <a:ext cx="3393441" cy="579120"/>
          </a:xfrm>
          <a:prstGeom prst="rect">
            <a:avLst/>
          </a:prstGeom>
        </p:spPr>
      </p:pic>
      <p:pic>
        <p:nvPicPr>
          <p:cNvPr id="15" name="Picture 14"/>
          <p:cNvPicPr>
            <a:picLocks noChangeAspect="1"/>
          </p:cNvPicPr>
          <p:nvPr/>
        </p:nvPicPr>
        <p:blipFill rotWithShape="1">
          <a:blip r:embed="rId6"/>
          <a:srcRect l="23695" t="5499" r="38341"/>
          <a:stretch/>
        </p:blipFill>
        <p:spPr>
          <a:xfrm>
            <a:off x="9379964" y="3750317"/>
            <a:ext cx="1290321" cy="2642991"/>
          </a:xfrm>
          <a:prstGeom prst="rect">
            <a:avLst/>
          </a:prstGeom>
        </p:spPr>
      </p:pic>
    </p:spTree>
    <p:extLst>
      <p:ext uri="{BB962C8B-B14F-4D97-AF65-F5344CB8AC3E}">
        <p14:creationId xmlns:p14="http://schemas.microsoft.com/office/powerpoint/2010/main" val="159273844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1553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i="0" u="none" dirty="0" smtClean="0">
                <a:solidFill>
                  <a:srgbClr val="FFFFFF"/>
                </a:solidFill>
                <a:latin typeface="Orbitron"/>
              </a:rPr>
              <a:t>EDA </a:t>
            </a:r>
            <a:r>
              <a:rPr lang="fr-FR" sz="3900" b="1" i="0" u="none" dirty="0" err="1" smtClean="0">
                <a:solidFill>
                  <a:srgbClr val="FFFFFF"/>
                </a:solidFill>
                <a:latin typeface="Orbitron"/>
              </a:rPr>
              <a:t>with</a:t>
            </a:r>
            <a:r>
              <a:rPr lang="fr-FR" sz="3900" b="1" i="0" u="none" dirty="0" smtClean="0">
                <a:solidFill>
                  <a:srgbClr val="FFFFFF"/>
                </a:solidFill>
                <a:latin typeface="Orbitron"/>
              </a:rPr>
              <a:t> SQL</a:t>
            </a:r>
            <a:endParaRPr sz="3900" b="1" i="0" u="none" dirty="0">
              <a:solidFill>
                <a:srgbClr val="FFFFFF"/>
              </a:solidFill>
              <a:latin typeface="Orbitron"/>
            </a:endParaRPr>
          </a:p>
        </p:txBody>
      </p:sp>
      <p:sp>
        <p:nvSpPr>
          <p:cNvPr id="20" name="TextBox 19"/>
          <p:cNvSpPr txBox="1"/>
          <p:nvPr/>
        </p:nvSpPr>
        <p:spPr>
          <a:xfrm>
            <a:off x="675798" y="1801318"/>
            <a:ext cx="3986009" cy="486287"/>
          </a:xfrm>
          <a:prstGeom prst="rect">
            <a:avLst/>
          </a:prstGeom>
          <a:noFill/>
        </p:spPr>
        <p:txBody>
          <a:bodyPr wrap="square" rtlCol="0">
            <a:spAutoFit/>
          </a:bodyPr>
          <a:lstStyle/>
          <a:p>
            <a:r>
              <a:rPr lang="en-US" sz="1280" dirty="0">
                <a:solidFill>
                  <a:schemeClr val="bg1"/>
                </a:solidFill>
              </a:rPr>
              <a:t>The failed landing outcomes in drone ship, their booster versions, and launch site names for in year 2015</a:t>
            </a:r>
          </a:p>
        </p:txBody>
      </p:sp>
      <p:pic>
        <p:nvPicPr>
          <p:cNvPr id="5" name="Picture 4"/>
          <p:cNvPicPr>
            <a:picLocks noChangeAspect="1"/>
          </p:cNvPicPr>
          <p:nvPr/>
        </p:nvPicPr>
        <p:blipFill rotWithShape="1">
          <a:blip r:embed="rId3">
            <a:extLst>
              <a:ext uri="{28A0092B-C50C-407E-A947-70E740481C1C}">
                <a14:useLocalDpi xmlns:a14="http://schemas.microsoft.com/office/drawing/2010/main" val="0"/>
              </a:ext>
            </a:extLst>
          </a:blip>
          <a:srcRect b="77729"/>
          <a:stretch/>
        </p:blipFill>
        <p:spPr>
          <a:xfrm>
            <a:off x="675798" y="2505082"/>
            <a:ext cx="3833192" cy="979202"/>
          </a:xfrm>
          <a:prstGeom prst="rect">
            <a:avLst/>
          </a:prstGeom>
        </p:spPr>
      </p:pic>
      <p:sp>
        <p:nvSpPr>
          <p:cNvPr id="15" name="TextBox 14"/>
          <p:cNvSpPr txBox="1"/>
          <p:nvPr/>
        </p:nvSpPr>
        <p:spPr>
          <a:xfrm>
            <a:off x="6800849" y="1763740"/>
            <a:ext cx="3665765" cy="486287"/>
          </a:xfrm>
          <a:prstGeom prst="rect">
            <a:avLst/>
          </a:prstGeom>
          <a:noFill/>
        </p:spPr>
        <p:txBody>
          <a:bodyPr wrap="square" rtlCol="0">
            <a:spAutoFit/>
          </a:bodyPr>
          <a:lstStyle/>
          <a:p>
            <a:r>
              <a:rPr lang="en-US" sz="1280" dirty="0">
                <a:solidFill>
                  <a:schemeClr val="bg1"/>
                </a:solidFill>
              </a:rPr>
              <a:t>The count of landing outcomes between the date 2010-06-04 and 2017-03-20, in descending order</a:t>
            </a:r>
          </a:p>
        </p:txBody>
      </p:sp>
      <p:pic>
        <p:nvPicPr>
          <p:cNvPr id="6" name="Picture 5"/>
          <p:cNvPicPr>
            <a:picLocks noChangeAspect="1"/>
          </p:cNvPicPr>
          <p:nvPr/>
        </p:nvPicPr>
        <p:blipFill>
          <a:blip r:embed="rId4"/>
          <a:stretch>
            <a:fillRect/>
          </a:stretch>
        </p:blipFill>
        <p:spPr>
          <a:xfrm>
            <a:off x="7397452" y="2875399"/>
            <a:ext cx="2472558" cy="2454855"/>
          </a:xfrm>
          <a:prstGeom prst="rect">
            <a:avLst/>
          </a:prstGeom>
        </p:spPr>
      </p:pic>
    </p:spTree>
    <p:extLst>
      <p:ext uri="{BB962C8B-B14F-4D97-AF65-F5344CB8AC3E}">
        <p14:creationId xmlns:p14="http://schemas.microsoft.com/office/powerpoint/2010/main" val="59866472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dirty="0" smtClean="0">
                <a:solidFill>
                  <a:srgbClr val="FFFFFF"/>
                </a:solidFill>
                <a:latin typeface="Orbitron"/>
              </a:rPr>
              <a:t>EDA </a:t>
            </a:r>
            <a:r>
              <a:rPr lang="fr-FR" sz="3900" b="1" dirty="0" err="1" smtClean="0">
                <a:solidFill>
                  <a:srgbClr val="FFFFFF"/>
                </a:solidFill>
                <a:latin typeface="Orbitron"/>
              </a:rPr>
              <a:t>with</a:t>
            </a:r>
            <a:r>
              <a:rPr lang="fr-FR" sz="3900" b="1" dirty="0" smtClean="0">
                <a:solidFill>
                  <a:srgbClr val="FFFFFF"/>
                </a:solidFill>
                <a:latin typeface="Orbitron"/>
              </a:rPr>
              <a:t> Data </a:t>
            </a:r>
            <a:r>
              <a:rPr lang="fr-FR" sz="3900" b="1" dirty="0" err="1" smtClean="0">
                <a:solidFill>
                  <a:srgbClr val="FFFFFF"/>
                </a:solidFill>
                <a:latin typeface="Orbitron"/>
              </a:rPr>
              <a:t>Visualization</a:t>
            </a:r>
            <a:endParaRPr sz="3900" b="1" i="0" u="none" dirty="0">
              <a:solidFill>
                <a:srgbClr val="FFFFFF"/>
              </a:solidFill>
              <a:latin typeface="Orbitron"/>
            </a:endParaRPr>
          </a:p>
        </p:txBody>
      </p:sp>
      <p:sp>
        <p:nvSpPr>
          <p:cNvPr id="9" name="TextBox 8"/>
          <p:cNvSpPr txBox="1"/>
          <p:nvPr/>
        </p:nvSpPr>
        <p:spPr>
          <a:xfrm>
            <a:off x="360897" y="1862433"/>
            <a:ext cx="11195886" cy="1575816"/>
          </a:xfrm>
          <a:prstGeom prst="rect">
            <a:avLst/>
          </a:prstGeom>
          <a:noFill/>
        </p:spPr>
        <p:txBody>
          <a:bodyPr wrap="square" lIns="0" tIns="0" rIns="0" bIns="0" anchor="t">
            <a:spAutoFit/>
          </a:bodyPr>
          <a:lstStyle/>
          <a:p>
            <a:r>
              <a:rPr lang="fr-FR" sz="1280" b="1" dirty="0" smtClean="0">
                <a:solidFill>
                  <a:schemeClr val="bg1"/>
                </a:solidFill>
              </a:rPr>
              <a:t>S</a:t>
            </a:r>
            <a:r>
              <a:rPr lang="en-US" sz="1280" b="1" dirty="0" err="1" smtClean="0">
                <a:solidFill>
                  <a:schemeClr val="bg1"/>
                </a:solidFill>
              </a:rPr>
              <a:t>mploy</a:t>
            </a:r>
            <a:r>
              <a:rPr lang="en-US" sz="1280" b="1" dirty="0" smtClean="0">
                <a:solidFill>
                  <a:schemeClr val="bg1"/>
                </a:solidFill>
              </a:rPr>
              <a:t> </a:t>
            </a:r>
            <a:r>
              <a:rPr lang="en-US" sz="1280" b="1" dirty="0">
                <a:solidFill>
                  <a:schemeClr val="bg1"/>
                </a:solidFill>
              </a:rPr>
              <a:t>data visualization techniques to evaluate the contribution of individual features and their impact on target outcomes.</a:t>
            </a:r>
            <a:r>
              <a:rPr lang="fr-FR" sz="1280" b="1" dirty="0" smtClean="0">
                <a:solidFill>
                  <a:schemeClr val="bg1"/>
                </a:solidFill>
              </a:rPr>
              <a:t>:</a:t>
            </a:r>
          </a:p>
          <a:p>
            <a:endParaRPr lang="en-US" sz="1280" dirty="0">
              <a:solidFill>
                <a:schemeClr val="bg1"/>
              </a:solidFill>
            </a:endParaRPr>
          </a:p>
          <a:p>
            <a:pPr marL="285750" indent="-285750">
              <a:buFont typeface="Arial" panose="020B0604020202020204" pitchFamily="34" charset="0"/>
              <a:buChar char="•"/>
            </a:pPr>
            <a:r>
              <a:rPr lang="en-US" sz="1280" dirty="0">
                <a:solidFill>
                  <a:schemeClr val="bg1"/>
                </a:solidFill>
              </a:rPr>
              <a:t>Visualize the relationship between Flight Number and Launch Site</a:t>
            </a:r>
          </a:p>
          <a:p>
            <a:pPr marL="285750" indent="-285750">
              <a:buFont typeface="Arial" panose="020B0604020202020204" pitchFamily="34" charset="0"/>
              <a:buChar char="•"/>
            </a:pPr>
            <a:r>
              <a:rPr lang="en-US" sz="1280" dirty="0" smtClean="0">
                <a:solidFill>
                  <a:schemeClr val="bg1"/>
                </a:solidFill>
              </a:rPr>
              <a:t>Visualize </a:t>
            </a:r>
            <a:r>
              <a:rPr lang="en-US" sz="1280" dirty="0">
                <a:solidFill>
                  <a:schemeClr val="bg1"/>
                </a:solidFill>
              </a:rPr>
              <a:t>the relationship between Payload and Launch </a:t>
            </a:r>
            <a:r>
              <a:rPr lang="en-US" sz="1280" dirty="0" smtClean="0">
                <a:solidFill>
                  <a:schemeClr val="bg1"/>
                </a:solidFill>
              </a:rPr>
              <a:t>Site</a:t>
            </a:r>
          </a:p>
          <a:p>
            <a:pPr marL="285750" indent="-285750">
              <a:buFont typeface="Arial" panose="020B0604020202020204" pitchFamily="34" charset="0"/>
              <a:buChar char="•"/>
            </a:pPr>
            <a:r>
              <a:rPr lang="en-US" sz="1280" dirty="0" smtClean="0">
                <a:solidFill>
                  <a:schemeClr val="bg1"/>
                </a:solidFill>
              </a:rPr>
              <a:t>Visualize the relationship between success rate of each orbit type</a:t>
            </a:r>
          </a:p>
          <a:p>
            <a:pPr marL="285750" indent="-285750">
              <a:buFont typeface="Arial" panose="020B0604020202020204" pitchFamily="34" charset="0"/>
              <a:buChar char="•"/>
            </a:pPr>
            <a:r>
              <a:rPr lang="en-US" sz="1280" dirty="0">
                <a:solidFill>
                  <a:schemeClr val="bg1"/>
                </a:solidFill>
              </a:rPr>
              <a:t>Visualize the relationship between </a:t>
            </a:r>
            <a:r>
              <a:rPr lang="en-US" sz="1280" dirty="0" err="1">
                <a:solidFill>
                  <a:schemeClr val="bg1"/>
                </a:solidFill>
              </a:rPr>
              <a:t>FlightNumber</a:t>
            </a:r>
            <a:r>
              <a:rPr lang="en-US" sz="1280" dirty="0">
                <a:solidFill>
                  <a:schemeClr val="bg1"/>
                </a:solidFill>
              </a:rPr>
              <a:t> and Orbit type</a:t>
            </a:r>
            <a:endParaRPr lang="fr-FR" sz="1280" dirty="0">
              <a:solidFill>
                <a:schemeClr val="bg1"/>
              </a:solidFill>
            </a:endParaRPr>
          </a:p>
          <a:p>
            <a:pPr marL="285750" indent="-285750">
              <a:buFont typeface="Arial" panose="020B0604020202020204" pitchFamily="34" charset="0"/>
              <a:buChar char="•"/>
            </a:pPr>
            <a:r>
              <a:rPr lang="en-US" sz="1280" dirty="0">
                <a:solidFill>
                  <a:schemeClr val="bg1"/>
                </a:solidFill>
              </a:rPr>
              <a:t>Visualize the relationship between Payload and Orbit </a:t>
            </a:r>
            <a:r>
              <a:rPr lang="en-US" sz="1280" dirty="0" smtClean="0">
                <a:solidFill>
                  <a:schemeClr val="bg1"/>
                </a:solidFill>
              </a:rPr>
              <a:t>type</a:t>
            </a:r>
          </a:p>
          <a:p>
            <a:pPr marL="285750" indent="-285750">
              <a:buFont typeface="Arial" panose="020B0604020202020204" pitchFamily="34" charset="0"/>
              <a:buChar char="•"/>
            </a:pPr>
            <a:r>
              <a:rPr lang="en-US" sz="1280" dirty="0">
                <a:solidFill>
                  <a:schemeClr val="bg1"/>
                </a:solidFill>
              </a:rPr>
              <a:t>Visualize the launch success yearly </a:t>
            </a:r>
            <a:r>
              <a:rPr lang="en-US" sz="1280" dirty="0" smtClean="0">
                <a:solidFill>
                  <a:schemeClr val="bg1"/>
                </a:solidFill>
              </a:rPr>
              <a:t>trend</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0897" y="3881582"/>
            <a:ext cx="3829138" cy="2187232"/>
          </a:xfrm>
          <a:prstGeom prst="rect">
            <a:avLst/>
          </a:prstGeom>
        </p:spPr>
      </p:pic>
      <p:pic>
        <p:nvPicPr>
          <p:cNvPr id="11" name="Picture 1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113589" y="4331459"/>
            <a:ext cx="3865946" cy="2187232"/>
          </a:xfrm>
          <a:prstGeom prst="rect">
            <a:avLst/>
          </a:prstGeom>
        </p:spPr>
      </p:pic>
      <p:pic>
        <p:nvPicPr>
          <p:cNvPr id="12" name="Picture 11"/>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17585" y="3211051"/>
            <a:ext cx="3854030" cy="2847362"/>
          </a:xfrm>
          <a:prstGeom prst="rect">
            <a:avLst/>
          </a:prstGeom>
        </p:spPr>
      </p:pic>
    </p:spTree>
    <p:extLst>
      <p:ext uri="{BB962C8B-B14F-4D97-AF65-F5344CB8AC3E}">
        <p14:creationId xmlns:p14="http://schemas.microsoft.com/office/powerpoint/2010/main" val="1792965871"/>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dirty="0" smtClean="0">
                <a:solidFill>
                  <a:srgbClr val="FFFFFF"/>
                </a:solidFill>
                <a:latin typeface="Orbitron"/>
              </a:rPr>
              <a:t>EDA </a:t>
            </a:r>
            <a:r>
              <a:rPr lang="fr-FR" sz="3900" b="1" dirty="0" err="1" smtClean="0">
                <a:solidFill>
                  <a:srgbClr val="FFFFFF"/>
                </a:solidFill>
                <a:latin typeface="Orbitron"/>
              </a:rPr>
              <a:t>with</a:t>
            </a:r>
            <a:r>
              <a:rPr lang="fr-FR" sz="3900" b="1" dirty="0" smtClean="0">
                <a:solidFill>
                  <a:srgbClr val="FFFFFF"/>
                </a:solidFill>
                <a:latin typeface="Orbitron"/>
              </a:rPr>
              <a:t> Data </a:t>
            </a:r>
            <a:r>
              <a:rPr lang="fr-FR" sz="3900" b="1" dirty="0" err="1" smtClean="0">
                <a:solidFill>
                  <a:srgbClr val="FFFFFF"/>
                </a:solidFill>
                <a:latin typeface="Orbitron"/>
              </a:rPr>
              <a:t>Visualization</a:t>
            </a:r>
            <a:endParaRPr sz="3900" b="1" i="0" u="none" dirty="0">
              <a:solidFill>
                <a:srgbClr val="FFFFFF"/>
              </a:solidFill>
              <a:latin typeface="Orbitron"/>
            </a:endParaRPr>
          </a:p>
        </p:txBody>
      </p:sp>
      <p:sp>
        <p:nvSpPr>
          <p:cNvPr id="9" name="TextBox 8"/>
          <p:cNvSpPr txBox="1"/>
          <p:nvPr/>
        </p:nvSpPr>
        <p:spPr>
          <a:xfrm>
            <a:off x="360897" y="1862433"/>
            <a:ext cx="11195886" cy="196977"/>
          </a:xfrm>
          <a:prstGeom prst="rect">
            <a:avLst/>
          </a:prstGeom>
          <a:noFill/>
        </p:spPr>
        <p:txBody>
          <a:bodyPr wrap="square" lIns="0" tIns="0" rIns="0" bIns="0" anchor="t">
            <a:spAutoFit/>
          </a:bodyPr>
          <a:lstStyle/>
          <a:p>
            <a:r>
              <a:rPr lang="en-US" sz="1280" dirty="0">
                <a:solidFill>
                  <a:schemeClr val="bg1"/>
                </a:solidFill>
              </a:rPr>
              <a:t>• The relationship between flight number and launch site</a:t>
            </a:r>
            <a:endParaRPr lang="fr-FR" sz="1280" dirty="0">
              <a:solidFill>
                <a:schemeClr val="bg1"/>
              </a:solidFill>
            </a:endParaRPr>
          </a:p>
        </p:txBody>
      </p:sp>
      <p:pic>
        <p:nvPicPr>
          <p:cNvPr id="7" name="Picture 6"/>
          <p:cNvPicPr>
            <a:picLocks noChangeAspect="1"/>
          </p:cNvPicPr>
          <p:nvPr/>
        </p:nvPicPr>
        <p:blipFill rotWithShape="1">
          <a:blip r:embed="rId3"/>
          <a:srcRect l="8437" t="3066" r="2082" b="60220"/>
          <a:stretch/>
        </p:blipFill>
        <p:spPr>
          <a:xfrm>
            <a:off x="2433910" y="2459924"/>
            <a:ext cx="6545198" cy="3348712"/>
          </a:xfrm>
          <a:prstGeom prst="rect">
            <a:avLst/>
          </a:prstGeom>
        </p:spPr>
      </p:pic>
    </p:spTree>
    <p:extLst>
      <p:ext uri="{BB962C8B-B14F-4D97-AF65-F5344CB8AC3E}">
        <p14:creationId xmlns:p14="http://schemas.microsoft.com/office/powerpoint/2010/main" val="3247907210"/>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dirty="0" smtClean="0">
                <a:solidFill>
                  <a:srgbClr val="FFFFFF"/>
                </a:solidFill>
                <a:latin typeface="Orbitron"/>
              </a:rPr>
              <a:t>EDA </a:t>
            </a:r>
            <a:r>
              <a:rPr lang="fr-FR" sz="3900" b="1" dirty="0" err="1" smtClean="0">
                <a:solidFill>
                  <a:srgbClr val="FFFFFF"/>
                </a:solidFill>
                <a:latin typeface="Orbitron"/>
              </a:rPr>
              <a:t>with</a:t>
            </a:r>
            <a:r>
              <a:rPr lang="fr-FR" sz="3900" b="1" dirty="0" smtClean="0">
                <a:solidFill>
                  <a:srgbClr val="FFFFFF"/>
                </a:solidFill>
                <a:latin typeface="Orbitron"/>
              </a:rPr>
              <a:t> Data </a:t>
            </a:r>
            <a:r>
              <a:rPr lang="fr-FR" sz="3900" b="1" dirty="0" err="1" smtClean="0">
                <a:solidFill>
                  <a:srgbClr val="FFFFFF"/>
                </a:solidFill>
                <a:latin typeface="Orbitron"/>
              </a:rPr>
              <a:t>Visualization</a:t>
            </a:r>
            <a:endParaRPr sz="3900" b="1" i="0" u="none" dirty="0">
              <a:solidFill>
                <a:srgbClr val="FFFFFF"/>
              </a:solidFill>
              <a:latin typeface="Orbitron"/>
            </a:endParaRPr>
          </a:p>
        </p:txBody>
      </p:sp>
      <p:sp>
        <p:nvSpPr>
          <p:cNvPr id="9" name="TextBox 8"/>
          <p:cNvSpPr txBox="1"/>
          <p:nvPr/>
        </p:nvSpPr>
        <p:spPr>
          <a:xfrm>
            <a:off x="360897" y="1862433"/>
            <a:ext cx="11195886" cy="196977"/>
          </a:xfrm>
          <a:prstGeom prst="rect">
            <a:avLst/>
          </a:prstGeom>
          <a:noFill/>
        </p:spPr>
        <p:txBody>
          <a:bodyPr wrap="square" lIns="0" tIns="0" rIns="0" bIns="0" anchor="t">
            <a:spAutoFit/>
          </a:bodyPr>
          <a:lstStyle/>
          <a:p>
            <a:r>
              <a:rPr lang="en-US" sz="1280" dirty="0">
                <a:solidFill>
                  <a:schemeClr val="bg1"/>
                </a:solidFill>
              </a:rPr>
              <a:t>• The relationship between payload mass and launch site</a:t>
            </a:r>
            <a:endParaRPr lang="fr-FR" sz="1280" dirty="0">
              <a:solidFill>
                <a:schemeClr val="bg1"/>
              </a:solidFill>
            </a:endParaRPr>
          </a:p>
        </p:txBody>
      </p:sp>
      <p:pic>
        <p:nvPicPr>
          <p:cNvPr id="5" name="Picture 4"/>
          <p:cNvPicPr>
            <a:picLocks noChangeAspect="1"/>
          </p:cNvPicPr>
          <p:nvPr/>
        </p:nvPicPr>
        <p:blipFill>
          <a:blip r:embed="rId3"/>
          <a:stretch>
            <a:fillRect/>
          </a:stretch>
        </p:blipFill>
        <p:spPr>
          <a:xfrm>
            <a:off x="2433910" y="2459924"/>
            <a:ext cx="6344330" cy="3408522"/>
          </a:xfrm>
          <a:prstGeom prst="rect">
            <a:avLst/>
          </a:prstGeom>
        </p:spPr>
      </p:pic>
    </p:spTree>
    <p:extLst>
      <p:ext uri="{BB962C8B-B14F-4D97-AF65-F5344CB8AC3E}">
        <p14:creationId xmlns:p14="http://schemas.microsoft.com/office/powerpoint/2010/main" val="16460832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dirty="0" smtClean="0">
                <a:solidFill>
                  <a:srgbClr val="FFFFFF"/>
                </a:solidFill>
                <a:latin typeface="Orbitron"/>
              </a:rPr>
              <a:t>EDA </a:t>
            </a:r>
            <a:r>
              <a:rPr lang="fr-FR" sz="3900" b="1" dirty="0" err="1" smtClean="0">
                <a:solidFill>
                  <a:srgbClr val="FFFFFF"/>
                </a:solidFill>
                <a:latin typeface="Orbitron"/>
              </a:rPr>
              <a:t>with</a:t>
            </a:r>
            <a:r>
              <a:rPr lang="fr-FR" sz="3900" b="1" dirty="0" smtClean="0">
                <a:solidFill>
                  <a:srgbClr val="FFFFFF"/>
                </a:solidFill>
                <a:latin typeface="Orbitron"/>
              </a:rPr>
              <a:t> Data </a:t>
            </a:r>
            <a:r>
              <a:rPr lang="fr-FR" sz="3900" b="1" dirty="0" err="1" smtClean="0">
                <a:solidFill>
                  <a:srgbClr val="FFFFFF"/>
                </a:solidFill>
                <a:latin typeface="Orbitron"/>
              </a:rPr>
              <a:t>Visualization</a:t>
            </a:r>
            <a:endParaRPr sz="3900" b="1" i="0" u="none" dirty="0">
              <a:solidFill>
                <a:srgbClr val="FFFFFF"/>
              </a:solidFill>
              <a:latin typeface="Orbitron"/>
            </a:endParaRPr>
          </a:p>
        </p:txBody>
      </p:sp>
      <p:sp>
        <p:nvSpPr>
          <p:cNvPr id="9" name="TextBox 8"/>
          <p:cNvSpPr txBox="1"/>
          <p:nvPr/>
        </p:nvSpPr>
        <p:spPr>
          <a:xfrm>
            <a:off x="360897" y="1862433"/>
            <a:ext cx="11195886" cy="196977"/>
          </a:xfrm>
          <a:prstGeom prst="rect">
            <a:avLst/>
          </a:prstGeom>
          <a:noFill/>
        </p:spPr>
        <p:txBody>
          <a:bodyPr wrap="square" lIns="0" tIns="0" rIns="0" bIns="0" anchor="t">
            <a:spAutoFit/>
          </a:bodyPr>
          <a:lstStyle/>
          <a:p>
            <a:r>
              <a:rPr lang="en-US" sz="1280" dirty="0">
                <a:solidFill>
                  <a:schemeClr val="bg1"/>
                </a:solidFill>
              </a:rPr>
              <a:t>• The relationship between success rate and orbit type</a:t>
            </a:r>
            <a:endParaRPr lang="fr-FR" sz="1280" dirty="0">
              <a:solidFill>
                <a:schemeClr val="bg1"/>
              </a:solidFill>
            </a:endParaRPr>
          </a:p>
        </p:txBody>
      </p:sp>
      <p:pic>
        <p:nvPicPr>
          <p:cNvPr id="5" name="Picture 4"/>
          <p:cNvPicPr>
            <a:picLocks noChangeAspect="1"/>
          </p:cNvPicPr>
          <p:nvPr/>
        </p:nvPicPr>
        <p:blipFill>
          <a:blip r:embed="rId3"/>
          <a:stretch>
            <a:fillRect/>
          </a:stretch>
        </p:blipFill>
        <p:spPr>
          <a:xfrm>
            <a:off x="3413539" y="2647334"/>
            <a:ext cx="5090601" cy="3170195"/>
          </a:xfrm>
          <a:prstGeom prst="rect">
            <a:avLst/>
          </a:prstGeom>
        </p:spPr>
      </p:pic>
    </p:spTree>
    <p:extLst>
      <p:ext uri="{BB962C8B-B14F-4D97-AF65-F5344CB8AC3E}">
        <p14:creationId xmlns:p14="http://schemas.microsoft.com/office/powerpoint/2010/main" val="2209790941"/>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dirty="0" smtClean="0">
                <a:solidFill>
                  <a:srgbClr val="FFFFFF"/>
                </a:solidFill>
                <a:latin typeface="Orbitron"/>
              </a:rPr>
              <a:t>EDA </a:t>
            </a:r>
            <a:r>
              <a:rPr lang="fr-FR" sz="3900" b="1" dirty="0" err="1" smtClean="0">
                <a:solidFill>
                  <a:srgbClr val="FFFFFF"/>
                </a:solidFill>
                <a:latin typeface="Orbitron"/>
              </a:rPr>
              <a:t>with</a:t>
            </a:r>
            <a:r>
              <a:rPr lang="fr-FR" sz="3900" b="1" dirty="0" smtClean="0">
                <a:solidFill>
                  <a:srgbClr val="FFFFFF"/>
                </a:solidFill>
                <a:latin typeface="Orbitron"/>
              </a:rPr>
              <a:t> Data </a:t>
            </a:r>
            <a:r>
              <a:rPr lang="fr-FR" sz="3900" b="1" dirty="0" err="1" smtClean="0">
                <a:solidFill>
                  <a:srgbClr val="FFFFFF"/>
                </a:solidFill>
                <a:latin typeface="Orbitron"/>
              </a:rPr>
              <a:t>Visualization</a:t>
            </a:r>
            <a:endParaRPr sz="3900" b="1" i="0" u="none" dirty="0">
              <a:solidFill>
                <a:srgbClr val="FFFFFF"/>
              </a:solidFill>
              <a:latin typeface="Orbitron"/>
            </a:endParaRPr>
          </a:p>
        </p:txBody>
      </p:sp>
      <p:sp>
        <p:nvSpPr>
          <p:cNvPr id="9" name="TextBox 8"/>
          <p:cNvSpPr txBox="1"/>
          <p:nvPr/>
        </p:nvSpPr>
        <p:spPr>
          <a:xfrm>
            <a:off x="360897" y="1862433"/>
            <a:ext cx="11195886" cy="196977"/>
          </a:xfrm>
          <a:prstGeom prst="rect">
            <a:avLst/>
          </a:prstGeom>
          <a:noFill/>
        </p:spPr>
        <p:txBody>
          <a:bodyPr wrap="square" lIns="0" tIns="0" rIns="0" bIns="0" anchor="t">
            <a:spAutoFit/>
          </a:bodyPr>
          <a:lstStyle/>
          <a:p>
            <a:r>
              <a:rPr lang="en-US" sz="1280" dirty="0">
                <a:solidFill>
                  <a:schemeClr val="bg1"/>
                </a:solidFill>
              </a:rPr>
              <a:t>• The relationship between flight number and orbit type</a:t>
            </a:r>
            <a:endParaRPr lang="fr-FR" sz="1280" dirty="0">
              <a:solidFill>
                <a:schemeClr val="bg1"/>
              </a:solidFill>
            </a:endParaRPr>
          </a:p>
        </p:txBody>
      </p:sp>
      <p:pic>
        <p:nvPicPr>
          <p:cNvPr id="5" name="Picture 4"/>
          <p:cNvPicPr>
            <a:picLocks noChangeAspect="1"/>
          </p:cNvPicPr>
          <p:nvPr/>
        </p:nvPicPr>
        <p:blipFill rotWithShape="1">
          <a:blip r:embed="rId3"/>
          <a:srcRect b="59942"/>
          <a:stretch/>
        </p:blipFill>
        <p:spPr>
          <a:xfrm>
            <a:off x="2655382" y="2647334"/>
            <a:ext cx="6300497" cy="3133649"/>
          </a:xfrm>
          <a:prstGeom prst="rect">
            <a:avLst/>
          </a:prstGeom>
        </p:spPr>
      </p:pic>
    </p:spTree>
    <p:extLst>
      <p:ext uri="{BB962C8B-B14F-4D97-AF65-F5344CB8AC3E}">
        <p14:creationId xmlns:p14="http://schemas.microsoft.com/office/powerpoint/2010/main" val="3403738027"/>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dirty="0" smtClean="0">
                <a:solidFill>
                  <a:srgbClr val="FFFFFF"/>
                </a:solidFill>
                <a:latin typeface="Orbitron"/>
              </a:rPr>
              <a:t>EDA </a:t>
            </a:r>
            <a:r>
              <a:rPr lang="fr-FR" sz="3900" b="1" dirty="0" err="1" smtClean="0">
                <a:solidFill>
                  <a:srgbClr val="FFFFFF"/>
                </a:solidFill>
                <a:latin typeface="Orbitron"/>
              </a:rPr>
              <a:t>with</a:t>
            </a:r>
            <a:r>
              <a:rPr lang="fr-FR" sz="3900" b="1" dirty="0" smtClean="0">
                <a:solidFill>
                  <a:srgbClr val="FFFFFF"/>
                </a:solidFill>
                <a:latin typeface="Orbitron"/>
              </a:rPr>
              <a:t> Data </a:t>
            </a:r>
            <a:r>
              <a:rPr lang="fr-FR" sz="3900" b="1" dirty="0" err="1" smtClean="0">
                <a:solidFill>
                  <a:srgbClr val="FFFFFF"/>
                </a:solidFill>
                <a:latin typeface="Orbitron"/>
              </a:rPr>
              <a:t>Visualization</a:t>
            </a:r>
            <a:endParaRPr sz="3900" b="1" i="0" u="none" dirty="0">
              <a:solidFill>
                <a:srgbClr val="FFFFFF"/>
              </a:solidFill>
              <a:latin typeface="Orbitron"/>
            </a:endParaRPr>
          </a:p>
        </p:txBody>
      </p:sp>
      <p:sp>
        <p:nvSpPr>
          <p:cNvPr id="9" name="TextBox 8"/>
          <p:cNvSpPr txBox="1"/>
          <p:nvPr/>
        </p:nvSpPr>
        <p:spPr>
          <a:xfrm>
            <a:off x="360897" y="1862433"/>
            <a:ext cx="11195886" cy="196977"/>
          </a:xfrm>
          <a:prstGeom prst="rect">
            <a:avLst/>
          </a:prstGeom>
          <a:noFill/>
        </p:spPr>
        <p:txBody>
          <a:bodyPr wrap="square" lIns="0" tIns="0" rIns="0" bIns="0" anchor="t">
            <a:spAutoFit/>
          </a:bodyPr>
          <a:lstStyle/>
          <a:p>
            <a:r>
              <a:rPr lang="en-US" sz="1280" dirty="0">
                <a:solidFill>
                  <a:schemeClr val="bg1"/>
                </a:solidFill>
              </a:rPr>
              <a:t>• The relationship between payload mass and orbit type</a:t>
            </a:r>
            <a:endParaRPr lang="fr-FR" sz="1280" dirty="0">
              <a:solidFill>
                <a:schemeClr val="bg1"/>
              </a:solidFill>
            </a:endParaRPr>
          </a:p>
        </p:txBody>
      </p:sp>
      <p:pic>
        <p:nvPicPr>
          <p:cNvPr id="5" name="Picture 4"/>
          <p:cNvPicPr>
            <a:picLocks noChangeAspect="1"/>
          </p:cNvPicPr>
          <p:nvPr/>
        </p:nvPicPr>
        <p:blipFill rotWithShape="1">
          <a:blip r:embed="rId3"/>
          <a:srcRect t="61221"/>
          <a:stretch/>
        </p:blipFill>
        <p:spPr>
          <a:xfrm>
            <a:off x="2609662" y="2647334"/>
            <a:ext cx="6707604" cy="3229632"/>
          </a:xfrm>
          <a:prstGeom prst="rect">
            <a:avLst/>
          </a:prstGeom>
        </p:spPr>
      </p:pic>
    </p:spTree>
    <p:extLst>
      <p:ext uri="{BB962C8B-B14F-4D97-AF65-F5344CB8AC3E}">
        <p14:creationId xmlns:p14="http://schemas.microsoft.com/office/powerpoint/2010/main" val="2295080728"/>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dirty="0" smtClean="0">
                <a:solidFill>
                  <a:srgbClr val="FFFFFF"/>
                </a:solidFill>
                <a:latin typeface="Orbitron"/>
              </a:rPr>
              <a:t>EDA </a:t>
            </a:r>
            <a:r>
              <a:rPr lang="fr-FR" sz="3900" b="1" dirty="0" err="1" smtClean="0">
                <a:solidFill>
                  <a:srgbClr val="FFFFFF"/>
                </a:solidFill>
                <a:latin typeface="Orbitron"/>
              </a:rPr>
              <a:t>with</a:t>
            </a:r>
            <a:r>
              <a:rPr lang="fr-FR" sz="3900" b="1" dirty="0" smtClean="0">
                <a:solidFill>
                  <a:srgbClr val="FFFFFF"/>
                </a:solidFill>
                <a:latin typeface="Orbitron"/>
              </a:rPr>
              <a:t> Data </a:t>
            </a:r>
            <a:r>
              <a:rPr lang="fr-FR" sz="3900" b="1" dirty="0" err="1" smtClean="0">
                <a:solidFill>
                  <a:srgbClr val="FFFFFF"/>
                </a:solidFill>
                <a:latin typeface="Orbitron"/>
              </a:rPr>
              <a:t>Visualization</a:t>
            </a:r>
            <a:endParaRPr sz="3900" b="1" i="0" u="none" dirty="0">
              <a:solidFill>
                <a:srgbClr val="FFFFFF"/>
              </a:solidFill>
              <a:latin typeface="Orbitron"/>
            </a:endParaRPr>
          </a:p>
        </p:txBody>
      </p:sp>
      <p:sp>
        <p:nvSpPr>
          <p:cNvPr id="9" name="TextBox 8"/>
          <p:cNvSpPr txBox="1"/>
          <p:nvPr/>
        </p:nvSpPr>
        <p:spPr>
          <a:xfrm>
            <a:off x="360897" y="1862433"/>
            <a:ext cx="11195886" cy="196977"/>
          </a:xfrm>
          <a:prstGeom prst="rect">
            <a:avLst/>
          </a:prstGeom>
          <a:noFill/>
        </p:spPr>
        <p:txBody>
          <a:bodyPr wrap="square" lIns="0" tIns="0" rIns="0" bIns="0" anchor="t">
            <a:spAutoFit/>
          </a:bodyPr>
          <a:lstStyle/>
          <a:p>
            <a:r>
              <a:rPr lang="en-US" sz="1280" dirty="0">
                <a:solidFill>
                  <a:schemeClr val="bg1"/>
                </a:solidFill>
              </a:rPr>
              <a:t>• The launch success yearly trend</a:t>
            </a:r>
            <a:endParaRPr lang="fr-FR" sz="1280" dirty="0">
              <a:solidFill>
                <a:schemeClr val="bg1"/>
              </a:solidFill>
            </a:endParaRPr>
          </a:p>
        </p:txBody>
      </p:sp>
      <p:pic>
        <p:nvPicPr>
          <p:cNvPr id="5" name="Picture 4"/>
          <p:cNvPicPr>
            <a:picLocks noChangeAspect="1"/>
          </p:cNvPicPr>
          <p:nvPr/>
        </p:nvPicPr>
        <p:blipFill>
          <a:blip r:embed="rId3"/>
          <a:stretch>
            <a:fillRect/>
          </a:stretch>
        </p:blipFill>
        <p:spPr>
          <a:xfrm>
            <a:off x="2876376" y="2426882"/>
            <a:ext cx="6320355" cy="3166197"/>
          </a:xfrm>
          <a:prstGeom prst="rect">
            <a:avLst/>
          </a:prstGeom>
        </p:spPr>
      </p:pic>
    </p:spTree>
    <p:extLst>
      <p:ext uri="{BB962C8B-B14F-4D97-AF65-F5344CB8AC3E}">
        <p14:creationId xmlns:p14="http://schemas.microsoft.com/office/powerpoint/2010/main" val="2350147501"/>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dirty="0">
                <a:solidFill>
                  <a:srgbClr val="FFFFFF"/>
                </a:solidFill>
                <a:latin typeface="Orbitron"/>
              </a:rPr>
              <a:t>EDA </a:t>
            </a:r>
            <a:r>
              <a:rPr lang="fr-FR" sz="3900" b="1" dirty="0" err="1">
                <a:solidFill>
                  <a:srgbClr val="FFFFFF"/>
                </a:solidFill>
                <a:latin typeface="Orbitron"/>
              </a:rPr>
              <a:t>with</a:t>
            </a:r>
            <a:r>
              <a:rPr lang="fr-FR" sz="3900" b="1" dirty="0">
                <a:solidFill>
                  <a:srgbClr val="FFFFFF"/>
                </a:solidFill>
                <a:latin typeface="Orbitron"/>
              </a:rPr>
              <a:t> Data </a:t>
            </a:r>
            <a:r>
              <a:rPr lang="fr-FR" sz="3900" b="1" dirty="0" err="1">
                <a:solidFill>
                  <a:srgbClr val="FFFFFF"/>
                </a:solidFill>
                <a:latin typeface="Orbitron"/>
              </a:rPr>
              <a:t>Visualization</a:t>
            </a:r>
            <a:endParaRPr lang="fr-FR" sz="3900" b="1" dirty="0">
              <a:solidFill>
                <a:srgbClr val="FFFFFF"/>
              </a:solidFill>
              <a:latin typeface="Orbitron"/>
            </a:endParaRPr>
          </a:p>
        </p:txBody>
      </p:sp>
      <p:pic>
        <p:nvPicPr>
          <p:cNvPr id="8" name="Picture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79880" y="3030166"/>
            <a:ext cx="10058400" cy="2407230"/>
          </a:xfrm>
          <a:prstGeom prst="rect">
            <a:avLst/>
          </a:prstGeom>
        </p:spPr>
      </p:pic>
      <p:sp>
        <p:nvSpPr>
          <p:cNvPr id="9" name="Rectangle 8"/>
          <p:cNvSpPr/>
          <p:nvPr/>
        </p:nvSpPr>
        <p:spPr>
          <a:xfrm>
            <a:off x="351507" y="1986358"/>
            <a:ext cx="6096000" cy="646331"/>
          </a:xfrm>
          <a:prstGeom prst="rect">
            <a:avLst/>
          </a:prstGeom>
        </p:spPr>
        <p:txBody>
          <a:bodyPr>
            <a:spAutoFit/>
          </a:bodyPr>
          <a:lstStyle/>
          <a:p>
            <a:pPr marL="285750" indent="-285750">
              <a:buFont typeface="Arial" panose="020B0604020202020204" pitchFamily="34" charset="0"/>
              <a:buChar char="•"/>
            </a:pPr>
            <a:r>
              <a:rPr lang="en-US" dirty="0">
                <a:solidFill>
                  <a:schemeClr val="bg1"/>
                </a:solidFill>
              </a:rPr>
              <a:t>Features Engineering  : Creation of dummy variables to categorical columns</a:t>
            </a:r>
            <a:endParaRPr lang="fr-FR" dirty="0">
              <a:solidFill>
                <a:schemeClr val="bg1"/>
              </a:solidFill>
            </a:endParaRPr>
          </a:p>
        </p:txBody>
      </p:sp>
      <p:sp>
        <p:nvSpPr>
          <p:cNvPr id="10" name="Rounded Rectangle 9"/>
          <p:cNvSpPr/>
          <p:nvPr/>
        </p:nvSpPr>
        <p:spPr>
          <a:xfrm>
            <a:off x="515143" y="5834874"/>
            <a:ext cx="5534025" cy="438150"/>
          </a:xfrm>
          <a:prstGeom prst="roundRect">
            <a:avLst>
              <a:gd name="adj" fmla="val 50000"/>
            </a:avLst>
          </a:prstGeom>
          <a:noFill/>
          <a:ln w="9525">
            <a:solidFill>
              <a:srgbClr val="00F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57445" y="5879805"/>
            <a:ext cx="4705350" cy="346249"/>
          </a:xfrm>
          <a:prstGeom prst="rect">
            <a:avLst/>
          </a:prstGeom>
          <a:noFill/>
        </p:spPr>
        <p:txBody>
          <a:bodyPr wrap="square" lIns="0" tIns="0" rIns="0" bIns="0" anchor="ctr">
            <a:spAutoFit/>
          </a:bodyPr>
          <a:lstStyle/>
          <a:p>
            <a:r>
              <a:rPr lang="en-US" sz="1125" dirty="0">
                <a:solidFill>
                  <a:srgbClr val="FFFFFF"/>
                </a:solidFill>
                <a:latin typeface="Plus Jakarta Sans SemiBold"/>
              </a:rPr>
              <a:t>https://github.com/LahcenAmroune/Applied-Data-Science-Capstone/blob/main/5%20EDA%20Visualization.ipynb</a:t>
            </a:r>
            <a:endParaRPr sz="1125" b="0" i="0" u="none" dirty="0">
              <a:solidFill>
                <a:srgbClr val="FFFFFF"/>
              </a:solidFill>
              <a:latin typeface="Plus Jakarta Sans SemiBold"/>
            </a:endParaRPr>
          </a:p>
        </p:txBody>
      </p:sp>
      <p:pic>
        <p:nvPicPr>
          <p:cNvPr id="12" name="Picture 11" descr="image.png"/>
          <p:cNvPicPr>
            <a:picLocks noChangeAspect="1"/>
          </p:cNvPicPr>
          <p:nvPr/>
        </p:nvPicPr>
        <p:blipFill>
          <a:blip r:embed="rId4"/>
          <a:stretch>
            <a:fillRect/>
          </a:stretch>
        </p:blipFill>
        <p:spPr>
          <a:xfrm>
            <a:off x="904398" y="5958699"/>
            <a:ext cx="180975" cy="190500"/>
          </a:xfrm>
          <a:prstGeom prst="rect">
            <a:avLst/>
          </a:prstGeom>
        </p:spPr>
      </p:pic>
      <p:pic>
        <p:nvPicPr>
          <p:cNvPr id="13" name="Picture 12" descr="image.png"/>
          <p:cNvPicPr>
            <a:picLocks noChangeAspect="1"/>
          </p:cNvPicPr>
          <p:nvPr/>
        </p:nvPicPr>
        <p:blipFill>
          <a:blip r:embed="rId5"/>
          <a:stretch>
            <a:fillRect/>
          </a:stretch>
        </p:blipFill>
        <p:spPr>
          <a:xfrm>
            <a:off x="5586095" y="5991018"/>
            <a:ext cx="123825" cy="123825"/>
          </a:xfrm>
          <a:prstGeom prst="rect">
            <a:avLst/>
          </a:prstGeom>
        </p:spPr>
      </p:pic>
    </p:spTree>
    <p:extLst>
      <p:ext uri="{BB962C8B-B14F-4D97-AF65-F5344CB8AC3E}">
        <p14:creationId xmlns:p14="http://schemas.microsoft.com/office/powerpoint/2010/main" val="14893949"/>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en-US" sz="3900" b="1" dirty="0" smtClean="0">
                <a:solidFill>
                  <a:srgbClr val="FFFFFF"/>
                </a:solidFill>
                <a:latin typeface="Orbitron"/>
              </a:rPr>
              <a:t>Interactive </a:t>
            </a:r>
            <a:r>
              <a:rPr lang="en-US" sz="3900" b="1" dirty="0">
                <a:solidFill>
                  <a:srgbClr val="FFFFFF"/>
                </a:solidFill>
                <a:latin typeface="Orbitron"/>
              </a:rPr>
              <a:t>Visual Analytics with Folium</a:t>
            </a:r>
            <a:endParaRPr lang="fr-FR" sz="3900" b="1" dirty="0">
              <a:solidFill>
                <a:srgbClr val="FFFFFF"/>
              </a:solidFill>
              <a:latin typeface="Orbitron"/>
            </a:endParaRPr>
          </a:p>
        </p:txBody>
      </p:sp>
      <p:sp>
        <p:nvSpPr>
          <p:cNvPr id="7" name="Rectangle 6"/>
          <p:cNvSpPr/>
          <p:nvPr/>
        </p:nvSpPr>
        <p:spPr>
          <a:xfrm>
            <a:off x="351507" y="1986358"/>
            <a:ext cx="6096000" cy="2308324"/>
          </a:xfrm>
          <a:prstGeom prst="rect">
            <a:avLst/>
          </a:prstGeom>
        </p:spPr>
        <p:txBody>
          <a:bodyPr>
            <a:spAutoFit/>
          </a:bodyPr>
          <a:lstStyle/>
          <a:p>
            <a:r>
              <a:rPr lang="en-US" dirty="0">
                <a:solidFill>
                  <a:schemeClr val="bg1"/>
                </a:solidFill>
              </a:rPr>
              <a:t>identify spatial patterns, the following geographic features were plotted on a map of launch sites:</a:t>
            </a:r>
          </a:p>
          <a:p>
            <a:pPr marL="285750" indent="-285750">
              <a:buFont typeface="Arial" panose="020B0604020202020204" pitchFamily="34" charset="0"/>
              <a:buChar char="•"/>
            </a:pPr>
            <a:r>
              <a:rPr lang="en-US" dirty="0" smtClean="0">
                <a:solidFill>
                  <a:schemeClr val="bg1"/>
                </a:solidFill>
              </a:rPr>
              <a:t>All </a:t>
            </a:r>
            <a:r>
              <a:rPr lang="en-US" dirty="0">
                <a:solidFill>
                  <a:schemeClr val="bg1"/>
                </a:solidFill>
              </a:rPr>
              <a:t>Launch Sites</a:t>
            </a:r>
          </a:p>
          <a:p>
            <a:pPr marL="285750" indent="-285750">
              <a:buFont typeface="Arial" panose="020B0604020202020204" pitchFamily="34" charset="0"/>
              <a:buChar char="•"/>
            </a:pPr>
            <a:r>
              <a:rPr lang="en-US" dirty="0" smtClean="0">
                <a:solidFill>
                  <a:schemeClr val="bg1"/>
                </a:solidFill>
              </a:rPr>
              <a:t>Successful </a:t>
            </a:r>
            <a:r>
              <a:rPr lang="en-US" dirty="0">
                <a:solidFill>
                  <a:schemeClr val="bg1"/>
                </a:solidFill>
              </a:rPr>
              <a:t>and Failed Launches</a:t>
            </a:r>
          </a:p>
          <a:p>
            <a:pPr marL="285750" indent="-285750">
              <a:buFont typeface="Arial" panose="020B0604020202020204" pitchFamily="34" charset="0"/>
              <a:buChar char="•"/>
            </a:pPr>
            <a:r>
              <a:rPr lang="en-US" dirty="0" smtClean="0">
                <a:solidFill>
                  <a:schemeClr val="bg1"/>
                </a:solidFill>
              </a:rPr>
              <a:t>Distances </a:t>
            </a:r>
            <a:r>
              <a:rPr lang="en-US" dirty="0">
                <a:solidFill>
                  <a:schemeClr val="bg1"/>
                </a:solidFill>
              </a:rPr>
              <a:t>between a launch site and proximate </a:t>
            </a:r>
            <a:r>
              <a:rPr lang="en-US" dirty="0" smtClean="0">
                <a:solidFill>
                  <a:schemeClr val="bg1"/>
                </a:solidFill>
              </a:rPr>
              <a:t>landmarks</a:t>
            </a:r>
          </a:p>
          <a:p>
            <a:pPr marL="285750" indent="-285750">
              <a:buFont typeface="Arial" panose="020B0604020202020204" pitchFamily="34" charset="0"/>
              <a:buChar char="•"/>
            </a:pPr>
            <a:r>
              <a:rPr lang="en-US" dirty="0">
                <a:solidFill>
                  <a:schemeClr val="bg1"/>
                </a:solidFill>
              </a:rPr>
              <a:t>Geographic analysis was conducted by visualizing launch site coordinates, mission outcome distributions, and distances to key landmarks on an interactive map.</a:t>
            </a:r>
            <a:endParaRPr lang="fr-FR" dirty="0">
              <a:solidFill>
                <a:schemeClr val="bg1"/>
              </a:solidFill>
            </a:endParaRPr>
          </a:p>
        </p:txBody>
      </p:sp>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32695" y="1402667"/>
            <a:ext cx="5326842" cy="2308324"/>
          </a:xfrm>
          <a:prstGeom prst="rect">
            <a:avLst/>
          </a:prstGeom>
        </p:spPr>
      </p:pic>
      <p:pic>
        <p:nvPicPr>
          <p:cNvPr id="11" name="Picture 10"/>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521116" y="3876572"/>
            <a:ext cx="3333447" cy="1670402"/>
          </a:xfrm>
          <a:prstGeom prst="rect">
            <a:avLst/>
          </a:prstGeom>
        </p:spPr>
      </p:pic>
      <p:pic>
        <p:nvPicPr>
          <p:cNvPr id="12" name="Picture 11"/>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794414" y="4225845"/>
            <a:ext cx="3163853" cy="1629931"/>
          </a:xfrm>
          <a:prstGeom prst="rect">
            <a:avLst/>
          </a:prstGeom>
        </p:spPr>
      </p:pic>
      <p:sp>
        <p:nvSpPr>
          <p:cNvPr id="13" name="Rounded Rectangle 12"/>
          <p:cNvSpPr/>
          <p:nvPr/>
        </p:nvSpPr>
        <p:spPr>
          <a:xfrm>
            <a:off x="581025" y="5698613"/>
            <a:ext cx="5534025" cy="514408"/>
          </a:xfrm>
          <a:prstGeom prst="roundRect">
            <a:avLst>
              <a:gd name="adj" fmla="val 50000"/>
            </a:avLst>
          </a:prstGeom>
          <a:noFill/>
          <a:ln w="9525">
            <a:solidFill>
              <a:srgbClr val="00F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43000" y="5696130"/>
            <a:ext cx="4705350" cy="519373"/>
          </a:xfrm>
          <a:prstGeom prst="rect">
            <a:avLst/>
          </a:prstGeom>
          <a:noFill/>
        </p:spPr>
        <p:txBody>
          <a:bodyPr wrap="square" lIns="0" tIns="0" rIns="0" bIns="0" anchor="ctr">
            <a:spAutoFit/>
          </a:bodyPr>
          <a:lstStyle/>
          <a:p>
            <a:r>
              <a:rPr lang="en-US" sz="1125" dirty="0">
                <a:solidFill>
                  <a:srgbClr val="FFFFFF"/>
                </a:solidFill>
                <a:latin typeface="Plus Jakarta Sans SemiBold"/>
              </a:rPr>
              <a:t>https://github.com/LahcenAmroune/Applied-Data-Science-Capstone/blob/main/6%20Interactive%20Visual%20Analytics%20with%20Folium%20lab.ipynb</a:t>
            </a:r>
            <a:endParaRPr sz="1125" b="0" i="0" u="none" dirty="0">
              <a:solidFill>
                <a:srgbClr val="FFFFFF"/>
              </a:solidFill>
              <a:latin typeface="Plus Jakarta Sans SemiBold"/>
            </a:endParaRPr>
          </a:p>
        </p:txBody>
      </p:sp>
      <p:pic>
        <p:nvPicPr>
          <p:cNvPr id="15" name="Picture 14" descr="image.png"/>
          <p:cNvPicPr>
            <a:picLocks noChangeAspect="1"/>
          </p:cNvPicPr>
          <p:nvPr/>
        </p:nvPicPr>
        <p:blipFill>
          <a:blip r:embed="rId7"/>
          <a:stretch>
            <a:fillRect/>
          </a:stretch>
        </p:blipFill>
        <p:spPr>
          <a:xfrm>
            <a:off x="857250" y="5822438"/>
            <a:ext cx="180975" cy="190500"/>
          </a:xfrm>
          <a:prstGeom prst="rect">
            <a:avLst/>
          </a:prstGeom>
        </p:spPr>
      </p:pic>
      <p:pic>
        <p:nvPicPr>
          <p:cNvPr id="16" name="Picture 15" descr="image.png"/>
          <p:cNvPicPr>
            <a:picLocks noChangeAspect="1"/>
          </p:cNvPicPr>
          <p:nvPr/>
        </p:nvPicPr>
        <p:blipFill>
          <a:blip r:embed="rId8"/>
          <a:stretch>
            <a:fillRect/>
          </a:stretch>
        </p:blipFill>
        <p:spPr>
          <a:xfrm>
            <a:off x="5715000" y="5855776"/>
            <a:ext cx="123825" cy="123825"/>
          </a:xfrm>
          <a:prstGeom prst="rect">
            <a:avLst/>
          </a:prstGeom>
        </p:spPr>
      </p:pic>
    </p:spTree>
    <p:extLst>
      <p:ext uri="{BB962C8B-B14F-4D97-AF65-F5344CB8AC3E}">
        <p14:creationId xmlns:p14="http://schemas.microsoft.com/office/powerpoint/2010/main" val="1101442336"/>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7" y="636922"/>
            <a:ext cx="11123959" cy="600164"/>
          </a:xfrm>
          <a:prstGeom prst="rect">
            <a:avLst/>
          </a:prstGeom>
          <a:noFill/>
        </p:spPr>
        <p:txBody>
          <a:bodyPr wrap="square" lIns="0" tIns="0" rIns="0" bIns="0" anchor="t">
            <a:spAutoFit/>
          </a:bodyPr>
          <a:lstStyle/>
          <a:p>
            <a:r>
              <a:rPr lang="en-US" sz="3900" b="1" dirty="0" smtClean="0">
                <a:solidFill>
                  <a:srgbClr val="FFFFFF"/>
                </a:solidFill>
                <a:latin typeface="Orbitron"/>
              </a:rPr>
              <a:t>Interactive </a:t>
            </a:r>
            <a:r>
              <a:rPr lang="en-US" sz="3900" b="1" dirty="0">
                <a:solidFill>
                  <a:srgbClr val="FFFFFF"/>
                </a:solidFill>
                <a:latin typeface="Orbitron"/>
              </a:rPr>
              <a:t>Visual Analytics </a:t>
            </a:r>
            <a:r>
              <a:rPr lang="en-US" sz="3900" b="1" dirty="0" smtClean="0">
                <a:solidFill>
                  <a:srgbClr val="FFFFFF"/>
                </a:solidFill>
                <a:latin typeface="Orbitron"/>
              </a:rPr>
              <a:t>and Dashboard</a:t>
            </a:r>
            <a:endParaRPr lang="fr-FR" sz="3900" b="1" dirty="0">
              <a:solidFill>
                <a:srgbClr val="FFFFFF"/>
              </a:solidFill>
              <a:latin typeface="Orbitron"/>
            </a:endParaRP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36787" y="3753875"/>
            <a:ext cx="7120327" cy="2257182"/>
          </a:xfrm>
          <a:prstGeom prst="rect">
            <a:avLst/>
          </a:prstGeom>
        </p:spPr>
      </p:pic>
      <p:sp>
        <p:nvSpPr>
          <p:cNvPr id="17" name="Rectangle 16"/>
          <p:cNvSpPr/>
          <p:nvPr/>
        </p:nvSpPr>
        <p:spPr>
          <a:xfrm>
            <a:off x="351506" y="1986358"/>
            <a:ext cx="10951077" cy="1477328"/>
          </a:xfrm>
          <a:prstGeom prst="rect">
            <a:avLst/>
          </a:prstGeom>
        </p:spPr>
        <p:txBody>
          <a:bodyPr wrap="square">
            <a:spAutoFit/>
          </a:bodyPr>
          <a:lstStyle/>
          <a:p>
            <a:pPr marL="285750" indent="-285750">
              <a:buFont typeface="Arial" panose="020B0604020202020204" pitchFamily="34" charset="0"/>
              <a:buChar char="•"/>
            </a:pPr>
            <a:r>
              <a:rPr lang="en-US" dirty="0">
                <a:solidFill>
                  <a:schemeClr val="bg1"/>
                </a:solidFill>
              </a:rPr>
              <a:t>The figure below presents a pie chart illustrating the launch outcomes for site CCAFS LC-40, where 0 denotes failed launches and 1 denotes successful launches. As shown, 73.1% of launches from this site resulted in failure.</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The pie chart below visualizes the outcome distribution for CCAFS LC-40, with failure represented by 0 and success by 1. Notably, the majority of launches—73.1%—from this site were unsuccessful.</a:t>
            </a:r>
            <a:endParaRPr lang="fr-FR" dirty="0">
              <a:solidFill>
                <a:schemeClr val="bg1"/>
              </a:solidFill>
            </a:endParaRPr>
          </a:p>
        </p:txBody>
      </p:sp>
    </p:spTree>
    <p:extLst>
      <p:ext uri="{BB962C8B-B14F-4D97-AF65-F5344CB8AC3E}">
        <p14:creationId xmlns:p14="http://schemas.microsoft.com/office/powerpoint/2010/main" val="3717628619"/>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7" y="636922"/>
            <a:ext cx="11123959" cy="600164"/>
          </a:xfrm>
          <a:prstGeom prst="rect">
            <a:avLst/>
          </a:prstGeom>
          <a:noFill/>
        </p:spPr>
        <p:txBody>
          <a:bodyPr wrap="square" lIns="0" tIns="0" rIns="0" bIns="0" anchor="t">
            <a:spAutoFit/>
          </a:bodyPr>
          <a:lstStyle/>
          <a:p>
            <a:r>
              <a:rPr lang="en-US" sz="3900" b="1" dirty="0" smtClean="0">
                <a:solidFill>
                  <a:srgbClr val="FFFFFF"/>
                </a:solidFill>
                <a:latin typeface="Orbitron"/>
              </a:rPr>
              <a:t>Interactive </a:t>
            </a:r>
            <a:r>
              <a:rPr lang="en-US" sz="3900" b="1" dirty="0">
                <a:solidFill>
                  <a:srgbClr val="FFFFFF"/>
                </a:solidFill>
                <a:latin typeface="Orbitron"/>
              </a:rPr>
              <a:t>Visual Analytics </a:t>
            </a:r>
            <a:r>
              <a:rPr lang="en-US" sz="3900" b="1" dirty="0" smtClean="0">
                <a:solidFill>
                  <a:srgbClr val="FFFFFF"/>
                </a:solidFill>
                <a:latin typeface="Orbitron"/>
              </a:rPr>
              <a:t>and Dashboard</a:t>
            </a:r>
            <a:endParaRPr lang="fr-FR" sz="3900" b="1" dirty="0">
              <a:solidFill>
                <a:srgbClr val="FFFFFF"/>
              </a:solidFill>
              <a:latin typeface="Orbitron"/>
            </a:endParaRPr>
          </a:p>
        </p:txBody>
      </p:sp>
      <p:sp>
        <p:nvSpPr>
          <p:cNvPr id="17" name="Rectangle 16"/>
          <p:cNvSpPr/>
          <p:nvPr/>
        </p:nvSpPr>
        <p:spPr>
          <a:xfrm>
            <a:off x="351506" y="1986358"/>
            <a:ext cx="10951077" cy="646331"/>
          </a:xfrm>
          <a:prstGeom prst="rect">
            <a:avLst/>
          </a:prstGeom>
        </p:spPr>
        <p:txBody>
          <a:bodyPr wrap="square">
            <a:spAutoFit/>
          </a:bodyPr>
          <a:lstStyle/>
          <a:p>
            <a:pPr marL="285750" indent="-285750">
              <a:buFont typeface="Arial" panose="020B0604020202020204" pitchFamily="34" charset="0"/>
              <a:buChar char="•"/>
            </a:pPr>
            <a:r>
              <a:rPr lang="en-US" dirty="0">
                <a:solidFill>
                  <a:schemeClr val="bg1"/>
                </a:solidFill>
              </a:rPr>
              <a:t>• The picture below shows a scatterplot when the payload mass range is set to be </a:t>
            </a:r>
            <a:r>
              <a:rPr lang="en-US" dirty="0" smtClean="0">
                <a:solidFill>
                  <a:schemeClr val="bg1"/>
                </a:solidFill>
              </a:rPr>
              <a:t> from </a:t>
            </a:r>
            <a:r>
              <a:rPr lang="en-US" dirty="0">
                <a:solidFill>
                  <a:schemeClr val="bg1"/>
                </a:solidFill>
              </a:rPr>
              <a:t>2000kg to 8000kg.</a:t>
            </a:r>
          </a:p>
          <a:p>
            <a:pPr marL="285750" indent="-285750">
              <a:buFont typeface="Arial" panose="020B0604020202020204" pitchFamily="34" charset="0"/>
              <a:buChar char="•"/>
            </a:pPr>
            <a:r>
              <a:rPr lang="en-US" dirty="0">
                <a:solidFill>
                  <a:schemeClr val="bg1"/>
                </a:solidFill>
              </a:rPr>
              <a:t>• Class 0 represents failed launches while class 1 represents successful launches. </a:t>
            </a:r>
            <a:endParaRPr lang="fr-FR" dirty="0">
              <a:solidFill>
                <a:schemeClr val="bg1"/>
              </a:solidFill>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21750" y="3004217"/>
            <a:ext cx="7120326" cy="2197220"/>
          </a:xfrm>
          <a:prstGeom prst="rect">
            <a:avLst/>
          </a:prstGeom>
        </p:spPr>
      </p:pic>
      <p:sp>
        <p:nvSpPr>
          <p:cNvPr id="13" name="Rounded Rectangle 12"/>
          <p:cNvSpPr/>
          <p:nvPr/>
        </p:nvSpPr>
        <p:spPr>
          <a:xfrm>
            <a:off x="581025" y="5698613"/>
            <a:ext cx="5534025" cy="438150"/>
          </a:xfrm>
          <a:prstGeom prst="roundRect">
            <a:avLst>
              <a:gd name="adj" fmla="val 50000"/>
            </a:avLst>
          </a:prstGeom>
          <a:noFill/>
          <a:ln w="9525">
            <a:solidFill>
              <a:srgbClr val="00F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43000" y="5744564"/>
            <a:ext cx="4705350" cy="346249"/>
          </a:xfrm>
          <a:prstGeom prst="rect">
            <a:avLst/>
          </a:prstGeom>
          <a:noFill/>
        </p:spPr>
        <p:txBody>
          <a:bodyPr wrap="square" lIns="0" tIns="0" rIns="0" bIns="0" anchor="ctr">
            <a:spAutoFit/>
          </a:bodyPr>
          <a:lstStyle/>
          <a:p>
            <a:r>
              <a:rPr lang="en-US" sz="1125" dirty="0">
                <a:solidFill>
                  <a:srgbClr val="FFFFFF"/>
                </a:solidFill>
                <a:latin typeface="Plus Jakarta Sans SemiBold"/>
              </a:rPr>
              <a:t>https://github.com/LahcenAmroune/Applied-Data-Science-Capstone/blob/main/7%20spacex%20dash%20app.py</a:t>
            </a:r>
            <a:endParaRPr sz="1125" b="0" i="0" u="none" dirty="0">
              <a:solidFill>
                <a:srgbClr val="FFFFFF"/>
              </a:solidFill>
              <a:latin typeface="Plus Jakarta Sans SemiBold"/>
            </a:endParaRPr>
          </a:p>
        </p:txBody>
      </p:sp>
      <p:pic>
        <p:nvPicPr>
          <p:cNvPr id="15" name="Picture 14" descr="image.png"/>
          <p:cNvPicPr>
            <a:picLocks noChangeAspect="1"/>
          </p:cNvPicPr>
          <p:nvPr/>
        </p:nvPicPr>
        <p:blipFill>
          <a:blip r:embed="rId4"/>
          <a:stretch>
            <a:fillRect/>
          </a:stretch>
        </p:blipFill>
        <p:spPr>
          <a:xfrm>
            <a:off x="857250" y="5822438"/>
            <a:ext cx="180975" cy="190500"/>
          </a:xfrm>
          <a:prstGeom prst="rect">
            <a:avLst/>
          </a:prstGeom>
        </p:spPr>
      </p:pic>
      <p:pic>
        <p:nvPicPr>
          <p:cNvPr id="16" name="Picture 15" descr="image.png"/>
          <p:cNvPicPr>
            <a:picLocks noChangeAspect="1"/>
          </p:cNvPicPr>
          <p:nvPr/>
        </p:nvPicPr>
        <p:blipFill>
          <a:blip r:embed="rId5"/>
          <a:stretch>
            <a:fillRect/>
          </a:stretch>
        </p:blipFill>
        <p:spPr>
          <a:xfrm>
            <a:off x="5715000" y="5855776"/>
            <a:ext cx="123825" cy="123825"/>
          </a:xfrm>
          <a:prstGeom prst="rect">
            <a:avLst/>
          </a:prstGeom>
        </p:spPr>
      </p:pic>
    </p:spTree>
    <p:extLst>
      <p:ext uri="{BB962C8B-B14F-4D97-AF65-F5344CB8AC3E}">
        <p14:creationId xmlns:p14="http://schemas.microsoft.com/office/powerpoint/2010/main" val="1500420927"/>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dirty="0">
                <a:solidFill>
                  <a:srgbClr val="FFFFFF"/>
                </a:solidFill>
                <a:latin typeface="Orbitron"/>
              </a:rPr>
              <a:t>Machine Learning </a:t>
            </a:r>
            <a:r>
              <a:rPr lang="fr-FR" sz="3900" b="1" dirty="0" err="1">
                <a:solidFill>
                  <a:srgbClr val="FFFFFF"/>
                </a:solidFill>
                <a:latin typeface="Orbitron"/>
              </a:rPr>
              <a:t>Prediction</a:t>
            </a:r>
            <a:endParaRPr sz="3900" b="1" i="0" u="none" dirty="0">
              <a:solidFill>
                <a:srgbClr val="FFFFFF"/>
              </a:solidFill>
              <a:latin typeface="Orbitron"/>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08163" y="1680761"/>
            <a:ext cx="4754381" cy="3537679"/>
          </a:xfrm>
          <a:prstGeom prst="rect">
            <a:avLst/>
          </a:prstGeom>
        </p:spPr>
      </p:pic>
      <p:sp>
        <p:nvSpPr>
          <p:cNvPr id="7" name="Rectangle 6"/>
          <p:cNvSpPr/>
          <p:nvPr/>
        </p:nvSpPr>
        <p:spPr>
          <a:xfrm>
            <a:off x="351506" y="1986358"/>
            <a:ext cx="5230635" cy="1477328"/>
          </a:xfrm>
          <a:prstGeom prst="rect">
            <a:avLst/>
          </a:prstGeom>
        </p:spPr>
        <p:txBody>
          <a:bodyPr wrap="square">
            <a:spAutoFit/>
          </a:bodyPr>
          <a:lstStyle/>
          <a:p>
            <a:r>
              <a:rPr lang="en-US" dirty="0" smtClean="0">
                <a:solidFill>
                  <a:schemeClr val="bg1"/>
                </a:solidFill>
              </a:rPr>
              <a:t>Logistic </a:t>
            </a:r>
            <a:r>
              <a:rPr lang="en-US" dirty="0">
                <a:solidFill>
                  <a:schemeClr val="bg1"/>
                </a:solidFill>
              </a:rPr>
              <a:t>regression</a:t>
            </a:r>
          </a:p>
          <a:p>
            <a:pPr marL="285750" indent="-285750">
              <a:buFont typeface="Arial" panose="020B0604020202020204" pitchFamily="34" charset="0"/>
              <a:buChar char="•"/>
            </a:pPr>
            <a:r>
              <a:rPr lang="en-US" dirty="0" smtClean="0">
                <a:solidFill>
                  <a:schemeClr val="bg1"/>
                </a:solidFill>
              </a:rPr>
              <a:t> </a:t>
            </a:r>
            <a:r>
              <a:rPr lang="en-US" dirty="0" err="1">
                <a:solidFill>
                  <a:schemeClr val="bg1"/>
                </a:solidFill>
              </a:rPr>
              <a:t>GridSearchCV</a:t>
            </a:r>
            <a:r>
              <a:rPr lang="en-US" dirty="0">
                <a:solidFill>
                  <a:schemeClr val="bg1"/>
                </a:solidFill>
              </a:rPr>
              <a:t> best score: 0.8464285714285713</a:t>
            </a:r>
          </a:p>
          <a:p>
            <a:pPr marL="285750" indent="-285750">
              <a:buFont typeface="Arial" panose="020B0604020202020204" pitchFamily="34" charset="0"/>
              <a:buChar char="•"/>
            </a:pPr>
            <a:r>
              <a:rPr lang="en-US" dirty="0" smtClean="0">
                <a:solidFill>
                  <a:schemeClr val="bg1"/>
                </a:solidFill>
              </a:rPr>
              <a:t>Accuracy </a:t>
            </a:r>
            <a:r>
              <a:rPr lang="en-US" dirty="0">
                <a:solidFill>
                  <a:schemeClr val="bg1"/>
                </a:solidFill>
              </a:rPr>
              <a:t>score on test set: 0.8333333333333334</a:t>
            </a:r>
          </a:p>
          <a:p>
            <a:endParaRPr lang="en-US" dirty="0" smtClean="0">
              <a:solidFill>
                <a:schemeClr val="bg1"/>
              </a:solidFill>
            </a:endParaRPr>
          </a:p>
          <a:p>
            <a:r>
              <a:rPr lang="en-US" dirty="0" smtClean="0">
                <a:solidFill>
                  <a:schemeClr val="bg1"/>
                </a:solidFill>
              </a:rPr>
              <a:t>Confusion </a:t>
            </a:r>
            <a:r>
              <a:rPr lang="en-US" dirty="0">
                <a:solidFill>
                  <a:schemeClr val="bg1"/>
                </a:solidFill>
              </a:rPr>
              <a:t>matrix:</a:t>
            </a:r>
            <a:endParaRPr lang="fr-FR" dirty="0">
              <a:solidFill>
                <a:schemeClr val="bg1"/>
              </a:solidFill>
            </a:endParaRPr>
          </a:p>
        </p:txBody>
      </p:sp>
    </p:spTree>
    <p:extLst>
      <p:ext uri="{BB962C8B-B14F-4D97-AF65-F5344CB8AC3E}">
        <p14:creationId xmlns:p14="http://schemas.microsoft.com/office/powerpoint/2010/main" val="224457397"/>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dirty="0">
                <a:solidFill>
                  <a:srgbClr val="FFFFFF"/>
                </a:solidFill>
                <a:latin typeface="Orbitron"/>
              </a:rPr>
              <a:t>Machine Learning </a:t>
            </a:r>
            <a:r>
              <a:rPr lang="fr-FR" sz="3900" b="1" dirty="0" err="1">
                <a:solidFill>
                  <a:srgbClr val="FFFFFF"/>
                </a:solidFill>
                <a:latin typeface="Orbitron"/>
              </a:rPr>
              <a:t>Prediction</a:t>
            </a:r>
            <a:endParaRPr lang="fr-FR" sz="3900" b="1" dirty="0">
              <a:solidFill>
                <a:srgbClr val="FFFFFF"/>
              </a:solidFill>
              <a:latin typeface="Orbitron"/>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08163" y="1680761"/>
            <a:ext cx="4754381" cy="3537679"/>
          </a:xfrm>
          <a:prstGeom prst="rect">
            <a:avLst/>
          </a:prstGeom>
        </p:spPr>
      </p:pic>
      <p:sp>
        <p:nvSpPr>
          <p:cNvPr id="7" name="Rectangle 6"/>
          <p:cNvSpPr/>
          <p:nvPr/>
        </p:nvSpPr>
        <p:spPr>
          <a:xfrm>
            <a:off x="351506" y="1986358"/>
            <a:ext cx="5230635" cy="1477328"/>
          </a:xfrm>
          <a:prstGeom prst="rect">
            <a:avLst/>
          </a:prstGeom>
        </p:spPr>
        <p:txBody>
          <a:bodyPr wrap="square">
            <a:spAutoFit/>
          </a:bodyPr>
          <a:lstStyle/>
          <a:p>
            <a:r>
              <a:rPr lang="en-US" dirty="0" smtClean="0">
                <a:solidFill>
                  <a:schemeClr val="bg1"/>
                </a:solidFill>
              </a:rPr>
              <a:t>Support Vector Machine (SVM)</a:t>
            </a:r>
            <a:endParaRPr lang="en-US" dirty="0">
              <a:solidFill>
                <a:schemeClr val="bg1"/>
              </a:solidFill>
            </a:endParaRPr>
          </a:p>
          <a:p>
            <a:pPr marL="285750" indent="-285750">
              <a:buFont typeface="Arial" panose="020B0604020202020204" pitchFamily="34" charset="0"/>
              <a:buChar char="•"/>
            </a:pPr>
            <a:r>
              <a:rPr lang="en-US" dirty="0">
                <a:solidFill>
                  <a:schemeClr val="bg1"/>
                </a:solidFill>
              </a:rPr>
              <a:t> </a:t>
            </a:r>
            <a:r>
              <a:rPr lang="en-US" dirty="0" err="1">
                <a:solidFill>
                  <a:schemeClr val="bg1"/>
                </a:solidFill>
              </a:rPr>
              <a:t>GridSearchCV</a:t>
            </a:r>
            <a:r>
              <a:rPr lang="en-US" dirty="0">
                <a:solidFill>
                  <a:schemeClr val="bg1"/>
                </a:solidFill>
              </a:rPr>
              <a:t> best score: 0.8482142857142856</a:t>
            </a:r>
          </a:p>
          <a:p>
            <a:pPr marL="285750" indent="-285750">
              <a:buFont typeface="Arial" panose="020B0604020202020204" pitchFamily="34" charset="0"/>
              <a:buChar char="•"/>
            </a:pPr>
            <a:r>
              <a:rPr lang="en-US" dirty="0">
                <a:solidFill>
                  <a:schemeClr val="bg1"/>
                </a:solidFill>
              </a:rPr>
              <a:t>Accuracy score on test set: 0.8333333333333334</a:t>
            </a:r>
          </a:p>
          <a:p>
            <a:endParaRPr lang="en-US" dirty="0">
              <a:solidFill>
                <a:schemeClr val="bg1"/>
              </a:solidFill>
            </a:endParaRPr>
          </a:p>
          <a:p>
            <a:r>
              <a:rPr lang="en-US" dirty="0">
                <a:solidFill>
                  <a:schemeClr val="bg1"/>
                </a:solidFill>
              </a:rPr>
              <a:t>Confusion matrix:</a:t>
            </a:r>
            <a:endParaRPr lang="fr-FR" dirty="0">
              <a:solidFill>
                <a:schemeClr val="bg1"/>
              </a:solidFill>
            </a:endParaRPr>
          </a:p>
        </p:txBody>
      </p:sp>
    </p:spTree>
    <p:extLst>
      <p:ext uri="{BB962C8B-B14F-4D97-AF65-F5344CB8AC3E}">
        <p14:creationId xmlns:p14="http://schemas.microsoft.com/office/powerpoint/2010/main" val="3086877714"/>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dirty="0">
                <a:solidFill>
                  <a:srgbClr val="FFFFFF"/>
                </a:solidFill>
                <a:latin typeface="Orbitron"/>
              </a:rPr>
              <a:t>Machine Learning </a:t>
            </a:r>
            <a:r>
              <a:rPr lang="fr-FR" sz="3900" b="1" dirty="0" err="1">
                <a:solidFill>
                  <a:srgbClr val="FFFFFF"/>
                </a:solidFill>
                <a:latin typeface="Orbitron"/>
              </a:rPr>
              <a:t>Prediction</a:t>
            </a:r>
            <a:endParaRPr lang="fr-FR" sz="3900" b="1" dirty="0">
              <a:solidFill>
                <a:srgbClr val="FFFFFF"/>
              </a:solidFill>
              <a:latin typeface="Orbitron"/>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08163" y="1680761"/>
            <a:ext cx="4754381" cy="3537679"/>
          </a:xfrm>
          <a:prstGeom prst="rect">
            <a:avLst/>
          </a:prstGeom>
        </p:spPr>
      </p:pic>
      <p:sp>
        <p:nvSpPr>
          <p:cNvPr id="7" name="Rectangle 6"/>
          <p:cNvSpPr/>
          <p:nvPr/>
        </p:nvSpPr>
        <p:spPr>
          <a:xfrm>
            <a:off x="351506" y="1986358"/>
            <a:ext cx="5230635" cy="1477328"/>
          </a:xfrm>
          <a:prstGeom prst="rect">
            <a:avLst/>
          </a:prstGeom>
        </p:spPr>
        <p:txBody>
          <a:bodyPr wrap="square">
            <a:spAutoFit/>
          </a:bodyPr>
          <a:lstStyle/>
          <a:p>
            <a:r>
              <a:rPr lang="en-US" dirty="0" smtClean="0">
                <a:solidFill>
                  <a:schemeClr val="bg1"/>
                </a:solidFill>
              </a:rPr>
              <a:t>Decision Tree</a:t>
            </a:r>
            <a:endParaRPr lang="en-US" dirty="0">
              <a:solidFill>
                <a:schemeClr val="bg1"/>
              </a:solidFill>
            </a:endParaRPr>
          </a:p>
          <a:p>
            <a:pPr marL="285750" indent="-285750">
              <a:buFont typeface="Arial" panose="020B0604020202020204" pitchFamily="34" charset="0"/>
              <a:buChar char="•"/>
            </a:pPr>
            <a:r>
              <a:rPr lang="en-US" dirty="0" smtClean="0">
                <a:solidFill>
                  <a:schemeClr val="bg1"/>
                </a:solidFill>
              </a:rPr>
              <a:t> </a:t>
            </a:r>
            <a:r>
              <a:rPr lang="en-US" dirty="0" err="1">
                <a:solidFill>
                  <a:schemeClr val="bg1"/>
                </a:solidFill>
              </a:rPr>
              <a:t>GridSearchCV</a:t>
            </a:r>
            <a:r>
              <a:rPr lang="en-US" dirty="0">
                <a:solidFill>
                  <a:schemeClr val="bg1"/>
                </a:solidFill>
              </a:rPr>
              <a:t> best score: 0.8892857142857142</a:t>
            </a:r>
          </a:p>
          <a:p>
            <a:pPr marL="285750" indent="-285750">
              <a:buFont typeface="Arial" panose="020B0604020202020204" pitchFamily="34" charset="0"/>
              <a:buChar char="•"/>
            </a:pPr>
            <a:r>
              <a:rPr lang="en-US" dirty="0" smtClean="0">
                <a:solidFill>
                  <a:schemeClr val="bg1"/>
                </a:solidFill>
              </a:rPr>
              <a:t>Accuracy </a:t>
            </a:r>
            <a:r>
              <a:rPr lang="en-US" dirty="0">
                <a:solidFill>
                  <a:schemeClr val="bg1"/>
                </a:solidFill>
              </a:rPr>
              <a:t>score on test set: 0.8333333333333334</a:t>
            </a:r>
          </a:p>
          <a:p>
            <a:endParaRPr lang="en-US" dirty="0" smtClean="0">
              <a:solidFill>
                <a:schemeClr val="bg1"/>
              </a:solidFill>
            </a:endParaRPr>
          </a:p>
          <a:p>
            <a:r>
              <a:rPr lang="en-US" dirty="0" smtClean="0">
                <a:solidFill>
                  <a:schemeClr val="bg1"/>
                </a:solidFill>
              </a:rPr>
              <a:t>Confusion </a:t>
            </a:r>
            <a:r>
              <a:rPr lang="en-US" dirty="0">
                <a:solidFill>
                  <a:schemeClr val="bg1"/>
                </a:solidFill>
              </a:rPr>
              <a:t>matrix:</a:t>
            </a:r>
            <a:endParaRPr lang="fr-FR" dirty="0">
              <a:solidFill>
                <a:schemeClr val="bg1"/>
              </a:solidFill>
            </a:endParaRPr>
          </a:p>
        </p:txBody>
      </p:sp>
    </p:spTree>
    <p:extLst>
      <p:ext uri="{BB962C8B-B14F-4D97-AF65-F5344CB8AC3E}">
        <p14:creationId xmlns:p14="http://schemas.microsoft.com/office/powerpoint/2010/main" val="3923727251"/>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dirty="0">
                <a:solidFill>
                  <a:srgbClr val="FFFFFF"/>
                </a:solidFill>
                <a:latin typeface="Orbitron"/>
              </a:rPr>
              <a:t>Machine Learning </a:t>
            </a:r>
            <a:r>
              <a:rPr lang="fr-FR" sz="3900" b="1" dirty="0" err="1">
                <a:solidFill>
                  <a:srgbClr val="FFFFFF"/>
                </a:solidFill>
                <a:latin typeface="Orbitron"/>
              </a:rPr>
              <a:t>Prediction</a:t>
            </a:r>
            <a:endParaRPr lang="fr-FR" sz="3900" b="1" dirty="0">
              <a:solidFill>
                <a:srgbClr val="FFFFFF"/>
              </a:solidFill>
              <a:latin typeface="Orbitron"/>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08163" y="1680761"/>
            <a:ext cx="4754381" cy="3537679"/>
          </a:xfrm>
          <a:prstGeom prst="rect">
            <a:avLst/>
          </a:prstGeom>
        </p:spPr>
      </p:pic>
      <p:sp>
        <p:nvSpPr>
          <p:cNvPr id="7" name="Rectangle 6"/>
          <p:cNvSpPr/>
          <p:nvPr/>
        </p:nvSpPr>
        <p:spPr>
          <a:xfrm>
            <a:off x="351506" y="1986358"/>
            <a:ext cx="5230635" cy="1477328"/>
          </a:xfrm>
          <a:prstGeom prst="rect">
            <a:avLst/>
          </a:prstGeom>
        </p:spPr>
        <p:txBody>
          <a:bodyPr wrap="square">
            <a:spAutoFit/>
          </a:bodyPr>
          <a:lstStyle/>
          <a:p>
            <a:r>
              <a:rPr lang="en-US" b="1" dirty="0" smtClean="0">
                <a:solidFill>
                  <a:schemeClr val="bg1"/>
                </a:solidFill>
              </a:rPr>
              <a:t>K nearest neighbors (KNN)</a:t>
            </a:r>
            <a:endParaRPr lang="en-US" b="1" dirty="0">
              <a:solidFill>
                <a:schemeClr val="bg1"/>
              </a:solidFill>
            </a:endParaRPr>
          </a:p>
          <a:p>
            <a:pPr marL="285750" indent="-285750">
              <a:buFont typeface="Arial" panose="020B0604020202020204" pitchFamily="34" charset="0"/>
              <a:buChar char="•"/>
            </a:pPr>
            <a:r>
              <a:rPr lang="en-US" dirty="0">
                <a:solidFill>
                  <a:schemeClr val="bg1"/>
                </a:solidFill>
              </a:rPr>
              <a:t> </a:t>
            </a:r>
            <a:r>
              <a:rPr lang="en-US" dirty="0" err="1">
                <a:solidFill>
                  <a:schemeClr val="bg1"/>
                </a:solidFill>
              </a:rPr>
              <a:t>GridSearchCV</a:t>
            </a:r>
            <a:r>
              <a:rPr lang="en-US" dirty="0">
                <a:solidFill>
                  <a:schemeClr val="bg1"/>
                </a:solidFill>
              </a:rPr>
              <a:t> best score: 0.8482142857142858</a:t>
            </a:r>
          </a:p>
          <a:p>
            <a:pPr marL="285750" indent="-285750">
              <a:buFont typeface="Arial" panose="020B0604020202020204" pitchFamily="34" charset="0"/>
              <a:buChar char="•"/>
            </a:pPr>
            <a:r>
              <a:rPr lang="en-US" dirty="0" smtClean="0">
                <a:solidFill>
                  <a:schemeClr val="bg1"/>
                </a:solidFill>
              </a:rPr>
              <a:t>Accuracy </a:t>
            </a:r>
            <a:r>
              <a:rPr lang="en-US" dirty="0">
                <a:solidFill>
                  <a:schemeClr val="bg1"/>
                </a:solidFill>
              </a:rPr>
              <a:t>score on test set: 0.8333333333333334</a:t>
            </a:r>
          </a:p>
          <a:p>
            <a:endParaRPr lang="en-US" dirty="0" smtClean="0">
              <a:solidFill>
                <a:schemeClr val="bg1"/>
              </a:solidFill>
            </a:endParaRPr>
          </a:p>
          <a:p>
            <a:r>
              <a:rPr lang="en-US" dirty="0" smtClean="0">
                <a:solidFill>
                  <a:schemeClr val="bg1"/>
                </a:solidFill>
              </a:rPr>
              <a:t>Confusion </a:t>
            </a:r>
            <a:r>
              <a:rPr lang="en-US" dirty="0">
                <a:solidFill>
                  <a:schemeClr val="bg1"/>
                </a:solidFill>
              </a:rPr>
              <a:t>matrix:</a:t>
            </a:r>
            <a:endParaRPr lang="fr-FR" dirty="0">
              <a:solidFill>
                <a:schemeClr val="bg1"/>
              </a:solidFill>
            </a:endParaRPr>
          </a:p>
        </p:txBody>
      </p:sp>
      <p:sp>
        <p:nvSpPr>
          <p:cNvPr id="8" name="Rounded Rectangle 7"/>
          <p:cNvSpPr/>
          <p:nvPr/>
        </p:nvSpPr>
        <p:spPr>
          <a:xfrm>
            <a:off x="581025" y="5638800"/>
            <a:ext cx="5918835" cy="598387"/>
          </a:xfrm>
          <a:prstGeom prst="roundRect">
            <a:avLst>
              <a:gd name="adj" fmla="val 50000"/>
            </a:avLst>
          </a:prstGeom>
          <a:noFill/>
          <a:ln w="9525">
            <a:solidFill>
              <a:srgbClr val="00F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38225" y="5804377"/>
            <a:ext cx="4991100" cy="346249"/>
          </a:xfrm>
          <a:prstGeom prst="rect">
            <a:avLst/>
          </a:prstGeom>
          <a:noFill/>
        </p:spPr>
        <p:txBody>
          <a:bodyPr wrap="square" lIns="0" tIns="0" rIns="0" bIns="0" anchor="ctr">
            <a:spAutoFit/>
          </a:bodyPr>
          <a:lstStyle/>
          <a:p>
            <a:r>
              <a:rPr lang="en-US" sz="1125" dirty="0">
                <a:solidFill>
                  <a:srgbClr val="FFFFFF"/>
                </a:solidFill>
                <a:latin typeface="Plus Jakarta Sans SemiBold"/>
              </a:rPr>
              <a:t>https://github.com/LahcenAmroune/Applied-Data-Science-Capstone/blob/main/8%20Machine%20Learning%20Prediction.ipynb</a:t>
            </a:r>
            <a:endParaRPr sz="1125" b="0" i="0" u="none" dirty="0">
              <a:solidFill>
                <a:srgbClr val="FFFFFF"/>
              </a:solidFill>
              <a:latin typeface="Plus Jakarta Sans SemiBold"/>
            </a:endParaRPr>
          </a:p>
        </p:txBody>
      </p:sp>
      <p:pic>
        <p:nvPicPr>
          <p:cNvPr id="10" name="Picture 9" descr="image.png"/>
          <p:cNvPicPr>
            <a:picLocks noChangeAspect="1"/>
          </p:cNvPicPr>
          <p:nvPr/>
        </p:nvPicPr>
        <p:blipFill>
          <a:blip r:embed="rId4"/>
          <a:stretch>
            <a:fillRect/>
          </a:stretch>
        </p:blipFill>
        <p:spPr>
          <a:xfrm>
            <a:off x="766762" y="5853676"/>
            <a:ext cx="180975" cy="190500"/>
          </a:xfrm>
          <a:prstGeom prst="rect">
            <a:avLst/>
          </a:prstGeom>
        </p:spPr>
      </p:pic>
      <p:pic>
        <p:nvPicPr>
          <p:cNvPr id="11" name="Picture 10" descr="image.png"/>
          <p:cNvPicPr>
            <a:picLocks noChangeAspect="1"/>
          </p:cNvPicPr>
          <p:nvPr/>
        </p:nvPicPr>
        <p:blipFill>
          <a:blip r:embed="rId5"/>
          <a:stretch>
            <a:fillRect/>
          </a:stretch>
        </p:blipFill>
        <p:spPr>
          <a:xfrm>
            <a:off x="6029325" y="5853676"/>
            <a:ext cx="123825" cy="123825"/>
          </a:xfrm>
          <a:prstGeom prst="rect">
            <a:avLst/>
          </a:prstGeom>
        </p:spPr>
      </p:pic>
    </p:spTree>
    <p:extLst>
      <p:ext uri="{BB962C8B-B14F-4D97-AF65-F5344CB8AC3E}">
        <p14:creationId xmlns:p14="http://schemas.microsoft.com/office/powerpoint/2010/main" val="116249026"/>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dirty="0" smtClean="0">
                <a:solidFill>
                  <a:srgbClr val="FFFFFF"/>
                </a:solidFill>
                <a:latin typeface="Orbitron"/>
              </a:rPr>
              <a:t>Discussion</a:t>
            </a:r>
            <a:endParaRPr sz="3900" b="1" i="0" u="none" dirty="0">
              <a:solidFill>
                <a:srgbClr val="FFFFFF"/>
              </a:solidFill>
              <a:latin typeface="Orbitron"/>
            </a:endParaRPr>
          </a:p>
        </p:txBody>
      </p:sp>
      <p:sp>
        <p:nvSpPr>
          <p:cNvPr id="7" name="Rectangle 6"/>
          <p:cNvSpPr/>
          <p:nvPr/>
        </p:nvSpPr>
        <p:spPr>
          <a:xfrm>
            <a:off x="351506" y="1986358"/>
            <a:ext cx="10926094" cy="3693319"/>
          </a:xfrm>
          <a:prstGeom prst="rect">
            <a:avLst/>
          </a:prstGeom>
        </p:spPr>
        <p:txBody>
          <a:bodyPr wrap="square">
            <a:spAutoFit/>
          </a:bodyPr>
          <a:lstStyle/>
          <a:p>
            <a:r>
              <a:rPr lang="en-US" dirty="0">
                <a:solidFill>
                  <a:schemeClr val="bg1"/>
                </a:solidFill>
              </a:rPr>
              <a:t>Despite all four models—Logistic Regression, SVM, Decision Tree, and KNN—achieving identical test-set accuracy (83.3%) and confusion matrices, their performance diverged under </a:t>
            </a:r>
            <a:r>
              <a:rPr lang="en-US" dirty="0" err="1">
                <a:solidFill>
                  <a:schemeClr val="bg1"/>
                </a:solidFill>
              </a:rPr>
              <a:t>hyperparameter</a:t>
            </a:r>
            <a:r>
              <a:rPr lang="en-US" dirty="0">
                <a:solidFill>
                  <a:schemeClr val="bg1"/>
                </a:solidFill>
              </a:rPr>
              <a:t> tuning. To establish a definitive ranking, </a:t>
            </a:r>
            <a:r>
              <a:rPr lang="en-US" dirty="0" smtClean="0">
                <a:solidFill>
                  <a:schemeClr val="bg1"/>
                </a:solidFill>
              </a:rPr>
              <a:t>we </a:t>
            </a:r>
            <a:r>
              <a:rPr lang="en-US" dirty="0">
                <a:solidFill>
                  <a:schemeClr val="bg1"/>
                </a:solidFill>
              </a:rPr>
              <a:t>compared their respective </a:t>
            </a:r>
            <a:r>
              <a:rPr lang="en-US" dirty="0" err="1">
                <a:solidFill>
                  <a:schemeClr val="bg1"/>
                </a:solidFill>
              </a:rPr>
              <a:t>GridSearchCV</a:t>
            </a:r>
            <a:r>
              <a:rPr lang="en-US" dirty="0">
                <a:solidFill>
                  <a:schemeClr val="bg1"/>
                </a:solidFill>
              </a:rPr>
              <a:t> best scores. Ordered from highest to lowest, the results are as follows: Decision Tree (0.889), K-Nearest Neighbors (0.848), Support Vector Machine (0.848), and Logistic Regression (0.846). This places the Decision Tree as the optimal model after parameter optimization</a:t>
            </a:r>
            <a:r>
              <a:rPr lang="en-US" dirty="0" smtClean="0">
                <a:solidFill>
                  <a:schemeClr val="bg1"/>
                </a:solidFill>
              </a:rPr>
              <a:t>.</a:t>
            </a:r>
          </a:p>
          <a:p>
            <a:endParaRPr lang="fr-FR" dirty="0">
              <a:solidFill>
                <a:schemeClr val="bg1"/>
              </a:solidFill>
            </a:endParaRPr>
          </a:p>
          <a:p>
            <a:endParaRPr lang="fr-FR" dirty="0" smtClean="0">
              <a:solidFill>
                <a:schemeClr val="bg1"/>
              </a:solidFill>
            </a:endParaRPr>
          </a:p>
          <a:p>
            <a:r>
              <a:rPr lang="en-US" dirty="0">
                <a:solidFill>
                  <a:schemeClr val="bg1"/>
                </a:solidFill>
              </a:rPr>
              <a:t>Success rates have shown a steady upward trajectory over time across all factors, reflecting ongoing incremental operational improvements and technological advancements. Performance varies by orbit, with ES-L1, SSO, HEO, and GEO consistently achieving successful outcomes. Launch site also proved to be a highly predictive factor, with KSC LC-39A emerging as the top performer, closely followed by CCAFS LC-40. Among the predictive models evaluated, most achieved acceptable accuracy in forecasting landing outcomes, with the </a:t>
            </a:r>
            <a:r>
              <a:rPr lang="en-US" dirty="0" err="1">
                <a:solidFill>
                  <a:schemeClr val="bg1"/>
                </a:solidFill>
              </a:rPr>
              <a:t>DecisionTreeClassifier</a:t>
            </a:r>
            <a:r>
              <a:rPr lang="en-US" dirty="0">
                <a:solidFill>
                  <a:schemeClr val="bg1"/>
                </a:solidFill>
              </a:rPr>
              <a:t> delivering the best performance overall, demonstrating high accuracy, precision, and recall.</a:t>
            </a:r>
            <a:endParaRPr lang="fr-FR" dirty="0">
              <a:solidFill>
                <a:schemeClr val="bg1"/>
              </a:solidFill>
            </a:endParaRPr>
          </a:p>
        </p:txBody>
      </p:sp>
    </p:spTree>
    <p:extLst>
      <p:ext uri="{BB962C8B-B14F-4D97-AF65-F5344CB8AC3E}">
        <p14:creationId xmlns:p14="http://schemas.microsoft.com/office/powerpoint/2010/main" val="641791870"/>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i="0" u="none" dirty="0" err="1" smtClean="0">
                <a:solidFill>
                  <a:srgbClr val="FFFFFF"/>
                </a:solidFill>
                <a:latin typeface="Orbitron"/>
              </a:rPr>
              <a:t>Appendix</a:t>
            </a:r>
            <a:endParaRPr sz="3900" b="1" i="0" u="none" dirty="0">
              <a:solidFill>
                <a:srgbClr val="FFFFFF"/>
              </a:solidFill>
              <a:latin typeface="Orbitron"/>
            </a:endParaRPr>
          </a:p>
        </p:txBody>
      </p:sp>
      <p:sp>
        <p:nvSpPr>
          <p:cNvPr id="7" name="Rectangle 6"/>
          <p:cNvSpPr/>
          <p:nvPr/>
        </p:nvSpPr>
        <p:spPr>
          <a:xfrm>
            <a:off x="351506" y="1986358"/>
            <a:ext cx="10926094" cy="1200329"/>
          </a:xfrm>
          <a:prstGeom prst="rect">
            <a:avLst/>
          </a:prstGeom>
        </p:spPr>
        <p:txBody>
          <a:bodyPr wrap="square">
            <a:spAutoFit/>
          </a:bodyPr>
          <a:lstStyle/>
          <a:p>
            <a:r>
              <a:rPr lang="en-US" dirty="0" smtClean="0">
                <a:solidFill>
                  <a:schemeClr val="bg1"/>
                </a:solidFill>
              </a:rPr>
              <a:t>Data sources</a:t>
            </a:r>
            <a:endParaRPr lang="en-US" dirty="0"/>
          </a:p>
          <a:p>
            <a:pPr marL="285750" indent="-285750">
              <a:buFont typeface="Arial" panose="020B0604020202020204" pitchFamily="34" charset="0"/>
              <a:buChar char="•"/>
            </a:pPr>
            <a:r>
              <a:rPr lang="en-US" dirty="0">
                <a:hlinkClick r:id="rId3"/>
              </a:rPr>
              <a:t>r/</a:t>
            </a:r>
            <a:r>
              <a:rPr lang="en-US" dirty="0" err="1">
                <a:hlinkClick r:id="rId3"/>
              </a:rPr>
              <a:t>SpaceX</a:t>
            </a:r>
            <a:r>
              <a:rPr lang="en-US" dirty="0">
                <a:hlinkClick r:id="rId3"/>
              </a:rPr>
              <a:t> API </a:t>
            </a:r>
            <a:r>
              <a:rPr lang="en-US" dirty="0" smtClean="0">
                <a:hlinkClick r:id="rId3"/>
              </a:rPr>
              <a:t>Doc</a:t>
            </a:r>
            <a:r>
              <a:rPr lang="en-US" dirty="0" smtClean="0">
                <a:solidFill>
                  <a:schemeClr val="bg1"/>
                </a:solidFill>
                <a:hlinkClick r:id="rId3"/>
              </a:rPr>
              <a:t>s</a:t>
            </a:r>
            <a:endParaRPr lang="en-US" dirty="0" smtClean="0">
              <a:solidFill>
                <a:schemeClr val="bg1"/>
              </a:solidFill>
            </a:endParaRPr>
          </a:p>
          <a:p>
            <a:pPr marL="285750" indent="-285750">
              <a:buFont typeface="Arial" panose="020B0604020202020204" pitchFamily="34" charset="0"/>
              <a:buChar char="•"/>
            </a:pPr>
            <a:r>
              <a:rPr lang="en-US" dirty="0">
                <a:hlinkClick r:id="rId4"/>
              </a:rPr>
              <a:t>List of Falcon 9 and Falcon Heavy launches </a:t>
            </a:r>
            <a:r>
              <a:rPr lang="en-US" dirty="0" smtClean="0">
                <a:hlinkClick r:id="rId4"/>
              </a:rPr>
              <a:t>– Wikipedia</a:t>
            </a:r>
          </a:p>
          <a:p>
            <a:endParaRPr lang="en-US" dirty="0">
              <a:solidFill>
                <a:schemeClr val="bg1"/>
              </a:solidFill>
            </a:endParaRPr>
          </a:p>
        </p:txBody>
      </p:sp>
    </p:spTree>
    <p:extLst>
      <p:ext uri="{BB962C8B-B14F-4D97-AF65-F5344CB8AC3E}">
        <p14:creationId xmlns:p14="http://schemas.microsoft.com/office/powerpoint/2010/main" val="519848549"/>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81280" y="0"/>
            <a:ext cx="12273280" cy="6903720"/>
          </a:xfrm>
          <a:prstGeom prst="rect">
            <a:avLst/>
          </a:prstGeom>
        </p:spPr>
      </p:pic>
      <p:sp>
        <p:nvSpPr>
          <p:cNvPr id="4" name="TextBox 3"/>
          <p:cNvSpPr txBox="1"/>
          <p:nvPr/>
        </p:nvSpPr>
        <p:spPr>
          <a:xfrm>
            <a:off x="404561" y="1440781"/>
            <a:ext cx="11029950" cy="4451603"/>
          </a:xfrm>
          <a:prstGeom prst="rect">
            <a:avLst/>
          </a:prstGeom>
          <a:noFill/>
        </p:spPr>
        <p:txBody>
          <a:bodyPr wrap="square" lIns="0" tIns="0" rIns="0" bIns="0" anchor="t">
            <a:spAutoFit/>
          </a:bodyPr>
          <a:lstStyle/>
          <a:p>
            <a:pPr>
              <a:lnSpc>
                <a:spcPts val="2475"/>
              </a:lnSpc>
            </a:pPr>
            <a:r>
              <a:rPr lang="en-US" sz="1280" dirty="0" smtClean="0">
                <a:solidFill>
                  <a:schemeClr val="bg1"/>
                </a:solidFill>
              </a:rPr>
              <a:t>In this project, we set out to predict whether the first stage of a given Falcon 9 launch would land successfully, in order to determine the cost of a launch. Each feature of a Falcon 9 launch, such as payload mass or orbit type, may affect the mission outcome in a certain way. Several machine learning algorithms were employed to learn patterns from past Falcon 9 launch data and produce predictive models that can be used to predict the outcome of future launches. Among the four algorithms tested, the Decision Tree Classifier performed the best.</a:t>
            </a:r>
          </a:p>
          <a:p>
            <a:pPr>
              <a:lnSpc>
                <a:spcPts val="2475"/>
              </a:lnSpc>
            </a:pPr>
            <a:endParaRPr lang="en-US" sz="1280" dirty="0" smtClean="0">
              <a:solidFill>
                <a:schemeClr val="bg1"/>
              </a:solidFill>
            </a:endParaRPr>
          </a:p>
          <a:p>
            <a:pPr>
              <a:lnSpc>
                <a:spcPts val="2475"/>
              </a:lnSpc>
            </a:pPr>
            <a:r>
              <a:rPr lang="en-US" sz="1280" dirty="0" smtClean="0">
                <a:solidFill>
                  <a:schemeClr val="bg1"/>
                </a:solidFill>
              </a:rPr>
              <a:t>Our analysis revealed that success rates have increased over time across all factors, indicating continuous and incremental operational improvements and technological advancements. Different orbits exhibit varying success rates, with ES-L1, SSO, HEO, and GEO showing consistently successful outcomes. Launch site also proved to be a highly predictive factor, with KSC LC-39A being the top performer, closely followed by CCAFS LC-40.</a:t>
            </a:r>
          </a:p>
          <a:p>
            <a:pPr>
              <a:lnSpc>
                <a:spcPts val="2475"/>
              </a:lnSpc>
            </a:pPr>
            <a:endParaRPr lang="en-US" sz="1280" dirty="0" smtClean="0">
              <a:solidFill>
                <a:schemeClr val="bg1"/>
              </a:solidFill>
            </a:endParaRPr>
          </a:p>
          <a:p>
            <a:pPr>
              <a:lnSpc>
                <a:spcPts val="2475"/>
              </a:lnSpc>
            </a:pPr>
            <a:r>
              <a:rPr lang="en-US" sz="1280" dirty="0" smtClean="0">
                <a:solidFill>
                  <a:schemeClr val="bg1"/>
                </a:solidFill>
              </a:rPr>
              <a:t>Overall, many of the predictive models evaluated were able to predict landing outcomes with an acceptable level of accuracy. In the testing performed, the Decision Tree Classifier produced the best results, achieving high accuracy, precision, and recall.</a:t>
            </a:r>
          </a:p>
          <a:p>
            <a:pPr>
              <a:lnSpc>
                <a:spcPts val="2475"/>
              </a:lnSpc>
            </a:pPr>
            <a:endParaRPr lang="en-US" sz="1280" dirty="0" smtClean="0">
              <a:solidFill>
                <a:schemeClr val="bg1"/>
              </a:solidFill>
            </a:endParaRPr>
          </a:p>
          <a:p>
            <a:pPr>
              <a:lnSpc>
                <a:spcPts val="2475"/>
              </a:lnSpc>
            </a:pPr>
            <a:r>
              <a:rPr lang="en-US" sz="1280" dirty="0" smtClean="0">
                <a:solidFill>
                  <a:schemeClr val="bg1"/>
                </a:solidFill>
              </a:rPr>
              <a:t>If you'd prefer a shorter version, a bullet-point version, or a version that merges your original and new text differently, just let me know.</a:t>
            </a:r>
          </a:p>
          <a:p>
            <a:pPr>
              <a:lnSpc>
                <a:spcPts val="2475"/>
              </a:lnSpc>
            </a:pPr>
            <a:endParaRPr lang="en-US" sz="1280" dirty="0">
              <a:solidFill>
                <a:schemeClr val="bg1"/>
              </a:solidFill>
            </a:endParaRPr>
          </a:p>
        </p:txBody>
      </p:sp>
      <p:sp>
        <p:nvSpPr>
          <p:cNvPr id="6" name="TextBox 5"/>
          <p:cNvSpPr txBox="1"/>
          <p:nvPr/>
        </p:nvSpPr>
        <p:spPr>
          <a:xfrm>
            <a:off x="1285398" y="636922"/>
            <a:ext cx="9621202" cy="600164"/>
          </a:xfrm>
          <a:prstGeom prst="rect">
            <a:avLst/>
          </a:prstGeom>
          <a:noFill/>
        </p:spPr>
        <p:txBody>
          <a:bodyPr wrap="square" lIns="0" tIns="0" rIns="0" bIns="0" anchor="t">
            <a:spAutoFit/>
          </a:bodyPr>
          <a:lstStyle/>
          <a:p>
            <a:pPr algn="ctr"/>
            <a:r>
              <a:rPr lang="fr-FR" sz="3900" b="1" i="0" u="none" dirty="0" smtClean="0">
                <a:solidFill>
                  <a:srgbClr val="FFFFFF"/>
                </a:solidFill>
                <a:latin typeface="Orbitron"/>
              </a:rPr>
              <a:t>Conclusion</a:t>
            </a:r>
            <a:endParaRPr sz="3900" b="1" i="0" u="none" dirty="0">
              <a:solidFill>
                <a:srgbClr val="FFFFFF"/>
              </a:solidFill>
              <a:latin typeface="Orbitron"/>
            </a:endParaRPr>
          </a:p>
        </p:txBody>
      </p:sp>
    </p:spTree>
    <p:extLst>
      <p:ext uri="{BB962C8B-B14F-4D97-AF65-F5344CB8AC3E}">
        <p14:creationId xmlns:p14="http://schemas.microsoft.com/office/powerpoint/2010/main" val="3701759431"/>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132B"/>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305276" y="2409825"/>
            <a:ext cx="11581447" cy="738664"/>
          </a:xfrm>
          <a:prstGeom prst="rect">
            <a:avLst/>
          </a:prstGeom>
          <a:noFill/>
        </p:spPr>
        <p:txBody>
          <a:bodyPr wrap="square" lIns="0" tIns="0" rIns="0" bIns="0" anchor="t">
            <a:spAutoFit/>
          </a:bodyPr>
          <a:lstStyle/>
          <a:p>
            <a:pPr algn="ctr"/>
            <a:r>
              <a:rPr lang="fr-FR" sz="4800" b="1" i="0" u="none" dirty="0" err="1" smtClean="0">
                <a:solidFill>
                  <a:srgbClr val="FFFFFF"/>
                </a:solidFill>
                <a:latin typeface="Orbitron"/>
              </a:rPr>
              <a:t>Thank</a:t>
            </a:r>
            <a:r>
              <a:rPr lang="fr-FR" sz="4800" b="1" i="0" u="none" dirty="0" smtClean="0">
                <a:solidFill>
                  <a:srgbClr val="FFFFFF"/>
                </a:solidFill>
                <a:latin typeface="Orbitron"/>
              </a:rPr>
              <a:t> </a:t>
            </a:r>
            <a:r>
              <a:rPr lang="fr-FR" sz="4800" b="1" i="0" u="none" dirty="0" err="1" smtClean="0">
                <a:solidFill>
                  <a:srgbClr val="FFFFFF"/>
                </a:solidFill>
                <a:latin typeface="Orbitron"/>
              </a:rPr>
              <a:t>you</a:t>
            </a:r>
            <a:r>
              <a:rPr lang="fr-FR" sz="4800" b="1" i="0" u="none" dirty="0" smtClean="0">
                <a:solidFill>
                  <a:srgbClr val="FFFFFF"/>
                </a:solidFill>
                <a:latin typeface="Orbitron"/>
              </a:rPr>
              <a:t>!</a:t>
            </a:r>
            <a:endParaRPr sz="4800" b="1" i="0" u="none" dirty="0">
              <a:solidFill>
                <a:srgbClr val="FFFFFF"/>
              </a:solidFill>
              <a:latin typeface="Orbitron"/>
            </a:endParaRPr>
          </a:p>
        </p:txBody>
      </p:sp>
      <p:sp>
        <p:nvSpPr>
          <p:cNvPr id="5" name="TextBox 4"/>
          <p:cNvSpPr txBox="1"/>
          <p:nvPr/>
        </p:nvSpPr>
        <p:spPr>
          <a:xfrm>
            <a:off x="581025" y="3655310"/>
            <a:ext cx="11029950" cy="457200"/>
          </a:xfrm>
          <a:prstGeom prst="rect">
            <a:avLst/>
          </a:prstGeom>
          <a:noFill/>
        </p:spPr>
        <p:txBody>
          <a:bodyPr wrap="square" lIns="0" tIns="0" rIns="0" bIns="0" anchor="t">
            <a:spAutoFit/>
          </a:bodyPr>
          <a:lstStyle/>
          <a:p>
            <a:pPr algn="ctr"/>
            <a:r>
              <a:rPr sz="1350" b="0" i="0" u="none" dirty="0">
                <a:solidFill>
                  <a:srgbClr val="00B4D8"/>
                </a:solidFill>
                <a:latin typeface="Inter SemiBold"/>
              </a:rPr>
              <a:t>Presented by </a:t>
            </a:r>
            <a:r>
              <a:rPr sz="1350" b="0" i="0" u="none" dirty="0" err="1">
                <a:solidFill>
                  <a:srgbClr val="00B4D8"/>
                </a:solidFill>
                <a:latin typeface="Inter Black"/>
              </a:rPr>
              <a:t>Lahcen</a:t>
            </a:r>
            <a:r>
              <a:rPr sz="1350" b="0" i="0" u="none" dirty="0">
                <a:solidFill>
                  <a:srgbClr val="00B4D8"/>
                </a:solidFill>
                <a:latin typeface="Inter Black"/>
              </a:rPr>
              <a:t> Mokhtar AMROUNE</a:t>
            </a:r>
            <a:r>
              <a:rPr sz="1350" b="0" i="0" u="none" dirty="0">
                <a:solidFill>
                  <a:srgbClr val="00B4D8"/>
                </a:solidFill>
                <a:latin typeface="Inter SemiBold"/>
              </a:rPr>
              <a:t> • July 2026</a:t>
            </a:r>
            <a:r>
              <a:rPr dirty="0"/>
              <a:t>
</a:t>
            </a:r>
            <a:r>
              <a:rPr sz="1350" b="0" i="0" u="none" dirty="0">
                <a:solidFill>
                  <a:srgbClr val="94A3B8"/>
                </a:solidFill>
                <a:latin typeface="Inter"/>
              </a:rPr>
              <a:t>Data Science &amp; Machine Learning Capstone | Applied Predictive Analytics</a:t>
            </a: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4526</TotalTime>
  <Words>2870</Words>
  <Application>Microsoft Office PowerPoint</Application>
  <PresentationFormat>Widescreen</PresentationFormat>
  <Paragraphs>263</Paragraphs>
  <Slides>36</Slides>
  <Notes>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36</vt:i4>
      </vt:variant>
    </vt:vector>
  </HeadingPairs>
  <TitlesOfParts>
    <vt:vector size="46" baseType="lpstr">
      <vt:lpstr>Arial</vt:lpstr>
      <vt:lpstr>Calibri</vt:lpstr>
      <vt:lpstr>Inter</vt:lpstr>
      <vt:lpstr>Inter Black</vt:lpstr>
      <vt:lpstr>Inter SemiBold</vt:lpstr>
      <vt:lpstr>Orbitron</vt:lpstr>
      <vt:lpstr>Plus Jakarta Sans</vt:lpstr>
      <vt:lpstr>Plus Jakarta Sans SemiBold</vt:lpstr>
      <vt:lpstr>Space Grotesk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Lahcen Amoune</dc:creator>
  <cp:keywords/>
  <dc:description>generated using python-pptx</dc:description>
  <cp:lastModifiedBy>DELL</cp:lastModifiedBy>
  <cp:revision>56</cp:revision>
  <dcterms:created xsi:type="dcterms:W3CDTF">2013-01-27T09:14:16Z</dcterms:created>
  <dcterms:modified xsi:type="dcterms:W3CDTF">2026-07-30T23:06:33Z</dcterms:modified>
  <cp:category/>
</cp:coreProperties>
</file>