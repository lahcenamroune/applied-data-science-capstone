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95" r:id="rId2"/>
    <p:sldId id="269" r:id="rId3"/>
    <p:sldId id="257" r:id="rId4"/>
    <p:sldId id="270" r:id="rId5"/>
    <p:sldId id="271" r:id="rId6"/>
    <p:sldId id="274" r:id="rId7"/>
    <p:sldId id="275" r:id="rId8"/>
    <p:sldId id="276" r:id="rId9"/>
    <p:sldId id="277" r:id="rId10"/>
    <p:sldId id="278" r:id="rId11"/>
    <p:sldId id="288" r:id="rId12"/>
    <p:sldId id="279" r:id="rId13"/>
    <p:sldId id="280" r:id="rId14"/>
    <p:sldId id="281" r:id="rId15"/>
    <p:sldId id="283" r:id="rId16"/>
    <p:sldId id="289" r:id="rId17"/>
    <p:sldId id="290" r:id="rId18"/>
    <p:sldId id="284" r:id="rId19"/>
    <p:sldId id="291" r:id="rId20"/>
    <p:sldId id="292" r:id="rId21"/>
    <p:sldId id="293" r:id="rId22"/>
    <p:sldId id="286" r:id="rId23"/>
    <p:sldId id="294" r:id="rId24"/>
    <p:sldId id="273" r:id="rId25"/>
    <p:sldId id="26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p:restoredLeft sz="10504" autoAdjust="0"/>
    <p:restoredTop sz="95820" autoAdjust="0"/>
  </p:normalViewPr>
  <p:slideViewPr>
    <p:cSldViewPr snapToGrid="0" snapToObjects="1">
      <p:cViewPr>
        <p:scale>
          <a:sx n="66" d="100"/>
          <a:sy n="66" d="100"/>
        </p:scale>
        <p:origin x="1906" y="667"/>
      </p:cViewPr>
      <p:guideLst>
        <p:guide orient="horz" pos="2160"/>
        <p:guide pos="2880"/>
      </p:guideLst>
    </p:cSldViewPr>
  </p:slideViewPr>
  <p:outlineViewPr>
    <p:cViewPr>
      <p:scale>
        <a:sx n="100" d="100"/>
        <a:sy n="100" d="100"/>
      </p:scale>
      <p:origin x="0" y="-6331"/>
    </p:cViewPr>
    <p:sldLst>
      <p:sld r:id="rId1" collapse="1"/>
      <p:sld r:id="rId2" collapse="1"/>
      <p:sld r:id="rId3" collapse="1"/>
    </p:sldLst>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_rels/viewProps.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slide" Target="slides/slide22.xml"/><Relationship Id="rId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2FA038-7508-4EB0-B86D-C552977EB3CB}"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896F42-94F3-4706-8342-5AE47D56213E}" type="slidenum">
              <a:rPr lang="en-US" smtClean="0"/>
              <a:t>‹#›</a:t>
            </a:fld>
            <a:endParaRPr lang="en-US"/>
          </a:p>
        </p:txBody>
      </p:sp>
    </p:spTree>
    <p:extLst>
      <p:ext uri="{BB962C8B-B14F-4D97-AF65-F5344CB8AC3E}">
        <p14:creationId xmlns:p14="http://schemas.microsoft.com/office/powerpoint/2010/main" val="807762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B896F42-94F3-4706-8342-5AE47D56213E}" type="slidenum">
              <a:rPr lang="en-US" smtClean="0"/>
              <a:t>15</a:t>
            </a:fld>
            <a:endParaRPr lang="en-US"/>
          </a:p>
        </p:txBody>
      </p:sp>
    </p:spTree>
    <p:extLst>
      <p:ext uri="{BB962C8B-B14F-4D97-AF65-F5344CB8AC3E}">
        <p14:creationId xmlns:p14="http://schemas.microsoft.com/office/powerpoint/2010/main" val="2094953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7/27/2026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7/27/2026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7/27/2026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en.wikipedia.org/wiki/List_of_Falcon_9_and_Falcon_Heavy_launches" TargetMode="External"/><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docs.spacexdata.com/" TargetMode="External"/><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hyperlink" Target="https://en.wikipedia.org/w/index.php?title=List_of_Falcon_9_and_Falcon_Heavy_launches&amp;oldid=1027686922"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05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81025" y="1560165"/>
            <a:ext cx="3681412" cy="342900"/>
          </a:xfrm>
          <a:prstGeom prst="rect">
            <a:avLst/>
          </a:prstGeom>
        </p:spPr>
      </p:pic>
      <p:sp>
        <p:nvSpPr>
          <p:cNvPr id="4" name="TextBox 3"/>
          <p:cNvSpPr txBox="1"/>
          <p:nvPr/>
        </p:nvSpPr>
        <p:spPr>
          <a:xfrm>
            <a:off x="581025" y="2141190"/>
            <a:ext cx="11166132" cy="679673"/>
          </a:xfrm>
          <a:prstGeom prst="rect">
            <a:avLst/>
          </a:prstGeom>
          <a:noFill/>
        </p:spPr>
        <p:txBody>
          <a:bodyPr wrap="square" lIns="0" tIns="0" rIns="0" bIns="0" anchor="t">
            <a:spAutoFit/>
          </a:bodyPr>
          <a:lstStyle/>
          <a:p>
            <a:pPr algn="l">
              <a:lnSpc>
                <a:spcPts val="5280"/>
              </a:lnSpc>
            </a:pPr>
            <a:r>
              <a:rPr sz="4800" b="1" i="0" u="none" dirty="0">
                <a:solidFill>
                  <a:srgbClr val="FFFFFF"/>
                </a:solidFill>
                <a:latin typeface="Space Grotesk"/>
              </a:rPr>
              <a:t>APPLIED DATA SCIENCE CAPSTONE</a:t>
            </a:r>
          </a:p>
        </p:txBody>
      </p:sp>
      <p:sp>
        <p:nvSpPr>
          <p:cNvPr id="5" name="TextBox 4"/>
          <p:cNvSpPr txBox="1"/>
          <p:nvPr/>
        </p:nvSpPr>
        <p:spPr>
          <a:xfrm>
            <a:off x="581025" y="3002160"/>
            <a:ext cx="9048750" cy="857250"/>
          </a:xfrm>
          <a:prstGeom prst="rect">
            <a:avLst/>
          </a:prstGeom>
          <a:noFill/>
        </p:spPr>
        <p:txBody>
          <a:bodyPr wrap="square" lIns="0" tIns="0" rIns="0" bIns="0" anchor="t">
            <a:spAutoFit/>
          </a:bodyPr>
          <a:lstStyle/>
          <a:p>
            <a:pPr algn="l">
              <a:lnSpc>
                <a:spcPts val="2250"/>
              </a:lnSpc>
            </a:pPr>
            <a:r>
              <a:rPr sz="1500" b="0" i="0" u="none" dirty="0">
                <a:solidFill>
                  <a:srgbClr val="94A3B8"/>
                </a:solidFill>
                <a:latin typeface="Plus Jakarta Sans"/>
              </a:rPr>
              <a:t>Predicting </a:t>
            </a:r>
            <a:r>
              <a:rPr sz="1500" b="0" i="0" u="none" dirty="0" err="1">
                <a:solidFill>
                  <a:srgbClr val="94A3B8"/>
                </a:solidFill>
                <a:latin typeface="Plus Jakarta Sans"/>
              </a:rPr>
              <a:t>SpaceX</a:t>
            </a:r>
            <a:r>
              <a:rPr sz="1500" b="0" i="0" u="none" dirty="0">
                <a:solidFill>
                  <a:srgbClr val="94A3B8"/>
                </a:solidFill>
                <a:latin typeface="Plus Jakarta Sans"/>
              </a:rPr>
              <a:t> Falcon 9 first-stage booster reuse outcomes using a custom REST API pipeline, web scraping, geospatial analytics, interactive dashboards, </a:t>
            </a:r>
            <a:r>
              <a:rPr sz="1500" b="0" i="0" u="none" dirty="0" smtClean="0">
                <a:solidFill>
                  <a:srgbClr val="94A3B8"/>
                </a:solidFill>
                <a:latin typeface="Plus Jakarta Sans"/>
              </a:rPr>
              <a:t>and </a:t>
            </a:r>
            <a:r>
              <a:rPr sz="1500" b="0" i="0" u="none" dirty="0">
                <a:solidFill>
                  <a:srgbClr val="94A3B8"/>
                </a:solidFill>
                <a:latin typeface="Plus Jakarta Sans"/>
              </a:rPr>
              <a:t>supervised classification machine learning models.</a:t>
            </a:r>
          </a:p>
        </p:txBody>
      </p:sp>
      <p:pic>
        <p:nvPicPr>
          <p:cNvPr id="6" name="Picture 5" descr="image.png"/>
          <p:cNvPicPr>
            <a:picLocks noChangeAspect="1"/>
          </p:cNvPicPr>
          <p:nvPr/>
        </p:nvPicPr>
        <p:blipFill>
          <a:blip r:embed="rId4"/>
          <a:stretch>
            <a:fillRect/>
          </a:stretch>
        </p:blipFill>
        <p:spPr>
          <a:xfrm>
            <a:off x="581025" y="4192785"/>
            <a:ext cx="4067175" cy="428625"/>
          </a:xfrm>
          <a:prstGeom prst="rect">
            <a:avLst/>
          </a:prstGeom>
        </p:spPr>
      </p:pic>
      <p:sp>
        <p:nvSpPr>
          <p:cNvPr id="7" name="Rounded Rectangle 6"/>
          <p:cNvSpPr/>
          <p:nvPr/>
        </p:nvSpPr>
        <p:spPr>
          <a:xfrm>
            <a:off x="581025" y="4859535"/>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43000" y="4992048"/>
            <a:ext cx="4705350" cy="173124"/>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a:t>
            </a:r>
            <a:endParaRPr sz="1125" b="0" i="0" u="none" dirty="0">
              <a:solidFill>
                <a:srgbClr val="FFFFFF"/>
              </a:solidFill>
              <a:latin typeface="Plus Jakarta Sans SemiBold"/>
            </a:endParaRPr>
          </a:p>
        </p:txBody>
      </p:sp>
      <p:pic>
        <p:nvPicPr>
          <p:cNvPr id="9" name="Picture 8" descr="image.png"/>
          <p:cNvPicPr>
            <a:picLocks noChangeAspect="1"/>
          </p:cNvPicPr>
          <p:nvPr/>
        </p:nvPicPr>
        <p:blipFill>
          <a:blip r:embed="rId5"/>
          <a:stretch>
            <a:fillRect/>
          </a:stretch>
        </p:blipFill>
        <p:spPr>
          <a:xfrm>
            <a:off x="819150" y="1664940"/>
            <a:ext cx="157162" cy="133350"/>
          </a:xfrm>
          <a:prstGeom prst="rect">
            <a:avLst/>
          </a:prstGeom>
        </p:spPr>
      </p:pic>
      <p:sp>
        <p:nvSpPr>
          <p:cNvPr id="10" name="TextBox 9"/>
          <p:cNvSpPr txBox="1"/>
          <p:nvPr/>
        </p:nvSpPr>
        <p:spPr>
          <a:xfrm>
            <a:off x="1114425" y="4316610"/>
            <a:ext cx="1876425" cy="180975"/>
          </a:xfrm>
          <a:prstGeom prst="rect">
            <a:avLst/>
          </a:prstGeom>
          <a:noFill/>
        </p:spPr>
        <p:txBody>
          <a:bodyPr wrap="square" lIns="0" tIns="0" rIns="0" bIns="0" anchor="ctr">
            <a:spAutoFit/>
          </a:bodyPr>
          <a:lstStyle/>
          <a:p>
            <a:pPr algn="l"/>
            <a:r>
              <a:rPr sz="1125" b="0" i="0" u="none">
                <a:solidFill>
                  <a:srgbClr val="38BDF8"/>
                </a:solidFill>
                <a:latin typeface="Plus Jakarta Sans SemiBold"/>
              </a:rPr>
              <a:t>Lahcen Mokhtar AMROUNE</a:t>
            </a:r>
          </a:p>
        </p:txBody>
      </p:sp>
      <p:sp>
        <p:nvSpPr>
          <p:cNvPr id="11" name="TextBox 10"/>
          <p:cNvSpPr txBox="1"/>
          <p:nvPr/>
        </p:nvSpPr>
        <p:spPr>
          <a:xfrm>
            <a:off x="3228975" y="4316610"/>
            <a:ext cx="47625" cy="180975"/>
          </a:xfrm>
          <a:prstGeom prst="rect">
            <a:avLst/>
          </a:prstGeom>
          <a:noFill/>
        </p:spPr>
        <p:txBody>
          <a:bodyPr wrap="square" lIns="0" tIns="0" rIns="0" bIns="0" anchor="ctr">
            <a:spAutoFit/>
          </a:bodyPr>
          <a:lstStyle/>
          <a:p>
            <a:pPr algn="l"/>
            <a:r>
              <a:rPr sz="1125" b="0" i="0" u="none">
                <a:solidFill>
                  <a:srgbClr val="64748B"/>
                </a:solidFill>
                <a:latin typeface="Plus Jakarta Sans SemiBold"/>
              </a:rPr>
              <a:t>|</a:t>
            </a:r>
          </a:p>
        </p:txBody>
      </p:sp>
      <p:sp>
        <p:nvSpPr>
          <p:cNvPr id="12" name="TextBox 11"/>
          <p:cNvSpPr txBox="1"/>
          <p:nvPr/>
        </p:nvSpPr>
        <p:spPr>
          <a:xfrm>
            <a:off x="3714750" y="4316610"/>
            <a:ext cx="657225" cy="180975"/>
          </a:xfrm>
          <a:prstGeom prst="rect">
            <a:avLst/>
          </a:prstGeom>
          <a:noFill/>
        </p:spPr>
        <p:txBody>
          <a:bodyPr wrap="square" lIns="0" tIns="0" rIns="0" bIns="0" anchor="ctr">
            <a:spAutoFit/>
          </a:bodyPr>
          <a:lstStyle/>
          <a:p>
            <a:pPr algn="l"/>
            <a:r>
              <a:rPr sz="1125" b="0" i="0" u="none">
                <a:solidFill>
                  <a:srgbClr val="38BDF8"/>
                </a:solidFill>
                <a:latin typeface="Plus Jakarta Sans SemiBold"/>
              </a:rPr>
              <a:t>July 2026</a:t>
            </a:r>
          </a:p>
        </p:txBody>
      </p:sp>
      <p:pic>
        <p:nvPicPr>
          <p:cNvPr id="13" name="Picture 12" descr="image.png"/>
          <p:cNvPicPr>
            <a:picLocks noChangeAspect="1"/>
          </p:cNvPicPr>
          <p:nvPr/>
        </p:nvPicPr>
        <p:blipFill>
          <a:blip r:embed="rId6"/>
          <a:stretch>
            <a:fillRect/>
          </a:stretch>
        </p:blipFill>
        <p:spPr>
          <a:xfrm>
            <a:off x="857250" y="4983360"/>
            <a:ext cx="180975" cy="190500"/>
          </a:xfrm>
          <a:prstGeom prst="rect">
            <a:avLst/>
          </a:prstGeom>
        </p:spPr>
      </p:pic>
      <p:pic>
        <p:nvPicPr>
          <p:cNvPr id="14" name="Picture 13" descr="image.png"/>
          <p:cNvPicPr>
            <a:picLocks noChangeAspect="1"/>
          </p:cNvPicPr>
          <p:nvPr/>
        </p:nvPicPr>
        <p:blipFill>
          <a:blip r:embed="rId7"/>
          <a:stretch>
            <a:fillRect/>
          </a:stretch>
        </p:blipFill>
        <p:spPr>
          <a:xfrm>
            <a:off x="5715000" y="5016698"/>
            <a:ext cx="123825" cy="123825"/>
          </a:xfrm>
          <a:prstGeom prst="rect">
            <a:avLst/>
          </a:prstGeom>
        </p:spPr>
      </p:pic>
      <p:pic>
        <p:nvPicPr>
          <p:cNvPr id="15" name="Picture 14" descr="image.png"/>
          <p:cNvPicPr>
            <a:picLocks noChangeAspect="1"/>
          </p:cNvPicPr>
          <p:nvPr/>
        </p:nvPicPr>
        <p:blipFill>
          <a:blip r:embed="rId8"/>
          <a:stretch>
            <a:fillRect/>
          </a:stretch>
        </p:blipFill>
        <p:spPr>
          <a:xfrm>
            <a:off x="857250" y="4335660"/>
            <a:ext cx="180975" cy="142875"/>
          </a:xfrm>
          <a:prstGeom prst="rect">
            <a:avLst/>
          </a:prstGeom>
        </p:spPr>
      </p:pic>
      <p:pic>
        <p:nvPicPr>
          <p:cNvPr id="16" name="Picture 15" descr="image.png"/>
          <p:cNvPicPr>
            <a:picLocks noChangeAspect="1"/>
          </p:cNvPicPr>
          <p:nvPr/>
        </p:nvPicPr>
        <p:blipFill>
          <a:blip r:embed="rId9"/>
          <a:stretch>
            <a:fillRect/>
          </a:stretch>
        </p:blipFill>
        <p:spPr>
          <a:xfrm>
            <a:off x="3514725" y="4335660"/>
            <a:ext cx="123825" cy="142875"/>
          </a:xfrm>
          <a:prstGeom prst="rect">
            <a:avLst/>
          </a:prstGeom>
        </p:spPr>
      </p:pic>
    </p:spTree>
    <p:extLst>
      <p:ext uri="{BB962C8B-B14F-4D97-AF65-F5344CB8AC3E}">
        <p14:creationId xmlns:p14="http://schemas.microsoft.com/office/powerpoint/2010/main" val="40156060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5672"/>
            <a:ext cx="12192000" cy="7038548"/>
          </a:xfrm>
          <a:prstGeom prst="rect">
            <a:avLst/>
          </a:prstGeom>
        </p:spPr>
      </p:pic>
      <p:sp>
        <p:nvSpPr>
          <p:cNvPr id="3" name="Rectangle 2"/>
          <p:cNvSpPr/>
          <p:nvPr/>
        </p:nvSpPr>
        <p:spPr>
          <a:xfrm>
            <a:off x="1479885" y="1649479"/>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6274" y="994673"/>
            <a:ext cx="3513221"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OUTLINE</a:t>
            </a:r>
            <a:endParaRPr sz="3900" b="1" i="0" u="none" dirty="0">
              <a:solidFill>
                <a:srgbClr val="FFFFFF"/>
              </a:solidFill>
              <a:latin typeface="Orbitron"/>
            </a:endParaRPr>
          </a:p>
        </p:txBody>
      </p:sp>
      <p:sp>
        <p:nvSpPr>
          <p:cNvPr id="6" name="TextBox 5"/>
          <p:cNvSpPr txBox="1"/>
          <p:nvPr/>
        </p:nvSpPr>
        <p:spPr>
          <a:xfrm>
            <a:off x="870284" y="2220177"/>
            <a:ext cx="3637547" cy="2677656"/>
          </a:xfrm>
          <a:prstGeom prst="rect">
            <a:avLst/>
          </a:prstGeom>
          <a:noFill/>
        </p:spPr>
        <p:txBody>
          <a:bodyPr wrap="square" rtlCol="0">
            <a:spAutoFit/>
          </a:bodyPr>
          <a:lstStyle/>
          <a:p>
            <a:pPr marL="285750" indent="-285750">
              <a:buFontTx/>
              <a:buChar char="-"/>
            </a:pPr>
            <a:r>
              <a:rPr lang="fr-FR" sz="2800" dirty="0" err="1" smtClean="0">
                <a:solidFill>
                  <a:schemeClr val="bg1"/>
                </a:solidFill>
              </a:rPr>
              <a:t>Executive</a:t>
            </a:r>
            <a:r>
              <a:rPr lang="fr-FR" sz="2800" dirty="0" smtClean="0">
                <a:solidFill>
                  <a:schemeClr val="bg1"/>
                </a:solidFill>
              </a:rPr>
              <a:t> </a:t>
            </a:r>
            <a:r>
              <a:rPr lang="fr-FR" sz="2800" dirty="0" err="1" smtClean="0">
                <a:solidFill>
                  <a:schemeClr val="bg1"/>
                </a:solidFill>
              </a:rPr>
              <a:t>Summary</a:t>
            </a:r>
            <a:endParaRPr lang="fr-FR" sz="2800" dirty="0" smtClean="0">
              <a:solidFill>
                <a:schemeClr val="bg1"/>
              </a:solidFill>
            </a:endParaRPr>
          </a:p>
          <a:p>
            <a:pPr marL="285750" indent="-285750">
              <a:buFontTx/>
              <a:buChar char="-"/>
            </a:pPr>
            <a:r>
              <a:rPr lang="fr-FR" sz="2800" dirty="0" err="1" smtClean="0">
                <a:solidFill>
                  <a:schemeClr val="bg1"/>
                </a:solidFill>
              </a:rPr>
              <a:t>Intoduction</a:t>
            </a:r>
            <a:endParaRPr lang="fr-FR" sz="2800" dirty="0" smtClean="0">
              <a:solidFill>
                <a:schemeClr val="bg1"/>
              </a:solidFill>
            </a:endParaRPr>
          </a:p>
          <a:p>
            <a:pPr marL="285750" indent="-285750">
              <a:buFontTx/>
              <a:buChar char="-"/>
            </a:pPr>
            <a:r>
              <a:rPr lang="fr-FR" sz="2800" dirty="0" err="1" smtClean="0">
                <a:solidFill>
                  <a:schemeClr val="bg1"/>
                </a:solidFill>
              </a:rPr>
              <a:t>Methodology</a:t>
            </a:r>
            <a:endParaRPr lang="fr-FR" sz="2800" dirty="0" smtClean="0">
              <a:solidFill>
                <a:schemeClr val="bg1"/>
              </a:solidFill>
            </a:endParaRPr>
          </a:p>
          <a:p>
            <a:pPr marL="285750" indent="-285750">
              <a:buFontTx/>
              <a:buChar char="-"/>
            </a:pPr>
            <a:r>
              <a:rPr lang="fr-FR" sz="2800" dirty="0" err="1" smtClean="0">
                <a:solidFill>
                  <a:schemeClr val="bg1"/>
                </a:solidFill>
              </a:rPr>
              <a:t>Results</a:t>
            </a:r>
            <a:endParaRPr lang="fr-FR" sz="2800" dirty="0" smtClean="0">
              <a:solidFill>
                <a:schemeClr val="bg1"/>
              </a:solidFill>
            </a:endParaRPr>
          </a:p>
          <a:p>
            <a:pPr marL="285750" indent="-285750">
              <a:buFontTx/>
              <a:buChar char="-"/>
            </a:pPr>
            <a:r>
              <a:rPr lang="fr-FR" sz="2800" dirty="0" smtClean="0">
                <a:solidFill>
                  <a:schemeClr val="bg1"/>
                </a:solidFill>
              </a:rPr>
              <a:t>Discussion</a:t>
            </a:r>
          </a:p>
          <a:p>
            <a:pPr marL="285750" indent="-285750">
              <a:buFontTx/>
              <a:buChar char="-"/>
            </a:pPr>
            <a:r>
              <a:rPr lang="fr-FR" sz="2800" dirty="0" smtClean="0">
                <a:solidFill>
                  <a:schemeClr val="bg1"/>
                </a:solidFill>
              </a:rPr>
              <a:t>Conclusion</a:t>
            </a:r>
            <a:endParaRPr lang="en-US" sz="2800" dirty="0">
              <a:solidFill>
                <a:schemeClr val="bg1"/>
              </a:solidFill>
            </a:endParaRPr>
          </a:p>
        </p:txBody>
      </p:sp>
    </p:spTree>
    <p:extLst>
      <p:ext uri="{BB962C8B-B14F-4D97-AF65-F5344CB8AC3E}">
        <p14:creationId xmlns:p14="http://schemas.microsoft.com/office/powerpoint/2010/main" val="26532074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28650"/>
          </a:xfrm>
          <a:prstGeom prst="rect">
            <a:avLst/>
          </a:prstGeom>
          <a:noFill/>
        </p:spPr>
        <p:txBody>
          <a:bodyPr wrap="square" lIns="0" tIns="0" rIns="0" bIns="0" anchor="t">
            <a:spAutoFit/>
          </a:bodyPr>
          <a:lstStyle/>
          <a:p>
            <a:pPr algn="ctr"/>
            <a:r>
              <a:rPr sz="3900" b="1" i="0" u="none" dirty="0">
                <a:solidFill>
                  <a:srgbClr val="FFFFFF"/>
                </a:solidFill>
                <a:latin typeface="Orbitron"/>
              </a:rPr>
              <a:t>Executive Summary &amp; Overview</a:t>
            </a:r>
          </a:p>
        </p:txBody>
      </p:sp>
      <p:sp>
        <p:nvSpPr>
          <p:cNvPr id="5" name="TextBox 4"/>
          <p:cNvSpPr txBox="1"/>
          <p:nvPr/>
        </p:nvSpPr>
        <p:spPr>
          <a:xfrm>
            <a:off x="466725" y="1902494"/>
            <a:ext cx="11195886" cy="2165721"/>
          </a:xfrm>
          <a:prstGeom prst="rect">
            <a:avLst/>
          </a:prstGeom>
          <a:noFill/>
        </p:spPr>
        <p:txBody>
          <a:bodyPr wrap="square" lIns="0" tIns="0" rIns="0" bIns="0" anchor="t">
            <a:spAutoFit/>
          </a:bodyPr>
          <a:lstStyle/>
          <a:p>
            <a:pPr algn="ctr">
              <a:lnSpc>
                <a:spcPts val="2250"/>
              </a:lnSpc>
            </a:pPr>
            <a:endParaRPr lang="fr-FR" sz="1500" dirty="0">
              <a:solidFill>
                <a:schemeClr val="bg1"/>
              </a:solidFill>
              <a:latin typeface="Inter"/>
            </a:endParaRPr>
          </a:p>
          <a:p>
            <a:r>
              <a:rPr lang="en-US" sz="1280" dirty="0">
                <a:solidFill>
                  <a:schemeClr val="bg1"/>
                </a:solidFill>
              </a:rPr>
              <a:t>This project evaluates the predictability of </a:t>
            </a:r>
            <a:r>
              <a:rPr lang="en-US" sz="1280" dirty="0" err="1">
                <a:solidFill>
                  <a:schemeClr val="bg1"/>
                </a:solidFill>
              </a:rPr>
              <a:t>SpaceX</a:t>
            </a:r>
            <a:r>
              <a:rPr lang="en-US" sz="1280" dirty="0">
                <a:solidFill>
                  <a:schemeClr val="bg1"/>
                </a:solidFill>
              </a:rPr>
              <a:t> Falcon 9 first-stage booster landings to analyze commercial launch economics and competitive pricing dynamics. By successfully recovering first-stage boosters—which represent over 60% of total rocket production costs—</a:t>
            </a:r>
            <a:r>
              <a:rPr lang="en-US" sz="1280" dirty="0" err="1">
                <a:solidFill>
                  <a:schemeClr val="bg1"/>
                </a:solidFill>
              </a:rPr>
              <a:t>SpaceX</a:t>
            </a:r>
            <a:r>
              <a:rPr lang="en-US" sz="1280" dirty="0">
                <a:solidFill>
                  <a:schemeClr val="bg1"/>
                </a:solidFill>
              </a:rPr>
              <a:t> offers launch prices near $62M, drastically undercutting traditional industry benchmarks of $165M</a:t>
            </a:r>
            <a:r>
              <a:rPr lang="en-US" sz="1280" dirty="0" smtClean="0">
                <a:solidFill>
                  <a:schemeClr val="bg1"/>
                </a:solidFill>
              </a:rPr>
              <a:t>+.</a:t>
            </a:r>
          </a:p>
          <a:p>
            <a:pPr algn="ctr"/>
            <a:endParaRPr lang="en-US" sz="1280" dirty="0">
              <a:solidFill>
                <a:schemeClr val="bg1"/>
              </a:solidFill>
            </a:endParaRPr>
          </a:p>
          <a:p>
            <a:pPr algn="ctr"/>
            <a:r>
              <a:rPr lang="en-US" sz="1280" dirty="0">
                <a:solidFill>
                  <a:schemeClr val="bg1"/>
                </a:solidFill>
              </a:rPr>
              <a:t>Using an end-to-end data pipeline combining REST API collection, web scraping, exploratory data analysis (EDA), and interactive geospatial dashboards, we examined how payload mass, orbit selection, and launch pad geography influence booster recovery. Machine learning models were benchmarked to predict landing success, with the </a:t>
            </a:r>
            <a:r>
              <a:rPr lang="en-US" sz="1280" b="1" dirty="0">
                <a:solidFill>
                  <a:schemeClr val="bg1"/>
                </a:solidFill>
              </a:rPr>
              <a:t>Decision Tree classifier emerging as the top-performing algorithm</a:t>
            </a:r>
            <a:r>
              <a:rPr lang="en-US" sz="1280" dirty="0">
                <a:solidFill>
                  <a:schemeClr val="bg1"/>
                </a:solidFill>
              </a:rPr>
              <a:t>. These predictive capabilities enable competitors and launch customers to assess mission recovery risk and optimize commercial bidding strategies.</a:t>
            </a:r>
          </a:p>
          <a:p>
            <a:pPr algn="ctr">
              <a:lnSpc>
                <a:spcPts val="2250"/>
              </a:lnSpc>
            </a:pPr>
            <a:endParaRPr sz="1500" b="0" i="0" u="none" dirty="0">
              <a:solidFill>
                <a:schemeClr val="bg1"/>
              </a:solidFill>
              <a:latin typeface="Inte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82296" y="-16032"/>
            <a:ext cx="12545620" cy="7056912"/>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Introduction</a:t>
            </a:r>
            <a:endParaRPr sz="3900" b="1" i="0" u="none" dirty="0">
              <a:solidFill>
                <a:srgbClr val="FFFFFF"/>
              </a:solidFill>
              <a:latin typeface="Orbitron"/>
            </a:endParaRPr>
          </a:p>
        </p:txBody>
      </p:sp>
      <p:sp>
        <p:nvSpPr>
          <p:cNvPr id="5" name="TextBox 4"/>
          <p:cNvSpPr txBox="1"/>
          <p:nvPr/>
        </p:nvSpPr>
        <p:spPr>
          <a:xfrm>
            <a:off x="498056" y="1874008"/>
            <a:ext cx="11195886" cy="2658677"/>
          </a:xfrm>
          <a:prstGeom prst="rect">
            <a:avLst/>
          </a:prstGeom>
          <a:noFill/>
        </p:spPr>
        <p:txBody>
          <a:bodyPr wrap="square" lIns="0" tIns="0" rIns="0" bIns="0" anchor="t">
            <a:spAutoFit/>
          </a:bodyPr>
          <a:lstStyle/>
          <a:p>
            <a:pPr algn="ctr">
              <a:lnSpc>
                <a:spcPts val="2250"/>
              </a:lnSpc>
            </a:pPr>
            <a:endParaRPr lang="fr-FR" sz="1280" dirty="0">
              <a:solidFill>
                <a:schemeClr val="bg1"/>
              </a:solidFill>
              <a:latin typeface="Inter"/>
            </a:endParaRPr>
          </a:p>
          <a:p>
            <a:r>
              <a:rPr lang="en-US" sz="1280" dirty="0" smtClean="0">
                <a:solidFill>
                  <a:schemeClr val="bg1"/>
                </a:solidFill>
              </a:rPr>
              <a:t>This </a:t>
            </a:r>
            <a:r>
              <a:rPr lang="en-US" sz="1280" dirty="0">
                <a:solidFill>
                  <a:schemeClr val="bg1"/>
                </a:solidFill>
              </a:rPr>
              <a:t>capstone project aims to develop a predictive model capable of determining whether the first stage of a </a:t>
            </a:r>
            <a:r>
              <a:rPr lang="en-US" sz="1280" dirty="0" err="1">
                <a:solidFill>
                  <a:schemeClr val="bg1"/>
                </a:solidFill>
              </a:rPr>
              <a:t>SpaceX</a:t>
            </a:r>
            <a:r>
              <a:rPr lang="en-US" sz="1280" dirty="0">
                <a:solidFill>
                  <a:schemeClr val="bg1"/>
                </a:solidFill>
              </a:rPr>
              <a:t> Falcon 9 rocket will land successfully</a:t>
            </a:r>
            <a:r>
              <a:rPr lang="en-US" sz="1280" dirty="0" smtClean="0">
                <a:solidFill>
                  <a:schemeClr val="bg1"/>
                </a:solidFill>
              </a:rPr>
              <a:t>.</a:t>
            </a:r>
          </a:p>
          <a:p>
            <a:endParaRPr lang="en-US" sz="1280" dirty="0">
              <a:solidFill>
                <a:schemeClr val="bg1"/>
              </a:solidFill>
            </a:endParaRPr>
          </a:p>
          <a:p>
            <a:r>
              <a:rPr lang="en-US" sz="1280" dirty="0" err="1">
                <a:solidFill>
                  <a:schemeClr val="bg1"/>
                </a:solidFill>
              </a:rPr>
              <a:t>SpaceX</a:t>
            </a:r>
            <a:r>
              <a:rPr lang="en-US" sz="1280" dirty="0">
                <a:solidFill>
                  <a:schemeClr val="bg1"/>
                </a:solidFill>
              </a:rPr>
              <a:t> currently advertises Falcon 9 launches at a cost of $62 million, significantly undercutting competitors who charge upwards of $165 million per launch. This substantial cost advantage is primarily driven by </a:t>
            </a:r>
            <a:r>
              <a:rPr lang="en-US" sz="1280" dirty="0" err="1">
                <a:solidFill>
                  <a:schemeClr val="bg1"/>
                </a:solidFill>
              </a:rPr>
              <a:t>SpaceX’s</a:t>
            </a:r>
            <a:r>
              <a:rPr lang="en-US" sz="1280" dirty="0">
                <a:solidFill>
                  <a:schemeClr val="bg1"/>
                </a:solidFill>
              </a:rPr>
              <a:t> ability to recover and reuse the first-stage booster. Accurately predicting landing outcomes therefore provides critical insight into launch costs, enabling potential competitors to better assess pricing strategies when bidding against </a:t>
            </a:r>
            <a:r>
              <a:rPr lang="en-US" sz="1280" dirty="0" err="1">
                <a:solidFill>
                  <a:schemeClr val="bg1"/>
                </a:solidFill>
              </a:rPr>
              <a:t>SpaceX</a:t>
            </a:r>
            <a:r>
              <a:rPr lang="en-US" sz="1280" dirty="0" smtClean="0">
                <a:solidFill>
                  <a:schemeClr val="bg1"/>
                </a:solidFill>
              </a:rPr>
              <a:t>.</a:t>
            </a:r>
          </a:p>
          <a:p>
            <a:endParaRPr lang="en-US" sz="1280" dirty="0">
              <a:solidFill>
                <a:schemeClr val="bg1"/>
              </a:solidFill>
            </a:endParaRPr>
          </a:p>
          <a:p>
            <a:r>
              <a:rPr lang="en-US" sz="1280" dirty="0">
                <a:solidFill>
                  <a:schemeClr val="bg1"/>
                </a:solidFill>
              </a:rPr>
              <a:t>It should be noted that not all unsuccessful landings are failures in the operational sense; some are intentional, such as controlled oceanic landings performed for </a:t>
            </a:r>
            <a:r>
              <a:rPr lang="en-US" sz="1280" dirty="0" smtClean="0">
                <a:solidFill>
                  <a:schemeClr val="bg1"/>
                </a:solidFill>
              </a:rPr>
              <a:t>mission-specific reasons.</a:t>
            </a:r>
          </a:p>
          <a:p>
            <a:endParaRPr lang="fr-FR" sz="1280" dirty="0">
              <a:solidFill>
                <a:schemeClr val="bg1"/>
              </a:solidFill>
            </a:endParaRPr>
          </a:p>
          <a:p>
            <a:r>
              <a:rPr lang="en-US" sz="1280" dirty="0">
                <a:solidFill>
                  <a:schemeClr val="bg1"/>
                </a:solidFill>
              </a:rPr>
              <a:t>This project seeks to build a predictive model that uses launch parameters like payload mass, orbit type, and site location to forecast whether the Falcon 9 booster will successfully touch down.</a:t>
            </a:r>
            <a:endParaRPr lang="en-US" sz="1280" dirty="0">
              <a:solidFill>
                <a:schemeClr val="bg1"/>
              </a:solidFill>
            </a:endParaRPr>
          </a:p>
          <a:p>
            <a:endParaRPr lang="en-US" sz="1280" dirty="0">
              <a:solidFill>
                <a:schemeClr val="bg1"/>
              </a:solidFill>
            </a:endParaRPr>
          </a:p>
        </p:txBody>
      </p:sp>
    </p:spTree>
    <p:extLst>
      <p:ext uri="{BB962C8B-B14F-4D97-AF65-F5344CB8AC3E}">
        <p14:creationId xmlns:p14="http://schemas.microsoft.com/office/powerpoint/2010/main" val="27270554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3202" y="0"/>
            <a:ext cx="12573802" cy="6858000"/>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err="1" smtClean="0">
                <a:solidFill>
                  <a:srgbClr val="FFFFFF"/>
                </a:solidFill>
                <a:latin typeface="Orbitron"/>
              </a:rPr>
              <a:t>Methodology</a:t>
            </a:r>
            <a:endParaRPr sz="3900" b="1" i="0" u="none" dirty="0">
              <a:solidFill>
                <a:srgbClr val="FFFFFF"/>
              </a:solidFill>
              <a:latin typeface="Orbitron"/>
            </a:endParaRPr>
          </a:p>
        </p:txBody>
      </p:sp>
      <p:sp>
        <p:nvSpPr>
          <p:cNvPr id="5" name="TextBox 4"/>
          <p:cNvSpPr txBox="1"/>
          <p:nvPr/>
        </p:nvSpPr>
        <p:spPr>
          <a:xfrm>
            <a:off x="360897" y="1874008"/>
            <a:ext cx="11195886" cy="3742563"/>
          </a:xfrm>
          <a:prstGeom prst="rect">
            <a:avLst/>
          </a:prstGeom>
          <a:noFill/>
        </p:spPr>
        <p:txBody>
          <a:bodyPr wrap="square" lIns="0" tIns="0" rIns="0" bIns="0" anchor="t">
            <a:spAutoFit/>
          </a:bodyPr>
          <a:lstStyle/>
          <a:p>
            <a:pPr marL="285750" indent="-285750">
              <a:buFont typeface="Arial" panose="020B0604020202020204" pitchFamily="34" charset="0"/>
              <a:buChar char="•"/>
            </a:pPr>
            <a:r>
              <a:rPr lang="en-US" sz="1280" dirty="0" smtClean="0">
                <a:solidFill>
                  <a:schemeClr val="bg1"/>
                </a:solidFill>
              </a:rPr>
              <a:t>Data collection methodology :</a:t>
            </a:r>
          </a:p>
          <a:p>
            <a:pPr marL="742950" lvl="1" indent="-285750">
              <a:buFont typeface="Arial" panose="020B0604020202020204" pitchFamily="34" charset="0"/>
              <a:buChar char="•"/>
            </a:pPr>
            <a:r>
              <a:rPr lang="en-US" sz="1280" dirty="0" smtClean="0">
                <a:solidFill>
                  <a:schemeClr val="bg1"/>
                </a:solidFill>
              </a:rPr>
              <a:t>Retrieval and consolidation from multiple </a:t>
            </a:r>
            <a:r>
              <a:rPr lang="en-US" sz="1280" dirty="0" err="1" smtClean="0">
                <a:solidFill>
                  <a:schemeClr val="bg1"/>
                </a:solidFill>
              </a:rPr>
              <a:t>SpaceX</a:t>
            </a:r>
            <a:r>
              <a:rPr lang="en-US" sz="1280" dirty="0" smtClean="0">
                <a:solidFill>
                  <a:schemeClr val="bg1"/>
                </a:solidFill>
              </a:rPr>
              <a:t> API  </a:t>
            </a:r>
            <a:r>
              <a:rPr lang="en-US" sz="1280" dirty="0" err="1" smtClean="0">
                <a:solidFill>
                  <a:schemeClr val="bg1"/>
                </a:solidFill>
              </a:rPr>
              <a:t>endponts</a:t>
            </a:r>
            <a:endParaRPr lang="en-US" sz="1280" dirty="0" smtClean="0">
              <a:solidFill>
                <a:schemeClr val="bg1"/>
              </a:solidFill>
            </a:endParaRPr>
          </a:p>
          <a:p>
            <a:pPr marL="742950" lvl="1" indent="-285750">
              <a:buFont typeface="Arial" panose="020B0604020202020204" pitchFamily="34" charset="0"/>
              <a:buChar char="•"/>
            </a:pPr>
            <a:r>
              <a:rPr lang="en-US" sz="1280" dirty="0" smtClean="0">
                <a:solidFill>
                  <a:schemeClr val="bg1"/>
                </a:solidFill>
              </a:rPr>
              <a:t>Web </a:t>
            </a:r>
            <a:r>
              <a:rPr lang="en-US" sz="1280" dirty="0" err="1" smtClean="0">
                <a:solidFill>
                  <a:schemeClr val="bg1"/>
                </a:solidFill>
              </a:rPr>
              <a:t>scaping</a:t>
            </a:r>
            <a:r>
              <a:rPr lang="en-US" sz="1280" dirty="0" smtClean="0">
                <a:solidFill>
                  <a:schemeClr val="bg1"/>
                </a:solidFill>
              </a:rPr>
              <a:t> tabular data from Wikipedia  </a:t>
            </a:r>
          </a:p>
          <a:p>
            <a:pPr marL="285750" indent="-285750">
              <a:buFont typeface="Arial" panose="020B0604020202020204" pitchFamily="34" charset="0"/>
              <a:buChar char="•"/>
            </a:pPr>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Perform data wrangling </a:t>
            </a:r>
          </a:p>
          <a:p>
            <a:pPr marL="742950" lvl="1" indent="-285750">
              <a:buFont typeface="Arial" panose="020B0604020202020204" pitchFamily="34" charset="0"/>
              <a:buChar char="•"/>
            </a:pPr>
            <a:r>
              <a:rPr lang="en-US" sz="1280" dirty="0" smtClean="0">
                <a:solidFill>
                  <a:schemeClr val="bg1"/>
                </a:solidFill>
              </a:rPr>
              <a:t>Extracted relevant records </a:t>
            </a:r>
          </a:p>
          <a:p>
            <a:pPr marL="742950" lvl="1" indent="-285750">
              <a:buFont typeface="Arial" panose="020B0604020202020204" pitchFamily="34" charset="0"/>
              <a:buChar char="•"/>
            </a:pPr>
            <a:r>
              <a:rPr lang="en-US" sz="1280" dirty="0" smtClean="0">
                <a:solidFill>
                  <a:schemeClr val="bg1"/>
                </a:solidFill>
              </a:rPr>
              <a:t>Flattened fields and resolved missing values endpoints </a:t>
            </a:r>
          </a:p>
          <a:p>
            <a:pPr marL="285750" indent="-285750">
              <a:buFont typeface="Arial" panose="020B0604020202020204" pitchFamily="34" charset="0"/>
              <a:buChar char="•"/>
            </a:pPr>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 Perform exploratory data analysis (EDA) using visualization and SQL </a:t>
            </a:r>
          </a:p>
          <a:p>
            <a:pPr marL="742950" lvl="1" indent="-285750">
              <a:buFont typeface="Arial" panose="020B0604020202020204" pitchFamily="34" charset="0"/>
              <a:buChar char="•"/>
            </a:pPr>
            <a:r>
              <a:rPr lang="en-US" sz="1280" dirty="0" smtClean="0">
                <a:solidFill>
                  <a:schemeClr val="bg1"/>
                </a:solidFill>
              </a:rPr>
              <a:t> Visualize variable relationships </a:t>
            </a:r>
          </a:p>
          <a:p>
            <a:pPr marL="742950" lvl="1" indent="-285750">
              <a:buFont typeface="Arial" panose="020B0604020202020204" pitchFamily="34" charset="0"/>
              <a:buChar char="•"/>
            </a:pPr>
            <a:r>
              <a:rPr lang="en-US" sz="1280" dirty="0" smtClean="0">
                <a:solidFill>
                  <a:schemeClr val="bg1"/>
                </a:solidFill>
              </a:rPr>
              <a:t> Look at the data in aggregate </a:t>
            </a:r>
          </a:p>
          <a:p>
            <a:pPr lvl="1"/>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Perform interactive visual analytics using Folium and </a:t>
            </a:r>
            <a:r>
              <a:rPr lang="en-US" sz="1280" dirty="0" err="1" smtClean="0">
                <a:solidFill>
                  <a:schemeClr val="bg1"/>
                </a:solidFill>
              </a:rPr>
              <a:t>Plotly</a:t>
            </a:r>
            <a:r>
              <a:rPr lang="en-US" sz="1280" dirty="0" smtClean="0">
                <a:solidFill>
                  <a:schemeClr val="bg1"/>
                </a:solidFill>
              </a:rPr>
              <a:t> Dash</a:t>
            </a:r>
          </a:p>
          <a:p>
            <a:pPr marL="742950" lvl="1" indent="-285750">
              <a:buFont typeface="Arial" panose="020B0604020202020204" pitchFamily="34" charset="0"/>
              <a:buChar char="•"/>
            </a:pPr>
            <a:r>
              <a:rPr lang="en-US" sz="1280" dirty="0" smtClean="0">
                <a:solidFill>
                  <a:schemeClr val="bg1"/>
                </a:solidFill>
              </a:rPr>
              <a:t>Mark all launch sites on a map </a:t>
            </a:r>
          </a:p>
          <a:p>
            <a:pPr marL="742950" lvl="1" indent="-285750">
              <a:buFont typeface="Arial" panose="020B0604020202020204" pitchFamily="34" charset="0"/>
              <a:buChar char="•"/>
            </a:pPr>
            <a:r>
              <a:rPr lang="en-US" sz="1280" dirty="0" smtClean="0">
                <a:solidFill>
                  <a:schemeClr val="bg1"/>
                </a:solidFill>
              </a:rPr>
              <a:t> Mark successful and failed launches</a:t>
            </a:r>
          </a:p>
          <a:p>
            <a:pPr marL="742950" lvl="1" indent="-285750">
              <a:buFont typeface="Arial" panose="020B0604020202020204" pitchFamily="34" charset="0"/>
              <a:buChar char="•"/>
            </a:pPr>
            <a:r>
              <a:rPr lang="en-US" sz="1280" dirty="0" smtClean="0">
                <a:solidFill>
                  <a:schemeClr val="bg1"/>
                </a:solidFill>
              </a:rPr>
              <a:t> Calculate distances to proximate locations </a:t>
            </a:r>
          </a:p>
          <a:p>
            <a:pPr marL="742950" lvl="1" indent="-285750">
              <a:buFont typeface="Arial" panose="020B0604020202020204" pitchFamily="34" charset="0"/>
              <a:buChar char="•"/>
            </a:pPr>
            <a:r>
              <a:rPr lang="en-US" sz="1280" dirty="0" smtClean="0">
                <a:solidFill>
                  <a:schemeClr val="bg1"/>
                </a:solidFill>
              </a:rPr>
              <a:t>Provide for interactive exploration of the data </a:t>
            </a:r>
          </a:p>
          <a:p>
            <a:pPr marL="285750" indent="-285750">
              <a:buFont typeface="Arial" panose="020B0604020202020204" pitchFamily="34" charset="0"/>
              <a:buChar char="•"/>
            </a:pPr>
            <a:r>
              <a:rPr lang="en-US" sz="1280" dirty="0" smtClean="0">
                <a:solidFill>
                  <a:schemeClr val="bg1"/>
                </a:solidFill>
              </a:rPr>
              <a:t>Perform predictive analysis using classification models 7 </a:t>
            </a:r>
          </a:p>
          <a:p>
            <a:pPr marL="742950" lvl="1" indent="-285750">
              <a:buFont typeface="Arial" panose="020B0604020202020204" pitchFamily="34" charset="0"/>
              <a:buChar char="•"/>
            </a:pPr>
            <a:r>
              <a:rPr lang="en-US" sz="1280" dirty="0" smtClean="0">
                <a:solidFill>
                  <a:schemeClr val="bg1"/>
                </a:solidFill>
              </a:rPr>
              <a:t> Build, evaluate, and compare several predictive classification models</a:t>
            </a:r>
            <a:endParaRPr lang="en-US" sz="1280" dirty="0">
              <a:solidFill>
                <a:schemeClr val="bg1"/>
              </a:solidFill>
            </a:endParaRPr>
          </a:p>
        </p:txBody>
      </p:sp>
    </p:spTree>
    <p:extLst>
      <p:ext uri="{BB962C8B-B14F-4D97-AF65-F5344CB8AC3E}">
        <p14:creationId xmlns:p14="http://schemas.microsoft.com/office/powerpoint/2010/main" val="19655688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715000" y="1382395"/>
            <a:ext cx="762000" cy="38100"/>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Data Collection</a:t>
            </a:r>
            <a:endParaRPr sz="3900" b="1" i="0" u="none" dirty="0">
              <a:solidFill>
                <a:srgbClr val="FFFFFF"/>
              </a:solidFill>
              <a:latin typeface="Orbitron"/>
            </a:endParaRPr>
          </a:p>
        </p:txBody>
      </p:sp>
      <p:sp>
        <p:nvSpPr>
          <p:cNvPr id="5" name="TextBox 4"/>
          <p:cNvSpPr txBox="1"/>
          <p:nvPr/>
        </p:nvSpPr>
        <p:spPr>
          <a:xfrm>
            <a:off x="360897" y="1874008"/>
            <a:ext cx="11195886" cy="1772793"/>
          </a:xfrm>
          <a:prstGeom prst="rect">
            <a:avLst/>
          </a:prstGeom>
          <a:noFill/>
        </p:spPr>
        <p:txBody>
          <a:bodyPr wrap="square" lIns="0" tIns="0" rIns="0" bIns="0" anchor="t">
            <a:spAutoFit/>
          </a:bodyPr>
          <a:lstStyle/>
          <a:p>
            <a:pPr marL="285750" indent="-285750">
              <a:buFont typeface="Arial" panose="020B0604020202020204" pitchFamily="34" charset="0"/>
              <a:buChar char="•"/>
            </a:pPr>
            <a:r>
              <a:rPr lang="fr-FR" sz="1280" dirty="0">
                <a:solidFill>
                  <a:schemeClr val="bg1"/>
                </a:solidFill>
              </a:rPr>
              <a:t>Data </a:t>
            </a:r>
            <a:r>
              <a:rPr lang="fr-FR" sz="1280" dirty="0" err="1">
                <a:solidFill>
                  <a:schemeClr val="bg1"/>
                </a:solidFill>
              </a:rPr>
              <a:t>was</a:t>
            </a:r>
            <a:r>
              <a:rPr lang="fr-FR" sz="1280" dirty="0">
                <a:solidFill>
                  <a:schemeClr val="bg1"/>
                </a:solidFill>
              </a:rPr>
              <a:t> </a:t>
            </a:r>
            <a:r>
              <a:rPr lang="fr-FR" sz="1280" dirty="0" err="1">
                <a:solidFill>
                  <a:schemeClr val="bg1"/>
                </a:solidFill>
              </a:rPr>
              <a:t>collected</a:t>
            </a:r>
            <a:r>
              <a:rPr lang="fr-FR" sz="1280" dirty="0">
                <a:solidFill>
                  <a:schemeClr val="bg1"/>
                </a:solidFill>
              </a:rPr>
              <a:t> </a:t>
            </a:r>
            <a:r>
              <a:rPr lang="fr-FR" sz="1280" dirty="0" err="1">
                <a:solidFill>
                  <a:schemeClr val="bg1"/>
                </a:solidFill>
              </a:rPr>
              <a:t>using</a:t>
            </a:r>
            <a:r>
              <a:rPr lang="fr-FR" sz="1280" dirty="0">
                <a:solidFill>
                  <a:schemeClr val="bg1"/>
                </a:solidFill>
              </a:rPr>
              <a:t> a </a:t>
            </a:r>
            <a:r>
              <a:rPr lang="fr-FR" sz="1280" dirty="0" err="1">
                <a:solidFill>
                  <a:schemeClr val="bg1"/>
                </a:solidFill>
              </a:rPr>
              <a:t>combination</a:t>
            </a:r>
            <a:r>
              <a:rPr lang="fr-FR" sz="1280" dirty="0">
                <a:solidFill>
                  <a:schemeClr val="bg1"/>
                </a:solidFill>
              </a:rPr>
              <a:t> of </a:t>
            </a:r>
            <a:r>
              <a:rPr lang="fr-FR" sz="1280" dirty="0" err="1">
                <a:solidFill>
                  <a:schemeClr val="bg1"/>
                </a:solidFill>
              </a:rPr>
              <a:t>retrieval</a:t>
            </a:r>
            <a:r>
              <a:rPr lang="fr-FR" sz="1280" dirty="0">
                <a:solidFill>
                  <a:schemeClr val="bg1"/>
                </a:solidFill>
              </a:rPr>
              <a:t> </a:t>
            </a:r>
            <a:r>
              <a:rPr lang="fr-FR" sz="1280" dirty="0" err="1">
                <a:solidFill>
                  <a:schemeClr val="bg1"/>
                </a:solidFill>
              </a:rPr>
              <a:t>techiniques</a:t>
            </a:r>
            <a:r>
              <a:rPr lang="fr-FR" sz="1280" dirty="0">
                <a:solidFill>
                  <a:schemeClr val="bg1"/>
                </a:solidFill>
              </a:rPr>
              <a:t>:</a:t>
            </a:r>
          </a:p>
          <a:p>
            <a:pPr marL="742950" lvl="1" indent="-285750">
              <a:buFont typeface="Arial" panose="020B0604020202020204" pitchFamily="34" charset="0"/>
              <a:buChar char="•"/>
            </a:pPr>
            <a:r>
              <a:rPr lang="fr-FR" sz="1280" dirty="0">
                <a:solidFill>
                  <a:schemeClr val="bg1"/>
                </a:solidFill>
              </a:rPr>
              <a:t>HTTP </a:t>
            </a:r>
            <a:r>
              <a:rPr lang="fr-FR" sz="1280" dirty="0" err="1">
                <a:solidFill>
                  <a:schemeClr val="bg1"/>
                </a:solidFill>
              </a:rPr>
              <a:t>requests</a:t>
            </a:r>
            <a:r>
              <a:rPr lang="fr-FR" sz="1280" dirty="0">
                <a:solidFill>
                  <a:schemeClr val="bg1"/>
                </a:solidFill>
              </a:rPr>
              <a:t>, </a:t>
            </a:r>
            <a:r>
              <a:rPr lang="fr-FR" sz="1280" dirty="0" err="1">
                <a:solidFill>
                  <a:schemeClr val="bg1"/>
                </a:solidFill>
              </a:rPr>
              <a:t>SpaceX</a:t>
            </a:r>
            <a:r>
              <a:rPr lang="fr-FR" sz="1280" dirty="0">
                <a:solidFill>
                  <a:schemeClr val="bg1"/>
                </a:solidFill>
              </a:rPr>
              <a:t> API :</a:t>
            </a:r>
          </a:p>
          <a:p>
            <a:pPr marL="1200150" lvl="2" indent="-285750">
              <a:buFont typeface="Arial" panose="020B0604020202020204" pitchFamily="34" charset="0"/>
              <a:buChar char="•"/>
            </a:pPr>
            <a:r>
              <a:rPr lang="fr-FR" sz="1280" dirty="0">
                <a:solidFill>
                  <a:schemeClr val="bg1"/>
                </a:solidFill>
              </a:rPr>
              <a:t>Initial </a:t>
            </a:r>
            <a:r>
              <a:rPr lang="fr-FR" sz="1280" dirty="0" err="1">
                <a:solidFill>
                  <a:schemeClr val="bg1"/>
                </a:solidFill>
              </a:rPr>
              <a:t>lauch</a:t>
            </a:r>
            <a:r>
              <a:rPr lang="fr-FR" sz="1280" dirty="0">
                <a:solidFill>
                  <a:schemeClr val="bg1"/>
                </a:solidFill>
              </a:rPr>
              <a:t> data </a:t>
            </a:r>
            <a:r>
              <a:rPr lang="fr-FR" sz="1280" dirty="0" err="1">
                <a:solidFill>
                  <a:schemeClr val="bg1"/>
                </a:solidFill>
              </a:rPr>
              <a:t>was</a:t>
            </a:r>
            <a:r>
              <a:rPr lang="fr-FR" sz="1280" dirty="0">
                <a:solidFill>
                  <a:schemeClr val="bg1"/>
                </a:solidFill>
              </a:rPr>
              <a:t> </a:t>
            </a:r>
            <a:r>
              <a:rPr lang="fr-FR" sz="1280" dirty="0" err="1">
                <a:solidFill>
                  <a:schemeClr val="bg1"/>
                </a:solidFill>
              </a:rPr>
              <a:t>obtained</a:t>
            </a:r>
            <a:r>
              <a:rPr lang="fr-FR" sz="1280" dirty="0">
                <a:solidFill>
                  <a:schemeClr val="bg1"/>
                </a:solidFill>
              </a:rPr>
              <a:t> </a:t>
            </a:r>
            <a:r>
              <a:rPr lang="fr-FR" sz="1280" dirty="0" err="1">
                <a:solidFill>
                  <a:schemeClr val="bg1"/>
                </a:solidFill>
              </a:rPr>
              <a:t>from</a:t>
            </a:r>
            <a:r>
              <a:rPr lang="fr-FR" sz="1280" dirty="0">
                <a:solidFill>
                  <a:schemeClr val="bg1"/>
                </a:solidFill>
              </a:rPr>
              <a:t> : /v4/</a:t>
            </a:r>
            <a:r>
              <a:rPr lang="fr-FR" sz="1280" dirty="0" err="1">
                <a:solidFill>
                  <a:schemeClr val="bg1"/>
                </a:solidFill>
              </a:rPr>
              <a:t>launches</a:t>
            </a:r>
            <a:r>
              <a:rPr lang="fr-FR" sz="1280" dirty="0">
                <a:solidFill>
                  <a:schemeClr val="bg1"/>
                </a:solidFill>
              </a:rPr>
              <a:t>/</a:t>
            </a:r>
            <a:r>
              <a:rPr lang="fr-FR" sz="1280" dirty="0" err="1">
                <a:solidFill>
                  <a:schemeClr val="bg1"/>
                </a:solidFill>
              </a:rPr>
              <a:t>past</a:t>
            </a:r>
            <a:endParaRPr lang="fr-FR" sz="1280" dirty="0">
              <a:solidFill>
                <a:schemeClr val="bg1"/>
              </a:solidFill>
            </a:endParaRPr>
          </a:p>
          <a:p>
            <a:pPr marL="1200150" lvl="2" indent="-285750">
              <a:buFont typeface="Arial" panose="020B0604020202020204" pitchFamily="34" charset="0"/>
              <a:buChar char="•"/>
            </a:pPr>
            <a:r>
              <a:rPr lang="fr-FR" sz="1280" dirty="0" err="1">
                <a:solidFill>
                  <a:schemeClr val="bg1"/>
                </a:solidFill>
              </a:rPr>
              <a:t>Additional</a:t>
            </a:r>
            <a:r>
              <a:rPr lang="fr-FR" sz="1280" dirty="0">
                <a:solidFill>
                  <a:schemeClr val="bg1"/>
                </a:solidFill>
              </a:rPr>
              <a:t> data </a:t>
            </a:r>
            <a:r>
              <a:rPr lang="fr-FR" sz="1280" dirty="0" err="1">
                <a:solidFill>
                  <a:schemeClr val="bg1"/>
                </a:solidFill>
              </a:rPr>
              <a:t>was</a:t>
            </a:r>
            <a:r>
              <a:rPr lang="fr-FR" sz="1280" dirty="0">
                <a:solidFill>
                  <a:schemeClr val="bg1"/>
                </a:solidFill>
              </a:rPr>
              <a:t> </a:t>
            </a:r>
            <a:r>
              <a:rPr lang="fr-FR" sz="1280" dirty="0" err="1">
                <a:solidFill>
                  <a:schemeClr val="bg1"/>
                </a:solidFill>
              </a:rPr>
              <a:t>backfilled</a:t>
            </a:r>
            <a:r>
              <a:rPr lang="fr-FR" sz="1280" dirty="0">
                <a:solidFill>
                  <a:schemeClr val="bg1"/>
                </a:solidFill>
              </a:rPr>
              <a:t> </a:t>
            </a:r>
            <a:r>
              <a:rPr lang="fr-FR" sz="1280" dirty="0" err="1">
                <a:solidFill>
                  <a:schemeClr val="bg1"/>
                </a:solidFill>
              </a:rPr>
              <a:t>from</a:t>
            </a:r>
            <a:r>
              <a:rPr lang="fr-FR" sz="1280" dirty="0">
                <a:solidFill>
                  <a:schemeClr val="bg1"/>
                </a:solidFill>
              </a:rPr>
              <a:t>:</a:t>
            </a:r>
          </a:p>
          <a:p>
            <a:pPr marL="1657350" lvl="3" indent="-285750">
              <a:buFont typeface="Arial" panose="020B0604020202020204" pitchFamily="34" charset="0"/>
              <a:buChar char="•"/>
            </a:pPr>
            <a:r>
              <a:rPr lang="fr-FR" sz="1280" dirty="0">
                <a:solidFill>
                  <a:schemeClr val="bg1"/>
                </a:solidFill>
              </a:rPr>
              <a:t>/V4/</a:t>
            </a:r>
            <a:r>
              <a:rPr lang="fr-FR" sz="1280" dirty="0" err="1">
                <a:solidFill>
                  <a:schemeClr val="bg1"/>
                </a:solidFill>
              </a:rPr>
              <a:t>rockests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a:t>
            </a:r>
            <a:r>
              <a:rPr lang="fr-FR" sz="1280" dirty="0">
                <a:solidFill>
                  <a:schemeClr val="bg1"/>
                </a:solidFill>
              </a:rPr>
              <a:t>V4/</a:t>
            </a:r>
            <a:r>
              <a:rPr lang="fr-FR" sz="1280" dirty="0" err="1">
                <a:solidFill>
                  <a:schemeClr val="bg1"/>
                </a:solidFill>
              </a:rPr>
              <a:t>launchpads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a:t>
            </a:r>
            <a:r>
              <a:rPr lang="fr-FR" sz="1280" dirty="0">
                <a:solidFill>
                  <a:schemeClr val="bg1"/>
                </a:solidFill>
              </a:rPr>
              <a:t>V4/</a:t>
            </a:r>
            <a:r>
              <a:rPr lang="fr-FR" sz="1280" dirty="0" err="1">
                <a:solidFill>
                  <a:schemeClr val="bg1"/>
                </a:solidFill>
              </a:rPr>
              <a:t>playloads</a:t>
            </a:r>
            <a:endParaRPr lang="fr-FR" sz="1280" dirty="0">
              <a:solidFill>
                <a:schemeClr val="bg1"/>
              </a:solidFill>
            </a:endParaRPr>
          </a:p>
          <a:p>
            <a:pPr marL="1657350" lvl="3" indent="-285750">
              <a:buFont typeface="Arial" panose="020B0604020202020204" pitchFamily="34" charset="0"/>
              <a:buChar char="•"/>
            </a:pPr>
            <a:r>
              <a:rPr lang="fr-FR" sz="1280" dirty="0">
                <a:solidFill>
                  <a:schemeClr val="bg1"/>
                </a:solidFill>
              </a:rPr>
              <a:t>/</a:t>
            </a:r>
            <a:r>
              <a:rPr lang="fr-FR" sz="1280" dirty="0">
                <a:solidFill>
                  <a:schemeClr val="bg1"/>
                </a:solidFill>
              </a:rPr>
              <a:t>V4/</a:t>
            </a:r>
            <a:r>
              <a:rPr lang="fr-FR" sz="1280" dirty="0" err="1">
                <a:solidFill>
                  <a:schemeClr val="bg1"/>
                </a:solidFill>
              </a:rPr>
              <a:t>cores</a:t>
            </a:r>
            <a:endParaRPr lang="fr-FR" sz="1280" dirty="0">
              <a:solidFill>
                <a:schemeClr val="bg1"/>
              </a:solidFill>
            </a:endParaRPr>
          </a:p>
          <a:p>
            <a:pPr marL="1200150" lvl="2" indent="-285750">
              <a:buFont typeface="Arial" panose="020B0604020202020204" pitchFamily="34" charset="0"/>
              <a:buChar char="•"/>
            </a:pPr>
            <a:r>
              <a:rPr lang="fr-FR" sz="1280" dirty="0" err="1">
                <a:solidFill>
                  <a:schemeClr val="bg1"/>
                </a:solidFill>
              </a:rPr>
              <a:t>Tabular</a:t>
            </a:r>
            <a:r>
              <a:rPr lang="fr-FR" sz="1280" dirty="0">
                <a:solidFill>
                  <a:schemeClr val="bg1"/>
                </a:solidFill>
              </a:rPr>
              <a:t> data </a:t>
            </a:r>
            <a:r>
              <a:rPr lang="fr-FR" sz="1280" dirty="0" err="1">
                <a:solidFill>
                  <a:schemeClr val="bg1"/>
                </a:solidFill>
              </a:rPr>
              <a:t>from</a:t>
            </a:r>
            <a:r>
              <a:rPr lang="fr-FR" sz="1280" dirty="0">
                <a:solidFill>
                  <a:schemeClr val="bg1"/>
                </a:solidFill>
              </a:rPr>
              <a:t> the : </a:t>
            </a:r>
            <a:r>
              <a:rPr lang="en-US" sz="1280" dirty="0">
                <a:solidFill>
                  <a:schemeClr val="bg1"/>
                </a:solidFill>
                <a:hlinkClick r:id="rId3"/>
              </a:rPr>
              <a:t>List of Falcon 9 and Falcon Heavy launches </a:t>
            </a:r>
            <a:r>
              <a:rPr lang="en-US" sz="1280" dirty="0">
                <a:solidFill>
                  <a:schemeClr val="bg1"/>
                </a:solidFill>
                <a:hlinkClick r:id="rId3"/>
              </a:rPr>
              <a:t>– Wikipedia</a:t>
            </a:r>
            <a:r>
              <a:rPr lang="en-US" sz="1280" dirty="0">
                <a:solidFill>
                  <a:schemeClr val="bg1"/>
                </a:solidFill>
              </a:rPr>
              <a:t> page.</a:t>
            </a:r>
            <a:endParaRPr lang="en-US" sz="1280" dirty="0">
              <a:solidFill>
                <a:schemeClr val="bg1"/>
              </a:solidFill>
            </a:endParaRPr>
          </a:p>
        </p:txBody>
      </p:sp>
    </p:spTree>
    <p:extLst>
      <p:ext uri="{BB962C8B-B14F-4D97-AF65-F5344CB8AC3E}">
        <p14:creationId xmlns:p14="http://schemas.microsoft.com/office/powerpoint/2010/main" val="102834960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Data </a:t>
            </a:r>
            <a:r>
              <a:rPr lang="fr-FR" sz="3900" b="1" dirty="0">
                <a:solidFill>
                  <a:srgbClr val="FFFFFF"/>
                </a:solidFill>
                <a:latin typeface="Orbitron"/>
              </a:rPr>
              <a:t>c</a:t>
            </a:r>
            <a:r>
              <a:rPr lang="fr-FR" sz="3900" b="1" i="0" u="none" dirty="0" smtClean="0">
                <a:solidFill>
                  <a:srgbClr val="FFFFFF"/>
                </a:solidFill>
                <a:latin typeface="Orbitron"/>
              </a:rPr>
              <a:t>ollection, </a:t>
            </a:r>
            <a:r>
              <a:rPr lang="fr-FR" sz="3900" b="1" i="0" u="none" dirty="0" err="1" smtClean="0">
                <a:solidFill>
                  <a:srgbClr val="FFFFFF"/>
                </a:solidFill>
                <a:latin typeface="Orbitron"/>
              </a:rPr>
              <a:t>wrangling</a:t>
            </a:r>
            <a:r>
              <a:rPr lang="fr-FR" sz="3900" b="1" dirty="0">
                <a:solidFill>
                  <a:srgbClr val="FFFFFF"/>
                </a:solidFill>
                <a:latin typeface="Orbitron"/>
              </a:rPr>
              <a:t> </a:t>
            </a:r>
            <a:r>
              <a:rPr lang="fr-FR" sz="3900" b="1" dirty="0" smtClean="0">
                <a:solidFill>
                  <a:srgbClr val="FFFFFF"/>
                </a:solidFill>
                <a:latin typeface="Orbitron"/>
              </a:rPr>
              <a:t>and </a:t>
            </a:r>
            <a:r>
              <a:rPr lang="fr-FR" sz="3900" b="1" dirty="0" err="1" smtClean="0">
                <a:solidFill>
                  <a:srgbClr val="FFFFFF"/>
                </a:solidFill>
                <a:latin typeface="Orbitron"/>
              </a:rPr>
              <a:t>formating</a:t>
            </a:r>
            <a:endParaRPr sz="3900" b="1" i="0" u="none" dirty="0">
              <a:solidFill>
                <a:srgbClr val="FFFFFF"/>
              </a:solidFill>
              <a:latin typeface="Orbitro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398" y="3668438"/>
            <a:ext cx="9857232" cy="2594008"/>
          </a:xfrm>
          <a:prstGeom prst="rect">
            <a:avLst/>
          </a:prstGeom>
        </p:spPr>
      </p:pic>
      <p:sp>
        <p:nvSpPr>
          <p:cNvPr id="8" name="TextBox 7"/>
          <p:cNvSpPr txBox="1"/>
          <p:nvPr/>
        </p:nvSpPr>
        <p:spPr>
          <a:xfrm>
            <a:off x="820615" y="1688122"/>
            <a:ext cx="10426505" cy="1274195"/>
          </a:xfrm>
          <a:prstGeom prst="rect">
            <a:avLst/>
          </a:prstGeom>
          <a:noFill/>
        </p:spPr>
        <p:txBody>
          <a:bodyPr wrap="square" rtlCol="0">
            <a:spAutoFit/>
          </a:bodyPr>
          <a:lstStyle/>
          <a:p>
            <a:r>
              <a:rPr lang="en-US" sz="1280" dirty="0">
                <a:solidFill>
                  <a:schemeClr val="bg1"/>
                </a:solidFill>
              </a:rPr>
              <a:t>The primary data source for this project was the </a:t>
            </a:r>
            <a:r>
              <a:rPr lang="en-US" sz="1280" dirty="0" err="1">
                <a:solidFill>
                  <a:schemeClr val="bg1"/>
                </a:solidFill>
              </a:rPr>
              <a:t>SpaceX</a:t>
            </a:r>
            <a:r>
              <a:rPr lang="en-US" sz="1280" dirty="0">
                <a:solidFill>
                  <a:schemeClr val="bg1"/>
                </a:solidFill>
              </a:rPr>
              <a:t> API, provided through the Coursera platform at https://api.spacexdata.com/v4/rockets/. We utilized this API to retrieve launch records; however, as our analysis focuses exclusively on Falcon 9 missions, the data was filtered accordingly to include only Falcon 9 launches.</a:t>
            </a:r>
          </a:p>
          <a:p>
            <a:endParaRPr lang="en-US" sz="1280" dirty="0">
              <a:solidFill>
                <a:schemeClr val="bg1"/>
              </a:solidFill>
            </a:endParaRPr>
          </a:p>
          <a:p>
            <a:r>
              <a:rPr lang="en-US" sz="1280" dirty="0">
                <a:solidFill>
                  <a:schemeClr val="bg1"/>
                </a:solidFill>
              </a:rPr>
              <a:t>During the data cleaning process, missing values were handled by imputing the mean of the respective columns. After preprocessing, the final cleaned dataset comprised 90 launch records (rows) and 17 features (columns). </a:t>
            </a:r>
            <a:r>
              <a:rPr lang="en-US" sz="1280" dirty="0">
                <a:solidFill>
                  <a:schemeClr val="bg1"/>
                </a:solidFill>
              </a:rPr>
              <a:t>A preview of the dataset following cleaning is presented below</a:t>
            </a:r>
            <a:r>
              <a:rPr lang="en-US" sz="1280" dirty="0" smtClean="0">
                <a:solidFill>
                  <a:schemeClr val="bg1"/>
                </a:solidFill>
              </a:rPr>
              <a:t>.</a:t>
            </a:r>
          </a:p>
        </p:txBody>
      </p:sp>
      <p:sp>
        <p:nvSpPr>
          <p:cNvPr id="12" name="TextBox 11"/>
          <p:cNvSpPr txBox="1"/>
          <p:nvPr/>
        </p:nvSpPr>
        <p:spPr>
          <a:xfrm>
            <a:off x="1127664" y="3172859"/>
            <a:ext cx="4705350" cy="209550"/>
          </a:xfrm>
          <a:prstGeom prst="rect">
            <a:avLst/>
          </a:prstGeom>
          <a:noFill/>
        </p:spPr>
        <p:txBody>
          <a:bodyPr wrap="square" lIns="0" tIns="0" rIns="0" bIns="0" anchor="ctr">
            <a:spAutoFit/>
          </a:bodyPr>
          <a:lstStyle/>
          <a:p>
            <a:pPr algn="l"/>
            <a:r>
              <a:rPr sz="1125" b="0" i="0" u="none" dirty="0">
                <a:solidFill>
                  <a:srgbClr val="FFFFFF"/>
                </a:solidFill>
                <a:latin typeface="Plus Jakarta Sans SemiBold"/>
              </a:rPr>
              <a:t> github.com/</a:t>
            </a:r>
            <a:r>
              <a:rPr sz="1125" b="0" i="0" u="none" dirty="0" err="1">
                <a:solidFill>
                  <a:srgbClr val="FFFFFF"/>
                </a:solidFill>
                <a:latin typeface="Plus Jakarta Sans SemiBold"/>
              </a:rPr>
              <a:t>LahcenAmroune</a:t>
            </a:r>
            <a:r>
              <a:rPr sz="1125" b="0" i="0" u="none" dirty="0">
                <a:solidFill>
                  <a:srgbClr val="FFFFFF"/>
                </a:solidFill>
                <a:latin typeface="Plus Jakarta Sans SemiBold"/>
              </a:rPr>
              <a:t>/Applied-Data-Science-Capstone</a:t>
            </a:r>
          </a:p>
        </p:txBody>
      </p:sp>
    </p:spTree>
    <p:extLst>
      <p:ext uri="{BB962C8B-B14F-4D97-AF65-F5344CB8AC3E}">
        <p14:creationId xmlns:p14="http://schemas.microsoft.com/office/powerpoint/2010/main" val="11766406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a:solidFill>
                  <a:srgbClr val="FFFFFF"/>
                </a:solidFill>
                <a:latin typeface="Orbitron"/>
              </a:rPr>
              <a:t>Data collection, wrangling and </a:t>
            </a:r>
            <a:r>
              <a:rPr lang="en-US" sz="3900" b="1" dirty="0" err="1">
                <a:solidFill>
                  <a:srgbClr val="FFFFFF"/>
                </a:solidFill>
                <a:latin typeface="Orbitron"/>
              </a:rPr>
              <a:t>formating</a:t>
            </a:r>
            <a:endParaRPr lang="en-US" sz="3900" b="1" dirty="0">
              <a:solidFill>
                <a:srgbClr val="FFFFFF"/>
              </a:solidFill>
              <a:latin typeface="Orbitron"/>
            </a:endParaRP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3299" y="4144179"/>
            <a:ext cx="9861135" cy="1870164"/>
          </a:xfrm>
          <a:prstGeom prst="rect">
            <a:avLst/>
          </a:prstGeom>
        </p:spPr>
      </p:pic>
      <p:sp>
        <p:nvSpPr>
          <p:cNvPr id="8" name="TextBox 7"/>
          <p:cNvSpPr txBox="1"/>
          <p:nvPr/>
        </p:nvSpPr>
        <p:spPr>
          <a:xfrm>
            <a:off x="820615" y="1688122"/>
            <a:ext cx="10426505" cy="2456057"/>
          </a:xfrm>
          <a:prstGeom prst="rect">
            <a:avLst/>
          </a:prstGeom>
          <a:noFill/>
        </p:spPr>
        <p:txBody>
          <a:bodyPr wrap="square" rtlCol="0">
            <a:spAutoFit/>
          </a:bodyPr>
          <a:lstStyle/>
          <a:p>
            <a:r>
              <a:rPr lang="en-US" sz="1280" dirty="0" smtClean="0">
                <a:solidFill>
                  <a:schemeClr val="bg1"/>
                </a:solidFill>
              </a:rPr>
              <a:t>In </a:t>
            </a:r>
            <a:r>
              <a:rPr lang="en-US" sz="1280" dirty="0">
                <a:solidFill>
                  <a:schemeClr val="bg1"/>
                </a:solidFill>
              </a:rPr>
              <a:t>addition to the API data, we also collected information through web scraping. The source used was the Wikipedia page dedicated to Falcon 9 and Falcon Heavy launches, accessible at the following URL:</a:t>
            </a:r>
          </a:p>
          <a:p>
            <a:r>
              <a:rPr lang="en-US" sz="1280" dirty="0">
                <a:solidFill>
                  <a:schemeClr val="bg1"/>
                </a:solidFill>
              </a:rPr>
              <a:t>https://en.wikipedia.org/w/index.php?title=list_of_falcon_9_and_falcon_heavy_launches&amp;oldid=1027686922</a:t>
            </a:r>
          </a:p>
          <a:p>
            <a:endParaRPr lang="en-US" sz="1280" dirty="0">
              <a:solidFill>
                <a:schemeClr val="bg1"/>
              </a:solidFill>
            </a:endParaRPr>
          </a:p>
          <a:p>
            <a:r>
              <a:rPr lang="en-US" sz="1280" dirty="0">
                <a:solidFill>
                  <a:schemeClr val="bg1"/>
                </a:solidFill>
              </a:rPr>
              <a:t>This page was specifically chosen because it contains data exclusively related to Falcon 9 launches, making it directly relevant to our analysis. After extracting and processing the scraped data, we obtained a cleaned dataset consisting of 121 launch records (rows) and 11 features (columns).</a:t>
            </a:r>
          </a:p>
          <a:p>
            <a:endParaRPr lang="en-US" sz="1280" dirty="0">
              <a:solidFill>
                <a:schemeClr val="bg1"/>
              </a:solidFill>
            </a:endParaRPr>
          </a:p>
          <a:p>
            <a:r>
              <a:rPr lang="en-US" sz="1280" dirty="0">
                <a:solidFill>
                  <a:schemeClr val="bg1"/>
                </a:solidFill>
              </a:rPr>
              <a:t>A sample of the first few entries from this dataset is shown in the table below.</a:t>
            </a:r>
          </a:p>
          <a:p>
            <a:endParaRPr lang="en-US" sz="1280" dirty="0">
              <a:solidFill>
                <a:schemeClr val="bg1"/>
              </a:solidFill>
            </a:endParaRPr>
          </a:p>
          <a:p>
            <a:r>
              <a:rPr lang="en-US" sz="1280" dirty="0">
                <a:solidFill>
                  <a:schemeClr val="bg1"/>
                </a:solidFill>
              </a:rPr>
              <a:t>Let me know if you need any adjustments!</a:t>
            </a:r>
          </a:p>
          <a:p>
            <a:endParaRPr lang="en-US" sz="1280" dirty="0">
              <a:solidFill>
                <a:schemeClr val="bg1"/>
              </a:solidFill>
            </a:endParaRPr>
          </a:p>
          <a:p>
            <a:endParaRPr lang="en-US" sz="1280" dirty="0">
              <a:solidFill>
                <a:schemeClr val="bg1"/>
              </a:solidFill>
            </a:endParaRPr>
          </a:p>
        </p:txBody>
      </p:sp>
    </p:spTree>
    <p:extLst>
      <p:ext uri="{BB962C8B-B14F-4D97-AF65-F5344CB8AC3E}">
        <p14:creationId xmlns:p14="http://schemas.microsoft.com/office/powerpoint/2010/main" val="71860722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1016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a:solidFill>
                  <a:srgbClr val="FFFFFF"/>
                </a:solidFill>
                <a:latin typeface="Orbitron"/>
              </a:rPr>
              <a:t>Data collection, wrangling and </a:t>
            </a:r>
            <a:r>
              <a:rPr lang="en-US" sz="3900" b="1" dirty="0" err="1">
                <a:solidFill>
                  <a:srgbClr val="FFFFFF"/>
                </a:solidFill>
                <a:latin typeface="Orbitron"/>
              </a:rPr>
              <a:t>formating</a:t>
            </a:r>
            <a:endParaRPr lang="en-US"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810" y="1874008"/>
            <a:ext cx="2552829" cy="2908454"/>
          </a:xfrm>
          <a:prstGeom prst="rect">
            <a:avLst/>
          </a:prstGeom>
        </p:spPr>
      </p:pic>
      <p:sp>
        <p:nvSpPr>
          <p:cNvPr id="8" name="TextBox 7"/>
          <p:cNvSpPr txBox="1"/>
          <p:nvPr/>
        </p:nvSpPr>
        <p:spPr>
          <a:xfrm>
            <a:off x="820615" y="1688122"/>
            <a:ext cx="6240585" cy="2850011"/>
          </a:xfrm>
          <a:prstGeom prst="rect">
            <a:avLst/>
          </a:prstGeom>
          <a:noFill/>
        </p:spPr>
        <p:txBody>
          <a:bodyPr wrap="square" rtlCol="0">
            <a:spAutoFit/>
          </a:bodyPr>
          <a:lstStyle/>
          <a:p>
            <a:r>
              <a:rPr lang="en-US" sz="1280" dirty="0" smtClean="0">
                <a:solidFill>
                  <a:schemeClr val="bg1"/>
                </a:solidFill>
              </a:rPr>
              <a:t>This phase </a:t>
            </a:r>
            <a:r>
              <a:rPr lang="en-US" sz="1280" dirty="0">
                <a:solidFill>
                  <a:schemeClr val="bg1"/>
                </a:solidFill>
              </a:rPr>
              <a:t>was structured around two main goals: uncovering patterns in the launch data, and preparing the target label for supervised learning.</a:t>
            </a:r>
          </a:p>
          <a:p>
            <a:endParaRPr lang="en-US" sz="1280" dirty="0">
              <a:solidFill>
                <a:schemeClr val="bg1"/>
              </a:solidFill>
            </a:endParaRPr>
          </a:p>
          <a:p>
            <a:r>
              <a:rPr lang="en-US" sz="1280" dirty="0">
                <a:solidFill>
                  <a:schemeClr val="bg1"/>
                </a:solidFill>
              </a:rPr>
              <a:t>To accomplish this, we followed a systematic process:</a:t>
            </a:r>
          </a:p>
          <a:p>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Data Assessment – We began by checking for missing values, calculating the percentage of nulls per attribute, and classifying each column as either numerical or </a:t>
            </a:r>
            <a:r>
              <a:rPr lang="en-US" sz="1280" dirty="0" smtClean="0">
                <a:solidFill>
                  <a:schemeClr val="bg1"/>
                </a:solidFill>
              </a:rPr>
              <a:t>categorical.</a:t>
            </a:r>
          </a:p>
          <a:p>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Distribution </a:t>
            </a:r>
            <a:r>
              <a:rPr lang="en-US" sz="1280" dirty="0">
                <a:solidFill>
                  <a:schemeClr val="bg1"/>
                </a:solidFill>
              </a:rPr>
              <a:t>Analysis – We then examined the spread of launches across different launch sites and orbit types to understand the composition of the </a:t>
            </a:r>
            <a:r>
              <a:rPr lang="en-US" sz="1280" dirty="0" smtClean="0">
                <a:solidFill>
                  <a:schemeClr val="bg1"/>
                </a:solidFill>
              </a:rPr>
              <a:t>dataset.</a:t>
            </a:r>
          </a:p>
          <a:p>
            <a:endParaRPr lang="en-US" sz="1280" dirty="0" smtClean="0">
              <a:solidFill>
                <a:schemeClr val="bg1"/>
              </a:solidFill>
            </a:endParaRPr>
          </a:p>
          <a:p>
            <a:pPr marL="285750" indent="-285750">
              <a:buFont typeface="Arial" panose="020B0604020202020204" pitchFamily="34" charset="0"/>
              <a:buChar char="•"/>
            </a:pPr>
            <a:r>
              <a:rPr lang="en-US" sz="1280" dirty="0" smtClean="0">
                <a:solidFill>
                  <a:schemeClr val="bg1"/>
                </a:solidFill>
              </a:rPr>
              <a:t>Outcome </a:t>
            </a:r>
            <a:r>
              <a:rPr lang="en-US" sz="1280" dirty="0">
                <a:solidFill>
                  <a:schemeClr val="bg1"/>
                </a:solidFill>
              </a:rPr>
              <a:t>Preparation – Finally, we explored mission outcomes, grouped them into binary categories (success or failure), and stored the result as a "Class" label, which served as the target variable for training our models.</a:t>
            </a:r>
            <a:endParaRPr lang="en-US" sz="1280" dirty="0">
              <a:solidFill>
                <a:schemeClr val="bg1"/>
              </a:solidFill>
            </a:endParaRPr>
          </a:p>
        </p:txBody>
      </p:sp>
      <p:sp>
        <p:nvSpPr>
          <p:cNvPr id="9" name="Rounded Rectangle 8"/>
          <p:cNvSpPr/>
          <p:nvPr/>
        </p:nvSpPr>
        <p:spPr>
          <a:xfrm>
            <a:off x="628650" y="4859535"/>
            <a:ext cx="5486400" cy="494238"/>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4905486"/>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https://github.com/LahcenAmroune/Applied-Data-Science-Capstone/blob/main/jupyter-labs-spacex-data-collection-api.ipynb</a:t>
            </a:r>
            <a:endParaRPr sz="1125" b="0" i="0" u="none" dirty="0">
              <a:solidFill>
                <a:srgbClr val="FFFFFF"/>
              </a:solidFill>
              <a:latin typeface="Plus Jakarta Sans SemiBold"/>
            </a:endParaRPr>
          </a:p>
        </p:txBody>
      </p:sp>
      <p:pic>
        <p:nvPicPr>
          <p:cNvPr id="11" name="Picture 10" descr="image.png"/>
          <p:cNvPicPr>
            <a:picLocks noChangeAspect="1"/>
          </p:cNvPicPr>
          <p:nvPr/>
        </p:nvPicPr>
        <p:blipFill>
          <a:blip r:embed="rId4"/>
          <a:stretch>
            <a:fillRect/>
          </a:stretch>
        </p:blipFill>
        <p:spPr>
          <a:xfrm>
            <a:off x="857250" y="4983360"/>
            <a:ext cx="180975" cy="190500"/>
          </a:xfrm>
          <a:prstGeom prst="rect">
            <a:avLst/>
          </a:prstGeom>
        </p:spPr>
      </p:pic>
      <p:pic>
        <p:nvPicPr>
          <p:cNvPr id="12" name="Picture 11" descr="image.png"/>
          <p:cNvPicPr>
            <a:picLocks noChangeAspect="1"/>
          </p:cNvPicPr>
          <p:nvPr/>
        </p:nvPicPr>
        <p:blipFill>
          <a:blip r:embed="rId5"/>
          <a:stretch>
            <a:fillRect/>
          </a:stretch>
        </p:blipFill>
        <p:spPr>
          <a:xfrm>
            <a:off x="5715000" y="5016698"/>
            <a:ext cx="123825" cy="123825"/>
          </a:xfrm>
          <a:prstGeom prst="rect">
            <a:avLst/>
          </a:prstGeom>
        </p:spPr>
      </p:pic>
      <p:sp>
        <p:nvSpPr>
          <p:cNvPr id="13" name="Rounded Rectangle 12"/>
          <p:cNvSpPr/>
          <p:nvPr/>
        </p:nvSpPr>
        <p:spPr>
          <a:xfrm>
            <a:off x="628650" y="5538004"/>
            <a:ext cx="5534025" cy="481397"/>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90625" y="5583956"/>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https://github.com/LahcenAmroune/Applied-Data-Science-Capstone/blob/main/jupyter-labs-webscraping.ipynb</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4"/>
          <a:stretch>
            <a:fillRect/>
          </a:stretch>
        </p:blipFill>
        <p:spPr>
          <a:xfrm>
            <a:off x="904875" y="5661830"/>
            <a:ext cx="180975" cy="190500"/>
          </a:xfrm>
          <a:prstGeom prst="rect">
            <a:avLst/>
          </a:prstGeom>
        </p:spPr>
      </p:pic>
      <p:pic>
        <p:nvPicPr>
          <p:cNvPr id="16" name="Picture 15" descr="image.png"/>
          <p:cNvPicPr>
            <a:picLocks noChangeAspect="1"/>
          </p:cNvPicPr>
          <p:nvPr/>
        </p:nvPicPr>
        <p:blipFill>
          <a:blip r:embed="rId5"/>
          <a:stretch>
            <a:fillRect/>
          </a:stretch>
        </p:blipFill>
        <p:spPr>
          <a:xfrm>
            <a:off x="5762625" y="5695168"/>
            <a:ext cx="123825" cy="123825"/>
          </a:xfrm>
          <a:prstGeom prst="rect">
            <a:avLst/>
          </a:prstGeom>
        </p:spPr>
      </p:pic>
      <p:sp>
        <p:nvSpPr>
          <p:cNvPr id="38" name="Rounded Rectangle 37"/>
          <p:cNvSpPr/>
          <p:nvPr/>
        </p:nvSpPr>
        <p:spPr>
          <a:xfrm>
            <a:off x="628650" y="6176564"/>
            <a:ext cx="5534025" cy="498556"/>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190624" y="6234840"/>
            <a:ext cx="4924426"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https://github.com/LahcenAmroune/Applied-Data-Science-Capstone/blob/main/labs-jupyter-spacex-Data%20wrangling.ipynb</a:t>
            </a:r>
            <a:endParaRPr sz="1125" b="0" i="0" u="none" dirty="0">
              <a:solidFill>
                <a:srgbClr val="FFFFFF"/>
              </a:solidFill>
              <a:latin typeface="Plus Jakarta Sans SemiBold"/>
            </a:endParaRPr>
          </a:p>
        </p:txBody>
      </p:sp>
      <p:pic>
        <p:nvPicPr>
          <p:cNvPr id="40" name="Picture 39" descr="image.png"/>
          <p:cNvPicPr>
            <a:picLocks noChangeAspect="1"/>
          </p:cNvPicPr>
          <p:nvPr/>
        </p:nvPicPr>
        <p:blipFill>
          <a:blip r:embed="rId4"/>
          <a:stretch>
            <a:fillRect/>
          </a:stretch>
        </p:blipFill>
        <p:spPr>
          <a:xfrm>
            <a:off x="904875" y="6300389"/>
            <a:ext cx="180975" cy="190500"/>
          </a:xfrm>
          <a:prstGeom prst="rect">
            <a:avLst/>
          </a:prstGeom>
        </p:spPr>
      </p:pic>
      <p:pic>
        <p:nvPicPr>
          <p:cNvPr id="41" name="Picture 40" descr="image.png"/>
          <p:cNvPicPr>
            <a:picLocks noChangeAspect="1"/>
          </p:cNvPicPr>
          <p:nvPr/>
        </p:nvPicPr>
        <p:blipFill>
          <a:blip r:embed="rId5"/>
          <a:stretch>
            <a:fillRect/>
          </a:stretch>
        </p:blipFill>
        <p:spPr>
          <a:xfrm>
            <a:off x="5762625" y="6333727"/>
            <a:ext cx="123825" cy="123825"/>
          </a:xfrm>
          <a:prstGeom prst="rect">
            <a:avLst/>
          </a:prstGeom>
        </p:spPr>
      </p:pic>
    </p:spTree>
    <p:extLst>
      <p:ext uri="{BB962C8B-B14F-4D97-AF65-F5344CB8AC3E}">
        <p14:creationId xmlns:p14="http://schemas.microsoft.com/office/powerpoint/2010/main" val="132955516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Exploratory</a:t>
            </a:r>
            <a:r>
              <a:rPr lang="fr-FR" sz="3900" b="1" i="0" u="none" dirty="0" smtClean="0">
                <a:solidFill>
                  <a:srgbClr val="FFFFFF"/>
                </a:solidFill>
                <a:latin typeface="Orbitron"/>
              </a:rPr>
              <a:t> Data </a:t>
            </a:r>
            <a:r>
              <a:rPr lang="fr-FR" sz="3900" b="1" i="0" u="none" dirty="0" err="1" smtClean="0">
                <a:solidFill>
                  <a:srgbClr val="FFFFFF"/>
                </a:solidFill>
                <a:latin typeface="Orbitron"/>
              </a:rPr>
              <a:t>Analysis</a:t>
            </a:r>
            <a:r>
              <a:rPr lang="fr-FR" sz="3900" b="1" i="0" u="none" dirty="0" smtClean="0">
                <a:solidFill>
                  <a:srgbClr val="FFFFFF"/>
                </a:solidFill>
                <a:latin typeface="Orbitron"/>
              </a:rPr>
              <a:t> (EDA)</a:t>
            </a:r>
            <a:endParaRPr sz="3900" b="1" i="0" u="none" dirty="0">
              <a:solidFill>
                <a:srgbClr val="FFFFFF"/>
              </a:solidFill>
              <a:latin typeface="Orbitron"/>
            </a:endParaRPr>
          </a:p>
        </p:txBody>
      </p:sp>
      <p:sp>
        <p:nvSpPr>
          <p:cNvPr id="7" name="TextBox 6"/>
          <p:cNvSpPr txBox="1"/>
          <p:nvPr/>
        </p:nvSpPr>
        <p:spPr>
          <a:xfrm>
            <a:off x="360897" y="1874008"/>
            <a:ext cx="11195886" cy="4136517"/>
          </a:xfrm>
          <a:prstGeom prst="rect">
            <a:avLst/>
          </a:prstGeom>
          <a:noFill/>
        </p:spPr>
        <p:txBody>
          <a:bodyPr wrap="square" lIns="0" tIns="0" rIns="0" bIns="0" anchor="t">
            <a:spAutoFit/>
          </a:bodyPr>
          <a:lstStyle/>
          <a:p>
            <a:r>
              <a:rPr lang="en-US" sz="1280" b="1" dirty="0" smtClean="0">
                <a:solidFill>
                  <a:schemeClr val="bg1"/>
                </a:solidFill>
              </a:rPr>
              <a:t>Data Processing &amp; Analysis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Libraries: Pandas, </a:t>
            </a:r>
            <a:r>
              <a:rPr lang="en-US" sz="1280" dirty="0" err="1">
                <a:solidFill>
                  <a:schemeClr val="bg1"/>
                </a:solidFill>
              </a:rPr>
              <a:t>NumPy</a:t>
            </a:r>
            <a:r>
              <a:rPr lang="en-US" sz="1280" dirty="0">
                <a:solidFill>
                  <a:schemeClr val="bg1"/>
                </a:solidFill>
              </a:rPr>
              <a:t>, and SQL.</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Pandas/</a:t>
            </a:r>
            <a:r>
              <a:rPr lang="en-US" sz="1280" dirty="0" err="1">
                <a:solidFill>
                  <a:schemeClr val="bg1"/>
                </a:solidFill>
              </a:rPr>
              <a:t>NumPy</a:t>
            </a:r>
            <a:r>
              <a:rPr lang="en-US" sz="1280" dirty="0">
                <a:solidFill>
                  <a:schemeClr val="bg1"/>
                </a:solidFill>
              </a:rPr>
              <a:t>: Used for initial data exploration, generating summary statistics on launch sites, orbit types, and mission outcomes.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SQL: Employed for targeted queries to extract specific insights, such as unique launch sites, total payload mass for NASA (CRS) missions, and average payload mass for the F9 v1.1 booster.</a:t>
            </a:r>
          </a:p>
          <a:p>
            <a:endParaRPr lang="en-US" sz="1280" dirty="0">
              <a:solidFill>
                <a:schemeClr val="bg1"/>
              </a:solidFill>
            </a:endParaRPr>
          </a:p>
          <a:p>
            <a:r>
              <a:rPr lang="en-US" sz="1280" b="1" dirty="0">
                <a:solidFill>
                  <a:schemeClr val="bg1"/>
                </a:solidFill>
              </a:rPr>
              <a:t>Data Visualization</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Libraries: </a:t>
            </a:r>
            <a:r>
              <a:rPr lang="en-US" sz="1280" dirty="0" err="1">
                <a:solidFill>
                  <a:schemeClr val="bg1"/>
                </a:solidFill>
              </a:rPr>
              <a:t>Matplotlib</a:t>
            </a:r>
            <a:r>
              <a:rPr lang="en-US" sz="1280" dirty="0">
                <a:solidFill>
                  <a:schemeClr val="bg1"/>
                </a:solidFill>
              </a:rPr>
              <a:t>, </a:t>
            </a:r>
            <a:r>
              <a:rPr lang="en-US" sz="1280" dirty="0" err="1">
                <a:solidFill>
                  <a:schemeClr val="bg1"/>
                </a:solidFill>
              </a:rPr>
              <a:t>Seaborn</a:t>
            </a:r>
            <a:r>
              <a:rPr lang="en-US" sz="1280" dirty="0">
                <a:solidFill>
                  <a:schemeClr val="bg1"/>
                </a:solidFill>
              </a:rPr>
              <a:t>, Folium, and Dash.</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err="1">
                <a:solidFill>
                  <a:schemeClr val="bg1"/>
                </a:solidFill>
              </a:rPr>
              <a:t>Matplotlib</a:t>
            </a:r>
            <a:r>
              <a:rPr lang="en-US" sz="1280" dirty="0">
                <a:solidFill>
                  <a:schemeClr val="bg1"/>
                </a:solidFill>
              </a:rPr>
              <a:t>/</a:t>
            </a:r>
            <a:r>
              <a:rPr lang="en-US" sz="1280" dirty="0" err="1">
                <a:solidFill>
                  <a:schemeClr val="bg1"/>
                </a:solidFill>
              </a:rPr>
              <a:t>Seaborn</a:t>
            </a:r>
            <a:r>
              <a:rPr lang="en-US" sz="1280" dirty="0">
                <a:solidFill>
                  <a:schemeClr val="bg1"/>
                </a:solidFill>
              </a:rPr>
              <a:t>: Create static charts (scatter, bar, line) to visualize relationships between flight numbers, payload mass, launch sites, and orbit success rates.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Folium: Generates interactive maps to pinpoint launch sites, visualize mission outcomes (success/failure) per site, and measure distances to nearby infrastructure (cities, railways, highways).</a:t>
            </a:r>
          </a:p>
          <a:p>
            <a:pPr marL="285750" indent="-285750">
              <a:buFont typeface="Arial" panose="020B0604020202020204" pitchFamily="34" charset="0"/>
              <a:buChar char="•"/>
            </a:pPr>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Dash: Powers an interactive dashboard featuring dropdowns and sliders, allowing users to explore total successful launches per site and the correlation between payload mass and mission outcome.</a:t>
            </a:r>
          </a:p>
          <a:p>
            <a:pPr marL="285750" indent="-285750">
              <a:buFont typeface="Arial" panose="020B0604020202020204" pitchFamily="34" charset="0"/>
              <a:buChar char="•"/>
            </a:pPr>
            <a:endParaRPr lang="en-US" sz="1280" dirty="0">
              <a:solidFill>
                <a:schemeClr val="bg1"/>
              </a:solidFill>
            </a:endParaRPr>
          </a:p>
        </p:txBody>
      </p:sp>
    </p:spTree>
    <p:extLst>
      <p:ext uri="{BB962C8B-B14F-4D97-AF65-F5344CB8AC3E}">
        <p14:creationId xmlns:p14="http://schemas.microsoft.com/office/powerpoint/2010/main" val="28172942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Exploratory</a:t>
            </a:r>
            <a:r>
              <a:rPr lang="fr-FR" sz="3900" b="1" i="0" u="none" dirty="0" smtClean="0">
                <a:solidFill>
                  <a:srgbClr val="FFFFFF"/>
                </a:solidFill>
                <a:latin typeface="Orbitron"/>
              </a:rPr>
              <a:t> Data </a:t>
            </a:r>
            <a:r>
              <a:rPr lang="fr-FR" sz="3900" b="1" i="0" u="none" dirty="0" err="1" smtClean="0">
                <a:solidFill>
                  <a:srgbClr val="FFFFFF"/>
                </a:solidFill>
                <a:latin typeface="Orbitron"/>
              </a:rPr>
              <a:t>Analysis</a:t>
            </a:r>
            <a:r>
              <a:rPr lang="fr-FR" sz="3900" b="1" i="0" u="none" dirty="0" smtClean="0">
                <a:solidFill>
                  <a:srgbClr val="FFFFFF"/>
                </a:solidFill>
                <a:latin typeface="Orbitron"/>
              </a:rPr>
              <a:t> (EDA)</a:t>
            </a:r>
            <a:endParaRPr sz="3900" b="1" i="0" u="none" dirty="0">
              <a:solidFill>
                <a:srgbClr val="FFFFFF"/>
              </a:solidFill>
              <a:latin typeface="Orbitron"/>
            </a:endParaRPr>
          </a:p>
        </p:txBody>
      </p:sp>
      <p:sp>
        <p:nvSpPr>
          <p:cNvPr id="7" name="TextBox 6"/>
          <p:cNvSpPr txBox="1"/>
          <p:nvPr/>
        </p:nvSpPr>
        <p:spPr>
          <a:xfrm>
            <a:off x="360897" y="1874008"/>
            <a:ext cx="11195886" cy="1772793"/>
          </a:xfrm>
          <a:prstGeom prst="rect">
            <a:avLst/>
          </a:prstGeom>
          <a:noFill/>
        </p:spPr>
        <p:txBody>
          <a:bodyPr wrap="square" lIns="0" tIns="0" rIns="0" bIns="0" anchor="t">
            <a:spAutoFit/>
          </a:bodyPr>
          <a:lstStyle/>
          <a:p>
            <a:r>
              <a:rPr lang="en-US" sz="1280" b="1" dirty="0" smtClean="0">
                <a:solidFill>
                  <a:schemeClr val="bg1"/>
                </a:solidFill>
              </a:rPr>
              <a:t>Machine </a:t>
            </a:r>
            <a:r>
              <a:rPr lang="en-US" sz="1280" b="1" dirty="0">
                <a:solidFill>
                  <a:schemeClr val="bg1"/>
                </a:solidFill>
              </a:rPr>
              <a:t>Learning Prediction</a:t>
            </a:r>
          </a:p>
          <a:p>
            <a:endParaRPr lang="en-US" sz="1280" b="1" dirty="0">
              <a:solidFill>
                <a:schemeClr val="bg1"/>
              </a:solidFill>
            </a:endParaRPr>
          </a:p>
          <a:p>
            <a:r>
              <a:rPr lang="en-US" sz="1280" dirty="0">
                <a:solidFill>
                  <a:schemeClr val="bg1"/>
                </a:solidFill>
              </a:rPr>
              <a:t>Library: </a:t>
            </a:r>
            <a:r>
              <a:rPr lang="en-US" sz="1280" dirty="0" err="1">
                <a:solidFill>
                  <a:schemeClr val="bg1"/>
                </a:solidFill>
              </a:rPr>
              <a:t>Scikit</a:t>
            </a:r>
            <a:r>
              <a:rPr lang="en-US" sz="1280" dirty="0">
                <a:solidFill>
                  <a:schemeClr val="bg1"/>
                </a:solidFill>
              </a:rPr>
              <a:t>-learn.</a:t>
            </a:r>
          </a:p>
          <a:p>
            <a:endParaRPr lang="en-US" sz="1280" dirty="0">
              <a:solidFill>
                <a:schemeClr val="bg1"/>
              </a:solidFill>
            </a:endParaRPr>
          </a:p>
          <a:p>
            <a:r>
              <a:rPr lang="en-US" sz="1280" dirty="0">
                <a:solidFill>
                  <a:schemeClr val="bg1"/>
                </a:solidFill>
              </a:rPr>
              <a:t>Process: The workflow includes data standardization and splitting data into training/testing sets.</a:t>
            </a:r>
          </a:p>
          <a:p>
            <a:endParaRPr lang="en-US" sz="1280" dirty="0">
              <a:solidFill>
                <a:schemeClr val="bg1"/>
              </a:solidFill>
            </a:endParaRPr>
          </a:p>
          <a:p>
            <a:r>
              <a:rPr lang="en-US" sz="1280" dirty="0">
                <a:solidFill>
                  <a:schemeClr val="bg1"/>
                </a:solidFill>
              </a:rPr>
              <a:t>Models: Implements Logistic Regression, SVM, Decision Trees, and KNN.</a:t>
            </a:r>
          </a:p>
          <a:p>
            <a:endParaRPr lang="en-US" sz="1280" dirty="0">
              <a:solidFill>
                <a:schemeClr val="bg1"/>
              </a:solidFill>
            </a:endParaRPr>
          </a:p>
          <a:p>
            <a:r>
              <a:rPr lang="en-US" sz="1280" dirty="0">
                <a:solidFill>
                  <a:schemeClr val="bg1"/>
                </a:solidFill>
              </a:rPr>
              <a:t>Evaluation: Models are tuned via </a:t>
            </a:r>
            <a:r>
              <a:rPr lang="en-US" sz="1280" dirty="0" err="1">
                <a:solidFill>
                  <a:schemeClr val="bg1"/>
                </a:solidFill>
              </a:rPr>
              <a:t>hyperparameter</a:t>
            </a:r>
            <a:r>
              <a:rPr lang="en-US" sz="1280" dirty="0">
                <a:solidFill>
                  <a:schemeClr val="bg1"/>
                </a:solidFill>
              </a:rPr>
              <a:t> optimization and assessed using accuracy scores and confusion matrices.</a:t>
            </a:r>
            <a:endParaRPr lang="en-US" sz="1280" dirty="0" smtClean="0">
              <a:solidFill>
                <a:schemeClr val="bg1"/>
              </a:solidFill>
            </a:endParaRPr>
          </a:p>
        </p:txBody>
      </p:sp>
    </p:spTree>
    <p:extLst>
      <p:ext uri="{BB962C8B-B14F-4D97-AF65-F5344CB8AC3E}">
        <p14:creationId xmlns:p14="http://schemas.microsoft.com/office/powerpoint/2010/main" val="10298892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553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smtClean="0">
                <a:solidFill>
                  <a:srgbClr val="FFFFFF"/>
                </a:solidFill>
                <a:latin typeface="Orbitron"/>
              </a:rPr>
              <a:t>EDA </a:t>
            </a:r>
            <a:r>
              <a:rPr lang="fr-FR" sz="3900" b="1" i="0" u="none" dirty="0" err="1" smtClean="0">
                <a:solidFill>
                  <a:srgbClr val="FFFFFF"/>
                </a:solidFill>
                <a:latin typeface="Orbitron"/>
              </a:rPr>
              <a:t>with</a:t>
            </a:r>
            <a:r>
              <a:rPr lang="fr-FR" sz="3900" b="1" i="0" u="none" dirty="0" smtClean="0">
                <a:solidFill>
                  <a:srgbClr val="FFFFFF"/>
                </a:solidFill>
                <a:latin typeface="Orbitron"/>
              </a:rPr>
              <a:t> SQL</a:t>
            </a:r>
            <a:endParaRPr sz="3900" b="1" i="0" u="none" dirty="0">
              <a:solidFill>
                <a:srgbClr val="FFFFFF"/>
              </a:solidFill>
              <a:latin typeface="Orbitron"/>
            </a:endParaRPr>
          </a:p>
        </p:txBody>
      </p:sp>
      <p:sp>
        <p:nvSpPr>
          <p:cNvPr id="7" name="TextBox 6"/>
          <p:cNvSpPr txBox="1"/>
          <p:nvPr/>
        </p:nvSpPr>
        <p:spPr>
          <a:xfrm>
            <a:off x="360897" y="1862433"/>
            <a:ext cx="11195886" cy="2560701"/>
          </a:xfrm>
          <a:prstGeom prst="rect">
            <a:avLst/>
          </a:prstGeom>
          <a:noFill/>
        </p:spPr>
        <p:txBody>
          <a:bodyPr wrap="square" lIns="0" tIns="0" rIns="0" bIns="0" anchor="t">
            <a:spAutoFit/>
          </a:bodyPr>
          <a:lstStyle/>
          <a:p>
            <a:r>
              <a:rPr lang="fr-FR" sz="1280" b="1" dirty="0" smtClean="0">
                <a:solidFill>
                  <a:schemeClr val="bg1"/>
                </a:solidFill>
              </a:rPr>
              <a:t>SQL </a:t>
            </a:r>
            <a:r>
              <a:rPr lang="fr-FR" sz="1280" b="1" dirty="0" err="1" smtClean="0">
                <a:solidFill>
                  <a:schemeClr val="bg1"/>
                </a:solidFill>
              </a:rPr>
              <a:t>Queries</a:t>
            </a:r>
            <a:r>
              <a:rPr lang="fr-FR" sz="1280" b="1" dirty="0" smtClean="0">
                <a:solidFill>
                  <a:schemeClr val="bg1"/>
                </a:solidFill>
              </a:rPr>
              <a:t> :</a:t>
            </a:r>
          </a:p>
          <a:p>
            <a:endParaRPr lang="en-US" sz="1280" dirty="0">
              <a:solidFill>
                <a:schemeClr val="bg1"/>
              </a:solidFill>
            </a:endParaRP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each unique launch site</a:t>
            </a: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5 records where launch site names begin with 'CCA'</a:t>
            </a:r>
          </a:p>
          <a:p>
            <a:pPr marL="285750" indent="-285750">
              <a:buFont typeface="Arial" panose="020B0604020202020204" pitchFamily="34" charset="0"/>
              <a:buChar char="•"/>
            </a:pPr>
            <a:r>
              <a:rPr lang="en-US" sz="1280" dirty="0" smtClean="0">
                <a:solidFill>
                  <a:schemeClr val="bg1"/>
                </a:solidFill>
              </a:rPr>
              <a:t>Display </a:t>
            </a:r>
            <a:r>
              <a:rPr lang="en-US" sz="1280" dirty="0">
                <a:solidFill>
                  <a:schemeClr val="bg1"/>
                </a:solidFill>
              </a:rPr>
              <a:t>the total payload mass carried by boosters launched by 'NASA (CRS)'</a:t>
            </a:r>
          </a:p>
          <a:p>
            <a:pPr marL="285750" indent="-285750">
              <a:buFont typeface="Arial" panose="020B0604020202020204" pitchFamily="34" charset="0"/>
              <a:buChar char="•"/>
            </a:pPr>
            <a:r>
              <a:rPr lang="en-US" sz="1280" dirty="0" smtClean="0">
                <a:solidFill>
                  <a:schemeClr val="bg1"/>
                </a:solidFill>
              </a:rPr>
              <a:t>Display </a:t>
            </a:r>
            <a:r>
              <a:rPr lang="en-US" sz="1280" dirty="0">
                <a:solidFill>
                  <a:schemeClr val="bg1"/>
                </a:solidFill>
              </a:rPr>
              <a:t>the average payload mass carried by the v1.1 Falcon 9 booster</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date of the first successful ground landing outcome</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booster versions with successful outcomes landing on the drone ship with payloads between </a:t>
            </a:r>
            <a:r>
              <a:rPr lang="en-US" sz="1280" dirty="0" smtClean="0">
                <a:solidFill>
                  <a:schemeClr val="bg1"/>
                </a:solidFill>
              </a:rPr>
              <a:t>4000kg </a:t>
            </a:r>
            <a:r>
              <a:rPr lang="en-US" sz="1280" dirty="0">
                <a:solidFill>
                  <a:schemeClr val="bg1"/>
                </a:solidFill>
              </a:rPr>
              <a:t>and 6000kg.</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number of successful and failed mission outcomes</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all of the booster versions that carried the max payload mass</a:t>
            </a:r>
          </a:p>
          <a:p>
            <a:pPr marL="285750" indent="-285750">
              <a:buFont typeface="Arial" panose="020B0604020202020204" pitchFamily="34" charset="0"/>
              <a:buChar char="•"/>
            </a:pPr>
            <a:r>
              <a:rPr lang="en-US" sz="1280" dirty="0" smtClean="0">
                <a:solidFill>
                  <a:schemeClr val="bg1"/>
                </a:solidFill>
              </a:rPr>
              <a:t>List </a:t>
            </a:r>
            <a:r>
              <a:rPr lang="en-US" sz="1280" dirty="0">
                <a:solidFill>
                  <a:schemeClr val="bg1"/>
                </a:solidFill>
              </a:rPr>
              <a:t>the month name, outcome, booster version, and launch site for missions with failure outcomes landing </a:t>
            </a:r>
            <a:r>
              <a:rPr lang="en-US" sz="1280" dirty="0" smtClean="0">
                <a:solidFill>
                  <a:schemeClr val="bg1"/>
                </a:solidFill>
              </a:rPr>
              <a:t>on </a:t>
            </a:r>
            <a:r>
              <a:rPr lang="en-US" sz="1280" dirty="0">
                <a:solidFill>
                  <a:schemeClr val="bg1"/>
                </a:solidFill>
              </a:rPr>
              <a:t>a drone ship in 2015.</a:t>
            </a:r>
          </a:p>
          <a:p>
            <a:pPr marL="285750" indent="-285750">
              <a:buFont typeface="Arial" panose="020B0604020202020204" pitchFamily="34" charset="0"/>
              <a:buChar char="•"/>
            </a:pPr>
            <a:r>
              <a:rPr lang="en-US" sz="1280" dirty="0" smtClean="0">
                <a:solidFill>
                  <a:schemeClr val="bg1"/>
                </a:solidFill>
              </a:rPr>
              <a:t>Show </a:t>
            </a:r>
            <a:r>
              <a:rPr lang="en-US" sz="1280" dirty="0">
                <a:solidFill>
                  <a:schemeClr val="bg1"/>
                </a:solidFill>
              </a:rPr>
              <a:t>the distribution of outcomes between June 4th, 2010 and March 20th, 2017</a:t>
            </a:r>
          </a:p>
          <a:p>
            <a:endParaRPr lang="fr-FR" sz="1280" b="1" dirty="0" smtClean="0">
              <a:solidFill>
                <a:schemeClr val="bg1"/>
              </a:solidFill>
            </a:endParaRPr>
          </a:p>
        </p:txBody>
      </p:sp>
      <p:sp>
        <p:nvSpPr>
          <p:cNvPr id="9" name="Rounded Rectangle 8"/>
          <p:cNvSpPr/>
          <p:nvPr/>
        </p:nvSpPr>
        <p:spPr>
          <a:xfrm>
            <a:off x="581025" y="4859534"/>
            <a:ext cx="5534025" cy="497325"/>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43000" y="4905486"/>
            <a:ext cx="4705350" cy="346249"/>
          </a:xfrm>
          <a:prstGeom prst="rect">
            <a:avLst/>
          </a:prstGeom>
          <a:noFill/>
        </p:spPr>
        <p:txBody>
          <a:bodyPr wrap="square" lIns="0" tIns="0" rIns="0" bIns="0" anchor="ctr">
            <a:spAutoFit/>
          </a:bodyPr>
          <a:lstStyle/>
          <a:p>
            <a:r>
              <a:rPr lang="en-US" sz="1125" dirty="0" smtClean="0">
                <a:solidFill>
                  <a:srgbClr val="FFFFFF"/>
                </a:solidFill>
                <a:latin typeface="Plus Jakarta Sans SemiBold"/>
              </a:rPr>
              <a:t>https://github.com/LahcenAmroune/Applied-Data-Science-Capstone/blob/main/jupyter-labs-eda-sql-coursera_sqllite.ipynb</a:t>
            </a:r>
            <a:endParaRPr sz="1125" b="0" i="0" u="none" dirty="0">
              <a:solidFill>
                <a:srgbClr val="FFFFFF"/>
              </a:solidFill>
              <a:latin typeface="Plus Jakarta Sans SemiBold"/>
            </a:endParaRPr>
          </a:p>
        </p:txBody>
      </p:sp>
      <p:pic>
        <p:nvPicPr>
          <p:cNvPr id="11" name="Picture 10" descr="image.png"/>
          <p:cNvPicPr>
            <a:picLocks noChangeAspect="1"/>
          </p:cNvPicPr>
          <p:nvPr/>
        </p:nvPicPr>
        <p:blipFill>
          <a:blip r:embed="rId3"/>
          <a:stretch>
            <a:fillRect/>
          </a:stretch>
        </p:blipFill>
        <p:spPr>
          <a:xfrm>
            <a:off x="857250" y="4983360"/>
            <a:ext cx="180975" cy="190500"/>
          </a:xfrm>
          <a:prstGeom prst="rect">
            <a:avLst/>
          </a:prstGeom>
        </p:spPr>
      </p:pic>
      <p:pic>
        <p:nvPicPr>
          <p:cNvPr id="12" name="Picture 11" descr="image.png"/>
          <p:cNvPicPr>
            <a:picLocks noChangeAspect="1"/>
          </p:cNvPicPr>
          <p:nvPr/>
        </p:nvPicPr>
        <p:blipFill>
          <a:blip r:embed="rId4"/>
          <a:stretch>
            <a:fillRect/>
          </a:stretch>
        </p:blipFill>
        <p:spPr>
          <a:xfrm>
            <a:off x="5715000" y="5016698"/>
            <a:ext cx="123825" cy="123825"/>
          </a:xfrm>
          <a:prstGeom prst="rect">
            <a:avLst/>
          </a:prstGeom>
        </p:spPr>
      </p:pic>
    </p:spTree>
    <p:extLst>
      <p:ext uri="{BB962C8B-B14F-4D97-AF65-F5344CB8AC3E}">
        <p14:creationId xmlns:p14="http://schemas.microsoft.com/office/powerpoint/2010/main" val="30543759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EDA </a:t>
            </a:r>
            <a:r>
              <a:rPr lang="fr-FR" sz="3900" b="1" dirty="0" err="1" smtClean="0">
                <a:solidFill>
                  <a:srgbClr val="FFFFFF"/>
                </a:solidFill>
                <a:latin typeface="Orbitron"/>
              </a:rPr>
              <a:t>with</a:t>
            </a:r>
            <a:r>
              <a:rPr lang="fr-FR" sz="3900" b="1" dirty="0" smtClean="0">
                <a:solidFill>
                  <a:srgbClr val="FFFFFF"/>
                </a:solidFill>
                <a:latin typeface="Orbitron"/>
              </a:rPr>
              <a:t> Data </a:t>
            </a:r>
            <a:r>
              <a:rPr lang="fr-FR" sz="3900" b="1" dirty="0" err="1" smtClean="0">
                <a:solidFill>
                  <a:srgbClr val="FFFFFF"/>
                </a:solidFill>
                <a:latin typeface="Orbitron"/>
              </a:rPr>
              <a:t>Visualization</a:t>
            </a:r>
            <a:endParaRPr sz="3900" b="1" i="0" u="none" dirty="0">
              <a:solidFill>
                <a:srgbClr val="FFFFFF"/>
              </a:solidFill>
              <a:latin typeface="Orbitron"/>
            </a:endParaRPr>
          </a:p>
        </p:txBody>
      </p:sp>
      <p:sp>
        <p:nvSpPr>
          <p:cNvPr id="9" name="TextBox 8"/>
          <p:cNvSpPr txBox="1"/>
          <p:nvPr/>
        </p:nvSpPr>
        <p:spPr>
          <a:xfrm>
            <a:off x="360897" y="1862433"/>
            <a:ext cx="11195886" cy="1575816"/>
          </a:xfrm>
          <a:prstGeom prst="rect">
            <a:avLst/>
          </a:prstGeom>
          <a:noFill/>
        </p:spPr>
        <p:txBody>
          <a:bodyPr wrap="square" lIns="0" tIns="0" rIns="0" bIns="0" anchor="t">
            <a:spAutoFit/>
          </a:bodyPr>
          <a:lstStyle/>
          <a:p>
            <a:r>
              <a:rPr lang="fr-FR" sz="1280" b="1" dirty="0" smtClean="0">
                <a:solidFill>
                  <a:schemeClr val="bg1"/>
                </a:solidFill>
              </a:rPr>
              <a:t>S</a:t>
            </a:r>
            <a:r>
              <a:rPr lang="en-US" sz="1280" b="1" dirty="0" err="1" smtClean="0">
                <a:solidFill>
                  <a:schemeClr val="bg1"/>
                </a:solidFill>
              </a:rPr>
              <a:t>mploy</a:t>
            </a:r>
            <a:r>
              <a:rPr lang="en-US" sz="1280" b="1" dirty="0" smtClean="0">
                <a:solidFill>
                  <a:schemeClr val="bg1"/>
                </a:solidFill>
              </a:rPr>
              <a:t> </a:t>
            </a:r>
            <a:r>
              <a:rPr lang="en-US" sz="1280" b="1" dirty="0">
                <a:solidFill>
                  <a:schemeClr val="bg1"/>
                </a:solidFill>
              </a:rPr>
              <a:t>data visualization techniques to evaluate the contribution of individual features and their impact on target outcomes.</a:t>
            </a:r>
            <a:r>
              <a:rPr lang="fr-FR" sz="1280" b="1" dirty="0" smtClean="0">
                <a:solidFill>
                  <a:schemeClr val="bg1"/>
                </a:solidFill>
              </a:rPr>
              <a:t>:</a:t>
            </a:r>
          </a:p>
          <a:p>
            <a:endParaRPr lang="en-US" sz="1280" dirty="0">
              <a:solidFill>
                <a:schemeClr val="bg1"/>
              </a:solidFill>
            </a:endParaRPr>
          </a:p>
          <a:p>
            <a:pPr marL="285750" indent="-285750">
              <a:buFont typeface="Arial" panose="020B0604020202020204" pitchFamily="34" charset="0"/>
              <a:buChar char="•"/>
            </a:pPr>
            <a:r>
              <a:rPr lang="en-US" sz="1280" dirty="0">
                <a:solidFill>
                  <a:schemeClr val="bg1"/>
                </a:solidFill>
              </a:rPr>
              <a:t>Visualize the relationship between Flight Number and Launch Site</a:t>
            </a:r>
            <a:endParaRPr lang="en-US" sz="1280" dirty="0">
              <a:solidFill>
                <a:schemeClr val="bg1"/>
              </a:solidFill>
            </a:endParaRPr>
          </a:p>
          <a:p>
            <a:pPr marL="285750" indent="-285750">
              <a:buFont typeface="Arial" panose="020B0604020202020204" pitchFamily="34" charset="0"/>
              <a:buChar char="•"/>
            </a:pPr>
            <a:r>
              <a:rPr lang="en-US" sz="1280" dirty="0" smtClean="0">
                <a:solidFill>
                  <a:schemeClr val="bg1"/>
                </a:solidFill>
              </a:rPr>
              <a:t>Visualize </a:t>
            </a:r>
            <a:r>
              <a:rPr lang="en-US" sz="1280" dirty="0">
                <a:solidFill>
                  <a:schemeClr val="bg1"/>
                </a:solidFill>
              </a:rPr>
              <a:t>the relationship between Payload and Launch </a:t>
            </a:r>
            <a:r>
              <a:rPr lang="en-US" sz="1280" dirty="0" smtClean="0">
                <a:solidFill>
                  <a:schemeClr val="bg1"/>
                </a:solidFill>
              </a:rPr>
              <a:t>Site</a:t>
            </a:r>
          </a:p>
          <a:p>
            <a:pPr marL="285750" indent="-285750">
              <a:buFont typeface="Arial" panose="020B0604020202020204" pitchFamily="34" charset="0"/>
              <a:buChar char="•"/>
            </a:pPr>
            <a:r>
              <a:rPr lang="en-US" sz="1280" dirty="0" smtClean="0">
                <a:solidFill>
                  <a:schemeClr val="bg1"/>
                </a:solidFill>
              </a:rPr>
              <a:t>Visualize the relationship between success rate of each orbit type</a:t>
            </a:r>
          </a:p>
          <a:p>
            <a:pPr marL="285750" indent="-285750">
              <a:buFont typeface="Arial" panose="020B0604020202020204" pitchFamily="34" charset="0"/>
              <a:buChar char="•"/>
            </a:pPr>
            <a:r>
              <a:rPr lang="en-US" sz="1280" dirty="0">
                <a:solidFill>
                  <a:schemeClr val="bg1"/>
                </a:solidFill>
              </a:rPr>
              <a:t>Visualize the relationship between </a:t>
            </a:r>
            <a:r>
              <a:rPr lang="en-US" sz="1280" dirty="0" err="1">
                <a:solidFill>
                  <a:schemeClr val="bg1"/>
                </a:solidFill>
              </a:rPr>
              <a:t>FlightNumber</a:t>
            </a:r>
            <a:r>
              <a:rPr lang="en-US" sz="1280" dirty="0">
                <a:solidFill>
                  <a:schemeClr val="bg1"/>
                </a:solidFill>
              </a:rPr>
              <a:t> and Orbit type</a:t>
            </a:r>
            <a:endParaRPr lang="fr-FR" sz="1280" dirty="0">
              <a:solidFill>
                <a:schemeClr val="bg1"/>
              </a:solidFill>
            </a:endParaRPr>
          </a:p>
          <a:p>
            <a:pPr marL="285750" indent="-285750">
              <a:buFont typeface="Arial" panose="020B0604020202020204" pitchFamily="34" charset="0"/>
              <a:buChar char="•"/>
            </a:pPr>
            <a:r>
              <a:rPr lang="en-US" sz="1280" dirty="0">
                <a:solidFill>
                  <a:schemeClr val="bg1"/>
                </a:solidFill>
              </a:rPr>
              <a:t>Visualize the relationship between Payload and Orbit </a:t>
            </a:r>
            <a:r>
              <a:rPr lang="en-US" sz="1280" dirty="0" smtClean="0">
                <a:solidFill>
                  <a:schemeClr val="bg1"/>
                </a:solidFill>
              </a:rPr>
              <a:t>type</a:t>
            </a:r>
          </a:p>
          <a:p>
            <a:pPr marL="285750" indent="-285750">
              <a:buFont typeface="Arial" panose="020B0604020202020204" pitchFamily="34" charset="0"/>
              <a:buChar char="•"/>
            </a:pPr>
            <a:r>
              <a:rPr lang="en-US" sz="1280" dirty="0">
                <a:solidFill>
                  <a:schemeClr val="bg1"/>
                </a:solidFill>
              </a:rPr>
              <a:t>Visualize the launch success yearly </a:t>
            </a:r>
            <a:r>
              <a:rPr lang="en-US" sz="1280" dirty="0" smtClean="0">
                <a:solidFill>
                  <a:schemeClr val="bg1"/>
                </a:solidFill>
              </a:rPr>
              <a:t>trend</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897" y="3881582"/>
            <a:ext cx="3829138" cy="2187232"/>
          </a:xfrm>
          <a:prstGeom prst="rect">
            <a:avLst/>
          </a:prstGeom>
        </p:spPr>
      </p:pic>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13589" y="4331459"/>
            <a:ext cx="3865946" cy="2187232"/>
          </a:xfrm>
          <a:prstGeom prst="rect">
            <a:avLst/>
          </a:prstGeom>
        </p:spPr>
      </p:pic>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17585" y="3211051"/>
            <a:ext cx="3854030" cy="2847362"/>
          </a:xfrm>
          <a:prstGeom prst="rect">
            <a:avLst/>
          </a:prstGeom>
        </p:spPr>
      </p:pic>
    </p:spTree>
    <p:extLst>
      <p:ext uri="{BB962C8B-B14F-4D97-AF65-F5344CB8AC3E}">
        <p14:creationId xmlns:p14="http://schemas.microsoft.com/office/powerpoint/2010/main" val="17929658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EDA </a:t>
            </a:r>
            <a:r>
              <a:rPr lang="fr-FR" sz="3900" b="1" dirty="0" err="1">
                <a:solidFill>
                  <a:srgbClr val="FFFFFF"/>
                </a:solidFill>
                <a:latin typeface="Orbitron"/>
              </a:rPr>
              <a:t>with</a:t>
            </a:r>
            <a:r>
              <a:rPr lang="fr-FR" sz="3900" b="1" dirty="0">
                <a:solidFill>
                  <a:srgbClr val="FFFFFF"/>
                </a:solidFill>
                <a:latin typeface="Orbitron"/>
              </a:rPr>
              <a:t> Data </a:t>
            </a:r>
            <a:r>
              <a:rPr lang="fr-FR" sz="3900" b="1" dirty="0" err="1">
                <a:solidFill>
                  <a:srgbClr val="FFFFFF"/>
                </a:solidFill>
                <a:latin typeface="Orbitron"/>
              </a:rPr>
              <a:t>Visualization</a:t>
            </a:r>
            <a:endParaRPr lang="fr-FR" sz="3900" b="1" dirty="0">
              <a:solidFill>
                <a:srgbClr val="FFFFFF"/>
              </a:solidFill>
              <a:latin typeface="Orbitron"/>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79880" y="3030166"/>
            <a:ext cx="10058400" cy="2407230"/>
          </a:xfrm>
          <a:prstGeom prst="rect">
            <a:avLst/>
          </a:prstGeom>
        </p:spPr>
      </p:pic>
      <p:sp>
        <p:nvSpPr>
          <p:cNvPr id="9" name="Rectangle 8"/>
          <p:cNvSpPr/>
          <p:nvPr/>
        </p:nvSpPr>
        <p:spPr>
          <a:xfrm>
            <a:off x="351507" y="1986358"/>
            <a:ext cx="6096000" cy="646331"/>
          </a:xfrm>
          <a:prstGeom prst="rect">
            <a:avLst/>
          </a:prstGeom>
        </p:spPr>
        <p:txBody>
          <a:bodyPr>
            <a:spAutoFit/>
          </a:bodyPr>
          <a:lstStyle/>
          <a:p>
            <a:pPr marL="285750" indent="-285750">
              <a:buFont typeface="Arial" panose="020B0604020202020204" pitchFamily="34" charset="0"/>
              <a:buChar char="•"/>
            </a:pPr>
            <a:r>
              <a:rPr lang="en-US" dirty="0">
                <a:solidFill>
                  <a:schemeClr val="bg1"/>
                </a:solidFill>
              </a:rPr>
              <a:t>Features Engineering  : Creation of dummy variables to categorical columns</a:t>
            </a:r>
            <a:endParaRPr lang="fr-FR" dirty="0">
              <a:solidFill>
                <a:schemeClr val="bg1"/>
              </a:solidFill>
            </a:endParaRPr>
          </a:p>
        </p:txBody>
      </p:sp>
      <p:sp>
        <p:nvSpPr>
          <p:cNvPr id="10" name="Rounded Rectangle 9"/>
          <p:cNvSpPr/>
          <p:nvPr/>
        </p:nvSpPr>
        <p:spPr>
          <a:xfrm>
            <a:off x="515143" y="5834874"/>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157445" y="5879805"/>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https://github.com/LahcenAmroune/Applied-Data-Science-Capstone/blob/main/edadataviz.ipynb</a:t>
            </a:r>
            <a:endParaRPr sz="1125" b="0" i="0" u="none" dirty="0">
              <a:solidFill>
                <a:srgbClr val="FFFFFF"/>
              </a:solidFill>
              <a:latin typeface="Plus Jakarta Sans SemiBold"/>
            </a:endParaRPr>
          </a:p>
        </p:txBody>
      </p:sp>
      <p:pic>
        <p:nvPicPr>
          <p:cNvPr id="12" name="Picture 11" descr="image.png"/>
          <p:cNvPicPr>
            <a:picLocks noChangeAspect="1"/>
          </p:cNvPicPr>
          <p:nvPr/>
        </p:nvPicPr>
        <p:blipFill>
          <a:blip r:embed="rId4"/>
          <a:stretch>
            <a:fillRect/>
          </a:stretch>
        </p:blipFill>
        <p:spPr>
          <a:xfrm>
            <a:off x="904398" y="5958699"/>
            <a:ext cx="180975" cy="190500"/>
          </a:xfrm>
          <a:prstGeom prst="rect">
            <a:avLst/>
          </a:prstGeom>
        </p:spPr>
      </p:pic>
      <p:pic>
        <p:nvPicPr>
          <p:cNvPr id="13" name="Picture 12" descr="image.png"/>
          <p:cNvPicPr>
            <a:picLocks noChangeAspect="1"/>
          </p:cNvPicPr>
          <p:nvPr/>
        </p:nvPicPr>
        <p:blipFill>
          <a:blip r:embed="rId5"/>
          <a:stretch>
            <a:fillRect/>
          </a:stretch>
        </p:blipFill>
        <p:spPr>
          <a:xfrm>
            <a:off x="5586095" y="5991018"/>
            <a:ext cx="123825" cy="123825"/>
          </a:xfrm>
          <a:prstGeom prst="rect">
            <a:avLst/>
          </a:prstGeom>
        </p:spPr>
      </p:pic>
    </p:spTree>
    <p:extLst>
      <p:ext uri="{BB962C8B-B14F-4D97-AF65-F5344CB8AC3E}">
        <p14:creationId xmlns:p14="http://schemas.microsoft.com/office/powerpoint/2010/main" val="148939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with Folium</a:t>
            </a:r>
            <a:endParaRPr lang="fr-FR" sz="3900" b="1" dirty="0">
              <a:solidFill>
                <a:srgbClr val="FFFFFF"/>
              </a:solidFill>
              <a:latin typeface="Orbitron"/>
            </a:endParaRPr>
          </a:p>
        </p:txBody>
      </p:sp>
      <p:sp>
        <p:nvSpPr>
          <p:cNvPr id="7" name="Rectangle 6"/>
          <p:cNvSpPr/>
          <p:nvPr/>
        </p:nvSpPr>
        <p:spPr>
          <a:xfrm>
            <a:off x="351507" y="1986358"/>
            <a:ext cx="6096000" cy="2308324"/>
          </a:xfrm>
          <a:prstGeom prst="rect">
            <a:avLst/>
          </a:prstGeom>
        </p:spPr>
        <p:txBody>
          <a:bodyPr>
            <a:spAutoFit/>
          </a:bodyPr>
          <a:lstStyle/>
          <a:p>
            <a:r>
              <a:rPr lang="en-US" dirty="0">
                <a:solidFill>
                  <a:schemeClr val="bg1"/>
                </a:solidFill>
              </a:rPr>
              <a:t>identify spatial patterns, the following geographic features were plotted on a map of launch sites:</a:t>
            </a:r>
          </a:p>
          <a:p>
            <a:pPr marL="285750" indent="-285750">
              <a:buFont typeface="Arial" panose="020B0604020202020204" pitchFamily="34" charset="0"/>
              <a:buChar char="•"/>
            </a:pPr>
            <a:r>
              <a:rPr lang="en-US" dirty="0" smtClean="0">
                <a:solidFill>
                  <a:schemeClr val="bg1"/>
                </a:solidFill>
              </a:rPr>
              <a:t>All </a:t>
            </a:r>
            <a:r>
              <a:rPr lang="en-US" dirty="0">
                <a:solidFill>
                  <a:schemeClr val="bg1"/>
                </a:solidFill>
              </a:rPr>
              <a:t>Launch Sites</a:t>
            </a:r>
          </a:p>
          <a:p>
            <a:pPr marL="285750" indent="-285750">
              <a:buFont typeface="Arial" panose="020B0604020202020204" pitchFamily="34" charset="0"/>
              <a:buChar char="•"/>
            </a:pPr>
            <a:r>
              <a:rPr lang="en-US" dirty="0" smtClean="0">
                <a:solidFill>
                  <a:schemeClr val="bg1"/>
                </a:solidFill>
              </a:rPr>
              <a:t>Successful </a:t>
            </a:r>
            <a:r>
              <a:rPr lang="en-US" dirty="0">
                <a:solidFill>
                  <a:schemeClr val="bg1"/>
                </a:solidFill>
              </a:rPr>
              <a:t>and Failed Launches</a:t>
            </a:r>
          </a:p>
          <a:p>
            <a:pPr marL="285750" indent="-285750">
              <a:buFont typeface="Arial" panose="020B0604020202020204" pitchFamily="34" charset="0"/>
              <a:buChar char="•"/>
            </a:pPr>
            <a:r>
              <a:rPr lang="en-US" dirty="0" smtClean="0">
                <a:solidFill>
                  <a:schemeClr val="bg1"/>
                </a:solidFill>
              </a:rPr>
              <a:t>Distances </a:t>
            </a:r>
            <a:r>
              <a:rPr lang="en-US" dirty="0">
                <a:solidFill>
                  <a:schemeClr val="bg1"/>
                </a:solidFill>
              </a:rPr>
              <a:t>between a launch site and proximate </a:t>
            </a:r>
            <a:r>
              <a:rPr lang="en-US" dirty="0" smtClean="0">
                <a:solidFill>
                  <a:schemeClr val="bg1"/>
                </a:solidFill>
              </a:rPr>
              <a:t>landmarks</a:t>
            </a:r>
          </a:p>
          <a:p>
            <a:pPr marL="285750" indent="-285750">
              <a:buFont typeface="Arial" panose="020B0604020202020204" pitchFamily="34" charset="0"/>
              <a:buChar char="•"/>
            </a:pPr>
            <a:r>
              <a:rPr lang="en-US" dirty="0">
                <a:solidFill>
                  <a:schemeClr val="bg1"/>
                </a:solidFill>
              </a:rPr>
              <a:t>Geographic analysis was conducted by visualizing launch site coordinates, mission outcome distributions, and distances to key landmarks on an interactive map.</a:t>
            </a:r>
            <a:endParaRPr lang="fr-FR" dirty="0">
              <a:solidFill>
                <a:schemeClr val="bg1"/>
              </a:solidFill>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32695" y="1402667"/>
            <a:ext cx="5326842" cy="2308324"/>
          </a:xfrm>
          <a:prstGeom prst="rect">
            <a:avLst/>
          </a:prstGeom>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21116" y="3876572"/>
            <a:ext cx="3333447" cy="1670402"/>
          </a:xfrm>
          <a:prstGeom prst="rect">
            <a:avLst/>
          </a:prstGeom>
        </p:spPr>
      </p:pic>
      <p:pic>
        <p:nvPicPr>
          <p:cNvPr id="12" name="Picture 1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94414" y="4225845"/>
            <a:ext cx="3163853" cy="1629931"/>
          </a:xfrm>
          <a:prstGeom prst="rect">
            <a:avLst/>
          </a:prstGeom>
        </p:spPr>
      </p:pic>
      <p:sp>
        <p:nvSpPr>
          <p:cNvPr id="13" name="Rounded Rectangle 12"/>
          <p:cNvSpPr/>
          <p:nvPr/>
        </p:nvSpPr>
        <p:spPr>
          <a:xfrm>
            <a:off x="581025" y="5698613"/>
            <a:ext cx="5534025" cy="514408"/>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5782692"/>
            <a:ext cx="4705350" cy="346249"/>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https://github.com/LahcenAmroune/Applied-Data-Science-Capstone/blob/main/lab_jupyter_launch_site_location.ipynb</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7"/>
          <a:stretch>
            <a:fillRect/>
          </a:stretch>
        </p:blipFill>
        <p:spPr>
          <a:xfrm>
            <a:off x="857250" y="5822438"/>
            <a:ext cx="180975" cy="190500"/>
          </a:xfrm>
          <a:prstGeom prst="rect">
            <a:avLst/>
          </a:prstGeom>
        </p:spPr>
      </p:pic>
      <p:pic>
        <p:nvPicPr>
          <p:cNvPr id="16" name="Picture 15" descr="image.png"/>
          <p:cNvPicPr>
            <a:picLocks noChangeAspect="1"/>
          </p:cNvPicPr>
          <p:nvPr/>
        </p:nvPicPr>
        <p:blipFill>
          <a:blip r:embed="rId8"/>
          <a:stretch>
            <a:fillRect/>
          </a:stretch>
        </p:blipFill>
        <p:spPr>
          <a:xfrm>
            <a:off x="5715000" y="5855776"/>
            <a:ext cx="123825" cy="123825"/>
          </a:xfrm>
          <a:prstGeom prst="rect">
            <a:avLst/>
          </a:prstGeom>
        </p:spPr>
      </p:pic>
    </p:spTree>
    <p:extLst>
      <p:ext uri="{BB962C8B-B14F-4D97-AF65-F5344CB8AC3E}">
        <p14:creationId xmlns:p14="http://schemas.microsoft.com/office/powerpoint/2010/main" val="11014423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7" y="636922"/>
            <a:ext cx="11123959"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a:t>
            </a:r>
            <a:r>
              <a:rPr lang="en-US" sz="3900" b="1" dirty="0" smtClean="0">
                <a:solidFill>
                  <a:srgbClr val="FFFFFF"/>
                </a:solidFill>
                <a:latin typeface="Orbitron"/>
              </a:rPr>
              <a:t>and Dashboard</a:t>
            </a:r>
            <a:endParaRPr lang="fr-FR" sz="3900" b="1" dirty="0">
              <a:solidFill>
                <a:srgbClr val="FFFFFF"/>
              </a:solidFill>
              <a:latin typeface="Orbitron"/>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6787" y="3753875"/>
            <a:ext cx="7120327" cy="2257182"/>
          </a:xfrm>
          <a:prstGeom prst="rect">
            <a:avLst/>
          </a:prstGeom>
        </p:spPr>
      </p:pic>
      <p:sp>
        <p:nvSpPr>
          <p:cNvPr id="17" name="Rectangle 16"/>
          <p:cNvSpPr/>
          <p:nvPr/>
        </p:nvSpPr>
        <p:spPr>
          <a:xfrm>
            <a:off x="351506" y="1986358"/>
            <a:ext cx="10951077" cy="1477328"/>
          </a:xfrm>
          <a:prstGeom prst="rect">
            <a:avLst/>
          </a:prstGeom>
        </p:spPr>
        <p:txBody>
          <a:bodyPr wrap="square">
            <a:spAutoFit/>
          </a:bodyPr>
          <a:lstStyle/>
          <a:p>
            <a:pPr marL="285750" indent="-285750">
              <a:buFont typeface="Arial" panose="020B0604020202020204" pitchFamily="34" charset="0"/>
              <a:buChar char="•"/>
            </a:pPr>
            <a:r>
              <a:rPr lang="en-US" dirty="0">
                <a:solidFill>
                  <a:schemeClr val="bg1"/>
                </a:solidFill>
              </a:rPr>
              <a:t>The figure below presents a pie chart illustrating the launch outcomes for site CCAFS LC-40, where 0 denotes failed launches and 1 denotes successful launches. As shown, 73.1% of launches from this site resulted in failure.</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a:solidFill>
                  <a:schemeClr val="bg1"/>
                </a:solidFill>
              </a:rPr>
              <a:t>The pie chart below visualizes the outcome distribution for CCAFS LC-40, with failure represented by 0 and success by 1. Notably, the majority of launches—73.1%—from this site were unsuccessful.</a:t>
            </a:r>
            <a:endParaRPr lang="fr-FR" dirty="0">
              <a:solidFill>
                <a:schemeClr val="bg1"/>
              </a:solidFill>
            </a:endParaRPr>
          </a:p>
        </p:txBody>
      </p:sp>
    </p:spTree>
    <p:extLst>
      <p:ext uri="{BB962C8B-B14F-4D97-AF65-F5344CB8AC3E}">
        <p14:creationId xmlns:p14="http://schemas.microsoft.com/office/powerpoint/2010/main" val="371762861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762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7" y="636922"/>
            <a:ext cx="11123959" cy="600164"/>
          </a:xfrm>
          <a:prstGeom prst="rect">
            <a:avLst/>
          </a:prstGeom>
          <a:noFill/>
        </p:spPr>
        <p:txBody>
          <a:bodyPr wrap="square" lIns="0" tIns="0" rIns="0" bIns="0" anchor="t">
            <a:spAutoFit/>
          </a:bodyPr>
          <a:lstStyle/>
          <a:p>
            <a:r>
              <a:rPr lang="en-US" sz="3900" b="1" dirty="0" smtClean="0">
                <a:solidFill>
                  <a:srgbClr val="FFFFFF"/>
                </a:solidFill>
                <a:latin typeface="Orbitron"/>
              </a:rPr>
              <a:t>Interactive </a:t>
            </a:r>
            <a:r>
              <a:rPr lang="en-US" sz="3900" b="1" dirty="0">
                <a:solidFill>
                  <a:srgbClr val="FFFFFF"/>
                </a:solidFill>
                <a:latin typeface="Orbitron"/>
              </a:rPr>
              <a:t>Visual Analytics </a:t>
            </a:r>
            <a:r>
              <a:rPr lang="en-US" sz="3900" b="1" dirty="0" smtClean="0">
                <a:solidFill>
                  <a:srgbClr val="FFFFFF"/>
                </a:solidFill>
                <a:latin typeface="Orbitron"/>
              </a:rPr>
              <a:t>and Dashboard</a:t>
            </a:r>
            <a:endParaRPr lang="fr-FR" sz="3900" b="1" dirty="0">
              <a:solidFill>
                <a:srgbClr val="FFFFFF"/>
              </a:solidFill>
              <a:latin typeface="Orbitron"/>
            </a:endParaRPr>
          </a:p>
        </p:txBody>
      </p:sp>
      <p:sp>
        <p:nvSpPr>
          <p:cNvPr id="17" name="Rectangle 16"/>
          <p:cNvSpPr/>
          <p:nvPr/>
        </p:nvSpPr>
        <p:spPr>
          <a:xfrm>
            <a:off x="351506" y="1986358"/>
            <a:ext cx="10951077" cy="646331"/>
          </a:xfrm>
          <a:prstGeom prst="rect">
            <a:avLst/>
          </a:prstGeom>
        </p:spPr>
        <p:txBody>
          <a:bodyPr wrap="square">
            <a:spAutoFit/>
          </a:bodyPr>
          <a:lstStyle/>
          <a:p>
            <a:pPr marL="285750" indent="-285750">
              <a:buFont typeface="Arial" panose="020B0604020202020204" pitchFamily="34" charset="0"/>
              <a:buChar char="•"/>
            </a:pPr>
            <a:r>
              <a:rPr lang="en-US" dirty="0">
                <a:solidFill>
                  <a:schemeClr val="bg1"/>
                </a:solidFill>
              </a:rPr>
              <a:t>• The picture below shows a scatterplot when the payload mass range is set to be </a:t>
            </a:r>
            <a:r>
              <a:rPr lang="en-US" dirty="0" smtClean="0">
                <a:solidFill>
                  <a:schemeClr val="bg1"/>
                </a:solidFill>
              </a:rPr>
              <a:t> from </a:t>
            </a:r>
            <a:r>
              <a:rPr lang="en-US" dirty="0">
                <a:solidFill>
                  <a:schemeClr val="bg1"/>
                </a:solidFill>
              </a:rPr>
              <a:t>2000kg to 8000kg.</a:t>
            </a:r>
          </a:p>
          <a:p>
            <a:pPr marL="285750" indent="-285750">
              <a:buFont typeface="Arial" panose="020B0604020202020204" pitchFamily="34" charset="0"/>
              <a:buChar char="•"/>
            </a:pPr>
            <a:r>
              <a:rPr lang="en-US" dirty="0">
                <a:solidFill>
                  <a:schemeClr val="bg1"/>
                </a:solidFill>
              </a:rPr>
              <a:t>• Class 0 represents failed launches while class 1 represents successful launches. </a:t>
            </a:r>
            <a:endParaRPr lang="fr-FR" dirty="0">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1750" y="3004217"/>
            <a:ext cx="7120326" cy="2197220"/>
          </a:xfrm>
          <a:prstGeom prst="rect">
            <a:avLst/>
          </a:prstGeom>
        </p:spPr>
      </p:pic>
      <p:sp>
        <p:nvSpPr>
          <p:cNvPr id="13" name="Rounded Rectangle 12"/>
          <p:cNvSpPr/>
          <p:nvPr/>
        </p:nvSpPr>
        <p:spPr>
          <a:xfrm>
            <a:off x="581025" y="5698613"/>
            <a:ext cx="5534025" cy="438150"/>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43000" y="5744564"/>
            <a:ext cx="4705350" cy="346249"/>
          </a:xfrm>
          <a:prstGeom prst="rect">
            <a:avLst/>
          </a:prstGeom>
          <a:noFill/>
        </p:spPr>
        <p:txBody>
          <a:bodyPr wrap="square" lIns="0" tIns="0" rIns="0" bIns="0" anchor="ctr">
            <a:spAutoFit/>
          </a:bodyPr>
          <a:lstStyle/>
          <a:p>
            <a:r>
              <a:rPr sz="1125" b="0" i="0" u="none" dirty="0">
                <a:solidFill>
                  <a:srgbClr val="FFFFFF"/>
                </a:solidFill>
                <a:latin typeface="Plus Jakarta Sans SemiBold"/>
              </a:rPr>
              <a:t> </a:t>
            </a:r>
            <a:r>
              <a:rPr lang="en-US" sz="1125" dirty="0">
                <a:solidFill>
                  <a:srgbClr val="FFFFFF"/>
                </a:solidFill>
                <a:latin typeface="Plus Jakarta Sans SemiBold"/>
              </a:rPr>
              <a:t>https://github.com/LahcenAmroune/Applied-Data-Science-Capstone/blob/main/spacex-dash-app.py</a:t>
            </a:r>
            <a:endParaRPr sz="1125" b="0" i="0" u="none" dirty="0">
              <a:solidFill>
                <a:srgbClr val="FFFFFF"/>
              </a:solidFill>
              <a:latin typeface="Plus Jakarta Sans SemiBold"/>
            </a:endParaRPr>
          </a:p>
        </p:txBody>
      </p:sp>
      <p:pic>
        <p:nvPicPr>
          <p:cNvPr id="15" name="Picture 14" descr="image.png"/>
          <p:cNvPicPr>
            <a:picLocks noChangeAspect="1"/>
          </p:cNvPicPr>
          <p:nvPr/>
        </p:nvPicPr>
        <p:blipFill>
          <a:blip r:embed="rId4"/>
          <a:stretch>
            <a:fillRect/>
          </a:stretch>
        </p:blipFill>
        <p:spPr>
          <a:xfrm>
            <a:off x="857250" y="5822438"/>
            <a:ext cx="180975" cy="190500"/>
          </a:xfrm>
          <a:prstGeom prst="rect">
            <a:avLst/>
          </a:prstGeom>
        </p:spPr>
      </p:pic>
      <p:pic>
        <p:nvPicPr>
          <p:cNvPr id="16" name="Picture 15" descr="image.png"/>
          <p:cNvPicPr>
            <a:picLocks noChangeAspect="1"/>
          </p:cNvPicPr>
          <p:nvPr/>
        </p:nvPicPr>
        <p:blipFill>
          <a:blip r:embed="rId5"/>
          <a:stretch>
            <a:fillRect/>
          </a:stretch>
        </p:blipFill>
        <p:spPr>
          <a:xfrm>
            <a:off x="5715000" y="5855776"/>
            <a:ext cx="123825" cy="123825"/>
          </a:xfrm>
          <a:prstGeom prst="rect">
            <a:avLst/>
          </a:prstGeom>
        </p:spPr>
      </p:pic>
    </p:spTree>
    <p:extLst>
      <p:ext uri="{BB962C8B-B14F-4D97-AF65-F5344CB8AC3E}">
        <p14:creationId xmlns:p14="http://schemas.microsoft.com/office/powerpoint/2010/main" val="15004209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sz="3900" b="1" i="0" u="none"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Logistic </a:t>
            </a:r>
            <a:r>
              <a:rPr lang="en-US" dirty="0">
                <a:solidFill>
                  <a:schemeClr val="bg1"/>
                </a:solidFill>
              </a:rPr>
              <a:t>regression</a:t>
            </a:r>
          </a:p>
          <a:p>
            <a:pPr marL="285750" indent="-285750">
              <a:buFont typeface="Arial" panose="020B0604020202020204" pitchFamily="34" charset="0"/>
              <a:buChar char="•"/>
            </a:pPr>
            <a:r>
              <a:rPr lang="en-US" dirty="0" smtClean="0">
                <a:solidFill>
                  <a:schemeClr val="bg1"/>
                </a:solidFill>
              </a:rPr>
              <a:t> </a:t>
            </a:r>
            <a:r>
              <a:rPr lang="en-US" dirty="0" err="1">
                <a:solidFill>
                  <a:schemeClr val="bg1"/>
                </a:solidFill>
              </a:rPr>
              <a:t>GridSearchCV</a:t>
            </a:r>
            <a:r>
              <a:rPr lang="en-US" dirty="0">
                <a:solidFill>
                  <a:schemeClr val="bg1"/>
                </a:solidFill>
              </a:rPr>
              <a:t> best score: 0.8464285714285713</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Tree>
    <p:extLst>
      <p:ext uri="{BB962C8B-B14F-4D97-AF65-F5344CB8AC3E}">
        <p14:creationId xmlns:p14="http://schemas.microsoft.com/office/powerpoint/2010/main" val="2244573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Support Vector Machine (SVM)</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 </a:t>
            </a:r>
            <a:r>
              <a:rPr lang="en-US" dirty="0" err="1">
                <a:solidFill>
                  <a:schemeClr val="bg1"/>
                </a:solidFill>
              </a:rPr>
              <a:t>GridSearchCV</a:t>
            </a:r>
            <a:r>
              <a:rPr lang="en-US" dirty="0">
                <a:solidFill>
                  <a:schemeClr val="bg1"/>
                </a:solidFill>
              </a:rPr>
              <a:t> best score: </a:t>
            </a:r>
            <a:r>
              <a:rPr lang="en-US" dirty="0">
                <a:solidFill>
                  <a:schemeClr val="bg1"/>
                </a:solidFill>
              </a:rPr>
              <a:t>0.8482142857142856</a:t>
            </a:r>
          </a:p>
          <a:p>
            <a:pPr marL="285750" indent="-285750">
              <a:buFont typeface="Arial" panose="020B0604020202020204" pitchFamily="34" charset="0"/>
              <a:buChar char="•"/>
            </a:pPr>
            <a:r>
              <a:rPr lang="en-US" dirty="0">
                <a:solidFill>
                  <a:schemeClr val="bg1"/>
                </a:solidFill>
              </a:rPr>
              <a:t>Accuracy score on test set: </a:t>
            </a:r>
            <a:r>
              <a:rPr lang="en-US" dirty="0">
                <a:solidFill>
                  <a:schemeClr val="bg1"/>
                </a:solidFill>
              </a:rPr>
              <a:t>0.8333333333333334</a:t>
            </a:r>
          </a:p>
          <a:p>
            <a:endParaRPr lang="en-US" dirty="0">
              <a:solidFill>
                <a:schemeClr val="bg1"/>
              </a:solidFill>
            </a:endParaRPr>
          </a:p>
          <a:p>
            <a:r>
              <a:rPr lang="en-US" dirty="0">
                <a:solidFill>
                  <a:schemeClr val="bg1"/>
                </a:solidFill>
              </a:rPr>
              <a:t>Confusion matrix:</a:t>
            </a:r>
            <a:endParaRPr lang="fr-FR" dirty="0">
              <a:solidFill>
                <a:schemeClr val="bg1"/>
              </a:solidFill>
            </a:endParaRPr>
          </a:p>
        </p:txBody>
      </p:sp>
    </p:spTree>
    <p:extLst>
      <p:ext uri="{BB962C8B-B14F-4D97-AF65-F5344CB8AC3E}">
        <p14:creationId xmlns:p14="http://schemas.microsoft.com/office/powerpoint/2010/main" val="30868777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dirty="0" smtClean="0">
                <a:solidFill>
                  <a:schemeClr val="bg1"/>
                </a:solidFill>
              </a:rPr>
              <a:t>Decision Tree</a:t>
            </a: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 </a:t>
            </a:r>
            <a:r>
              <a:rPr lang="en-US" dirty="0" err="1">
                <a:solidFill>
                  <a:schemeClr val="bg1"/>
                </a:solidFill>
              </a:rPr>
              <a:t>GridSearchCV</a:t>
            </a:r>
            <a:r>
              <a:rPr lang="en-US" dirty="0">
                <a:solidFill>
                  <a:schemeClr val="bg1"/>
                </a:solidFill>
              </a:rPr>
              <a:t> best score: </a:t>
            </a:r>
            <a:r>
              <a:rPr lang="en-US" dirty="0">
                <a:solidFill>
                  <a:schemeClr val="bg1"/>
                </a:solidFill>
              </a:rPr>
              <a:t>0.8892857142857142</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Tree>
    <p:extLst>
      <p:ext uri="{BB962C8B-B14F-4D97-AF65-F5344CB8AC3E}">
        <p14:creationId xmlns:p14="http://schemas.microsoft.com/office/powerpoint/2010/main" val="392372725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a:solidFill>
                  <a:srgbClr val="FFFFFF"/>
                </a:solidFill>
                <a:latin typeface="Orbitron"/>
              </a:rPr>
              <a:t>Machine Learning </a:t>
            </a:r>
            <a:r>
              <a:rPr lang="fr-FR" sz="3900" b="1" dirty="0" err="1">
                <a:solidFill>
                  <a:srgbClr val="FFFFFF"/>
                </a:solidFill>
                <a:latin typeface="Orbitron"/>
              </a:rPr>
              <a:t>Prediction</a:t>
            </a:r>
            <a:endParaRPr lang="fr-FR" sz="3900" b="1" dirty="0">
              <a:solidFill>
                <a:srgbClr val="FFFFFF"/>
              </a:solidFill>
              <a:latin typeface="Orbitron"/>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8163" y="1680761"/>
            <a:ext cx="4754381" cy="3537679"/>
          </a:xfrm>
          <a:prstGeom prst="rect">
            <a:avLst/>
          </a:prstGeom>
        </p:spPr>
      </p:pic>
      <p:sp>
        <p:nvSpPr>
          <p:cNvPr id="7" name="Rectangle 6"/>
          <p:cNvSpPr/>
          <p:nvPr/>
        </p:nvSpPr>
        <p:spPr>
          <a:xfrm>
            <a:off x="351506" y="1986358"/>
            <a:ext cx="5230635" cy="1477328"/>
          </a:xfrm>
          <a:prstGeom prst="rect">
            <a:avLst/>
          </a:prstGeom>
        </p:spPr>
        <p:txBody>
          <a:bodyPr wrap="square">
            <a:spAutoFit/>
          </a:bodyPr>
          <a:lstStyle/>
          <a:p>
            <a:r>
              <a:rPr lang="en-US" b="1" dirty="0" smtClean="0">
                <a:solidFill>
                  <a:schemeClr val="bg1"/>
                </a:solidFill>
              </a:rPr>
              <a:t>K nearest neighbors (KNN)</a:t>
            </a:r>
            <a:endParaRPr lang="en-US" b="1" dirty="0">
              <a:solidFill>
                <a:schemeClr val="bg1"/>
              </a:solidFill>
            </a:endParaRPr>
          </a:p>
          <a:p>
            <a:pPr marL="285750" indent="-285750">
              <a:buFont typeface="Arial" panose="020B0604020202020204" pitchFamily="34" charset="0"/>
              <a:buChar char="•"/>
            </a:pPr>
            <a:r>
              <a:rPr lang="en-US" dirty="0">
                <a:solidFill>
                  <a:schemeClr val="bg1"/>
                </a:solidFill>
              </a:rPr>
              <a:t> </a:t>
            </a:r>
            <a:r>
              <a:rPr lang="en-US" dirty="0" err="1">
                <a:solidFill>
                  <a:schemeClr val="bg1"/>
                </a:solidFill>
              </a:rPr>
              <a:t>GridSearchCV</a:t>
            </a:r>
            <a:r>
              <a:rPr lang="en-US" dirty="0">
                <a:solidFill>
                  <a:schemeClr val="bg1"/>
                </a:solidFill>
              </a:rPr>
              <a:t> best score: 0.8482142857142858</a:t>
            </a:r>
          </a:p>
          <a:p>
            <a:pPr marL="285750" indent="-285750">
              <a:buFont typeface="Arial" panose="020B0604020202020204" pitchFamily="34" charset="0"/>
              <a:buChar char="•"/>
            </a:pPr>
            <a:r>
              <a:rPr lang="en-US" dirty="0" smtClean="0">
                <a:solidFill>
                  <a:schemeClr val="bg1"/>
                </a:solidFill>
              </a:rPr>
              <a:t>Accuracy </a:t>
            </a:r>
            <a:r>
              <a:rPr lang="en-US" dirty="0">
                <a:solidFill>
                  <a:schemeClr val="bg1"/>
                </a:solidFill>
              </a:rPr>
              <a:t>score on test set: 0.8333333333333334</a:t>
            </a:r>
          </a:p>
          <a:p>
            <a:endParaRPr lang="en-US" dirty="0" smtClean="0">
              <a:solidFill>
                <a:schemeClr val="bg1"/>
              </a:solidFill>
            </a:endParaRPr>
          </a:p>
          <a:p>
            <a:r>
              <a:rPr lang="en-US" dirty="0" smtClean="0">
                <a:solidFill>
                  <a:schemeClr val="bg1"/>
                </a:solidFill>
              </a:rPr>
              <a:t>Confusion </a:t>
            </a:r>
            <a:r>
              <a:rPr lang="en-US" dirty="0">
                <a:solidFill>
                  <a:schemeClr val="bg1"/>
                </a:solidFill>
              </a:rPr>
              <a:t>matrix:</a:t>
            </a:r>
            <a:endParaRPr lang="fr-FR" dirty="0">
              <a:solidFill>
                <a:schemeClr val="bg1"/>
              </a:solidFill>
            </a:endParaRPr>
          </a:p>
        </p:txBody>
      </p:sp>
      <p:sp>
        <p:nvSpPr>
          <p:cNvPr id="8" name="Rounded Rectangle 7"/>
          <p:cNvSpPr/>
          <p:nvPr/>
        </p:nvSpPr>
        <p:spPr>
          <a:xfrm>
            <a:off x="581025" y="5638800"/>
            <a:ext cx="5918835" cy="598387"/>
          </a:xfrm>
          <a:prstGeom prst="roundRect">
            <a:avLst>
              <a:gd name="adj" fmla="val 50000"/>
            </a:avLst>
          </a:prstGeom>
          <a:noFill/>
          <a:ln w="9525">
            <a:solidFill>
              <a:srgbClr val="00F2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8225" y="5717815"/>
            <a:ext cx="4991100" cy="519373"/>
          </a:xfrm>
          <a:prstGeom prst="rect">
            <a:avLst/>
          </a:prstGeom>
          <a:noFill/>
        </p:spPr>
        <p:txBody>
          <a:bodyPr wrap="square" lIns="0" tIns="0" rIns="0" bIns="0" anchor="ctr">
            <a:spAutoFit/>
          </a:bodyPr>
          <a:lstStyle/>
          <a:p>
            <a:r>
              <a:rPr lang="en-US" sz="1125" dirty="0">
                <a:solidFill>
                  <a:srgbClr val="FFFFFF"/>
                </a:solidFill>
                <a:latin typeface="Plus Jakarta Sans SemiBold"/>
              </a:rPr>
              <a:t>https://github.com/LahcenAmroune/Applied-Data-Science-Capstone/blob/main/SpaceX_Machine%20Learning%20Prediction_Part_5.ipynb</a:t>
            </a:r>
            <a:endParaRPr sz="1125" b="0" i="0" u="none" dirty="0">
              <a:solidFill>
                <a:srgbClr val="FFFFFF"/>
              </a:solidFill>
              <a:latin typeface="Plus Jakarta Sans SemiBold"/>
            </a:endParaRPr>
          </a:p>
        </p:txBody>
      </p:sp>
      <p:pic>
        <p:nvPicPr>
          <p:cNvPr id="10" name="Picture 9" descr="image.png"/>
          <p:cNvPicPr>
            <a:picLocks noChangeAspect="1"/>
          </p:cNvPicPr>
          <p:nvPr/>
        </p:nvPicPr>
        <p:blipFill>
          <a:blip r:embed="rId4"/>
          <a:stretch>
            <a:fillRect/>
          </a:stretch>
        </p:blipFill>
        <p:spPr>
          <a:xfrm>
            <a:off x="766762" y="5853676"/>
            <a:ext cx="180975" cy="190500"/>
          </a:xfrm>
          <a:prstGeom prst="rect">
            <a:avLst/>
          </a:prstGeom>
        </p:spPr>
      </p:pic>
      <p:pic>
        <p:nvPicPr>
          <p:cNvPr id="11" name="Picture 10" descr="image.png"/>
          <p:cNvPicPr>
            <a:picLocks noChangeAspect="1"/>
          </p:cNvPicPr>
          <p:nvPr/>
        </p:nvPicPr>
        <p:blipFill>
          <a:blip r:embed="rId5"/>
          <a:stretch>
            <a:fillRect/>
          </a:stretch>
        </p:blipFill>
        <p:spPr>
          <a:xfrm>
            <a:off x="6029325" y="5853676"/>
            <a:ext cx="123825" cy="123825"/>
          </a:xfrm>
          <a:prstGeom prst="rect">
            <a:avLst/>
          </a:prstGeom>
        </p:spPr>
      </p:pic>
    </p:spTree>
    <p:extLst>
      <p:ext uri="{BB962C8B-B14F-4D97-AF65-F5344CB8AC3E}">
        <p14:creationId xmlns:p14="http://schemas.microsoft.com/office/powerpoint/2010/main" val="1162490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dirty="0" smtClean="0">
                <a:solidFill>
                  <a:srgbClr val="FFFFFF"/>
                </a:solidFill>
                <a:latin typeface="Orbitron"/>
              </a:rPr>
              <a:t>Discussion</a:t>
            </a:r>
            <a:endParaRPr sz="3900" b="1" i="0" u="none" dirty="0">
              <a:solidFill>
                <a:srgbClr val="FFFFFF"/>
              </a:solidFill>
              <a:latin typeface="Orbitron"/>
            </a:endParaRPr>
          </a:p>
        </p:txBody>
      </p:sp>
      <p:sp>
        <p:nvSpPr>
          <p:cNvPr id="7" name="Rectangle 6"/>
          <p:cNvSpPr/>
          <p:nvPr/>
        </p:nvSpPr>
        <p:spPr>
          <a:xfrm>
            <a:off x="351506" y="1986358"/>
            <a:ext cx="10926094" cy="3693319"/>
          </a:xfrm>
          <a:prstGeom prst="rect">
            <a:avLst/>
          </a:prstGeom>
        </p:spPr>
        <p:txBody>
          <a:bodyPr wrap="square">
            <a:spAutoFit/>
          </a:bodyPr>
          <a:lstStyle/>
          <a:p>
            <a:r>
              <a:rPr lang="en-US" dirty="0">
                <a:solidFill>
                  <a:schemeClr val="bg1"/>
                </a:solidFill>
              </a:rPr>
              <a:t>Despite all four models—Logistic Regression, SVM, Decision Tree, and KNN—achieving identical test-set accuracy (83.3%) and confusion matrices, their performance diverged under </a:t>
            </a:r>
            <a:r>
              <a:rPr lang="en-US" dirty="0" err="1">
                <a:solidFill>
                  <a:schemeClr val="bg1"/>
                </a:solidFill>
              </a:rPr>
              <a:t>hyperparameter</a:t>
            </a:r>
            <a:r>
              <a:rPr lang="en-US" dirty="0">
                <a:solidFill>
                  <a:schemeClr val="bg1"/>
                </a:solidFill>
              </a:rPr>
              <a:t> tuning. To establish a definitive ranking, </a:t>
            </a:r>
            <a:r>
              <a:rPr lang="en-US" dirty="0" smtClean="0">
                <a:solidFill>
                  <a:schemeClr val="bg1"/>
                </a:solidFill>
              </a:rPr>
              <a:t>we </a:t>
            </a:r>
            <a:r>
              <a:rPr lang="en-US" dirty="0">
                <a:solidFill>
                  <a:schemeClr val="bg1"/>
                </a:solidFill>
              </a:rPr>
              <a:t>compared their respective </a:t>
            </a:r>
            <a:r>
              <a:rPr lang="en-US" dirty="0" err="1">
                <a:solidFill>
                  <a:schemeClr val="bg1"/>
                </a:solidFill>
              </a:rPr>
              <a:t>GridSearchCV</a:t>
            </a:r>
            <a:r>
              <a:rPr lang="en-US" dirty="0">
                <a:solidFill>
                  <a:schemeClr val="bg1"/>
                </a:solidFill>
              </a:rPr>
              <a:t> best scores. Ordered from highest to lowest, the results are as follows: Decision Tree (0.889), K-Nearest Neighbors (0.848), Support Vector Machine (0.848), and Logistic Regression (0.846). This places the Decision Tree as the optimal model after parameter optimization</a:t>
            </a:r>
            <a:r>
              <a:rPr lang="en-US" dirty="0" smtClean="0">
                <a:solidFill>
                  <a:schemeClr val="bg1"/>
                </a:solidFill>
              </a:rPr>
              <a:t>.</a:t>
            </a:r>
          </a:p>
          <a:p>
            <a:endParaRPr lang="fr-FR" dirty="0">
              <a:solidFill>
                <a:schemeClr val="bg1"/>
              </a:solidFill>
            </a:endParaRPr>
          </a:p>
          <a:p>
            <a:endParaRPr lang="fr-FR" dirty="0" smtClean="0">
              <a:solidFill>
                <a:schemeClr val="bg1"/>
              </a:solidFill>
            </a:endParaRPr>
          </a:p>
          <a:p>
            <a:r>
              <a:rPr lang="en-US" dirty="0">
                <a:solidFill>
                  <a:schemeClr val="bg1"/>
                </a:solidFill>
              </a:rPr>
              <a:t>Success rates have shown a steady upward trajectory over time across all factors, reflecting ongoing incremental operational improvements and technological advancements. Performance varies by orbit, with ES-L1, SSO, HEO, and GEO consistently achieving successful outcomes. Launch site also proved to be a highly predictive factor, with KSC LC-39A emerging as the top performer, closely followed by CCAFS LC-40. Among the predictive models evaluated, most achieved acceptable accuracy in forecasting landing outcomes, with the </a:t>
            </a:r>
            <a:r>
              <a:rPr lang="en-US" dirty="0" err="1">
                <a:solidFill>
                  <a:schemeClr val="bg1"/>
                </a:solidFill>
              </a:rPr>
              <a:t>DecisionTreeClassifier</a:t>
            </a:r>
            <a:r>
              <a:rPr lang="en-US" dirty="0">
                <a:solidFill>
                  <a:schemeClr val="bg1"/>
                </a:solidFill>
              </a:rPr>
              <a:t> delivering the best performance overall, demonstrating high accuracy, precision, and recall.</a:t>
            </a:r>
            <a:endParaRPr lang="fr-FR" dirty="0">
              <a:solidFill>
                <a:schemeClr val="bg1"/>
              </a:solidFill>
            </a:endParaRPr>
          </a:p>
        </p:txBody>
      </p:sp>
    </p:spTree>
    <p:extLst>
      <p:ext uri="{BB962C8B-B14F-4D97-AF65-F5344CB8AC3E}">
        <p14:creationId xmlns:p14="http://schemas.microsoft.com/office/powerpoint/2010/main" val="6417918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388566" cy="6968568"/>
          </a:xfrm>
          <a:prstGeom prst="rect">
            <a:avLst/>
          </a:prstGeom>
        </p:spPr>
      </p:pic>
      <p:sp>
        <p:nvSpPr>
          <p:cNvPr id="3" name="Rectangle 2"/>
          <p:cNvSpPr/>
          <p:nvPr/>
        </p:nvSpPr>
        <p:spPr>
          <a:xfrm>
            <a:off x="523398" y="1228790"/>
            <a:ext cx="762000" cy="45719"/>
          </a:xfrm>
          <a:prstGeom prst="rect">
            <a:avLst/>
          </a:prstGeom>
          <a:solidFill>
            <a:srgbClr val="00B4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23398" y="636922"/>
            <a:ext cx="9621202" cy="600164"/>
          </a:xfrm>
          <a:prstGeom prst="rect">
            <a:avLst/>
          </a:prstGeom>
          <a:noFill/>
        </p:spPr>
        <p:txBody>
          <a:bodyPr wrap="square" lIns="0" tIns="0" rIns="0" bIns="0" anchor="t">
            <a:spAutoFit/>
          </a:bodyPr>
          <a:lstStyle/>
          <a:p>
            <a:r>
              <a:rPr lang="fr-FR" sz="3900" b="1" i="0" u="none" dirty="0" err="1" smtClean="0">
                <a:solidFill>
                  <a:srgbClr val="FFFFFF"/>
                </a:solidFill>
                <a:latin typeface="Orbitron"/>
              </a:rPr>
              <a:t>Appendix</a:t>
            </a:r>
            <a:endParaRPr sz="3900" b="1" i="0" u="none" dirty="0">
              <a:solidFill>
                <a:srgbClr val="FFFFFF"/>
              </a:solidFill>
              <a:latin typeface="Orbitron"/>
            </a:endParaRPr>
          </a:p>
        </p:txBody>
      </p:sp>
      <p:sp>
        <p:nvSpPr>
          <p:cNvPr id="7" name="Rectangle 6"/>
          <p:cNvSpPr/>
          <p:nvPr/>
        </p:nvSpPr>
        <p:spPr>
          <a:xfrm>
            <a:off x="351506" y="1986358"/>
            <a:ext cx="10926094" cy="1200329"/>
          </a:xfrm>
          <a:prstGeom prst="rect">
            <a:avLst/>
          </a:prstGeom>
        </p:spPr>
        <p:txBody>
          <a:bodyPr wrap="square">
            <a:spAutoFit/>
          </a:bodyPr>
          <a:lstStyle/>
          <a:p>
            <a:r>
              <a:rPr lang="en-US" dirty="0" smtClean="0">
                <a:solidFill>
                  <a:schemeClr val="bg1"/>
                </a:solidFill>
              </a:rPr>
              <a:t>Data sources</a:t>
            </a:r>
            <a:endParaRPr lang="en-US" dirty="0"/>
          </a:p>
          <a:p>
            <a:pPr marL="285750" indent="-285750">
              <a:buFont typeface="Arial" panose="020B0604020202020204" pitchFamily="34" charset="0"/>
              <a:buChar char="•"/>
            </a:pPr>
            <a:r>
              <a:rPr lang="en-US" dirty="0">
                <a:hlinkClick r:id="rId3"/>
              </a:rPr>
              <a:t>r/</a:t>
            </a:r>
            <a:r>
              <a:rPr lang="en-US" dirty="0" err="1">
                <a:hlinkClick r:id="rId3"/>
              </a:rPr>
              <a:t>SpaceX</a:t>
            </a:r>
            <a:r>
              <a:rPr lang="en-US" dirty="0">
                <a:hlinkClick r:id="rId3"/>
              </a:rPr>
              <a:t> API </a:t>
            </a:r>
            <a:r>
              <a:rPr lang="en-US" dirty="0" smtClean="0">
                <a:hlinkClick r:id="rId3"/>
              </a:rPr>
              <a:t>Doc</a:t>
            </a:r>
            <a:r>
              <a:rPr lang="en-US" dirty="0" smtClean="0">
                <a:solidFill>
                  <a:schemeClr val="bg1"/>
                </a:solidFill>
                <a:hlinkClick r:id="rId3"/>
              </a:rPr>
              <a:t>s</a:t>
            </a:r>
            <a:endParaRPr lang="en-US" dirty="0" smtClean="0">
              <a:solidFill>
                <a:schemeClr val="bg1"/>
              </a:solidFill>
            </a:endParaRPr>
          </a:p>
          <a:p>
            <a:pPr marL="285750" indent="-285750">
              <a:buFont typeface="Arial" panose="020B0604020202020204" pitchFamily="34" charset="0"/>
              <a:buChar char="•"/>
            </a:pPr>
            <a:r>
              <a:rPr lang="en-US" dirty="0">
                <a:hlinkClick r:id="rId4"/>
              </a:rPr>
              <a:t>List of Falcon 9 and Falcon Heavy launches </a:t>
            </a:r>
            <a:r>
              <a:rPr lang="en-US" dirty="0" smtClean="0">
                <a:hlinkClick r:id="rId4"/>
              </a:rPr>
              <a:t>– Wikipedia</a:t>
            </a:r>
          </a:p>
          <a:p>
            <a:endParaRPr lang="en-US" dirty="0">
              <a:solidFill>
                <a:schemeClr val="bg1"/>
              </a:solidFill>
            </a:endParaRPr>
          </a:p>
        </p:txBody>
      </p:sp>
    </p:spTree>
    <p:extLst>
      <p:ext uri="{BB962C8B-B14F-4D97-AF65-F5344CB8AC3E}">
        <p14:creationId xmlns:p14="http://schemas.microsoft.com/office/powerpoint/2010/main" val="5198485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81280" y="0"/>
            <a:ext cx="12273280" cy="6903720"/>
          </a:xfrm>
          <a:prstGeom prst="rect">
            <a:avLst/>
          </a:prstGeom>
        </p:spPr>
      </p:pic>
      <p:sp>
        <p:nvSpPr>
          <p:cNvPr id="4" name="TextBox 3"/>
          <p:cNvSpPr txBox="1"/>
          <p:nvPr/>
        </p:nvSpPr>
        <p:spPr>
          <a:xfrm>
            <a:off x="404561" y="1440781"/>
            <a:ext cx="11029950" cy="4451603"/>
          </a:xfrm>
          <a:prstGeom prst="rect">
            <a:avLst/>
          </a:prstGeom>
          <a:noFill/>
        </p:spPr>
        <p:txBody>
          <a:bodyPr wrap="square" lIns="0" tIns="0" rIns="0" bIns="0" anchor="t">
            <a:spAutoFit/>
          </a:bodyPr>
          <a:lstStyle/>
          <a:p>
            <a:pPr>
              <a:lnSpc>
                <a:spcPts val="2475"/>
              </a:lnSpc>
            </a:pPr>
            <a:r>
              <a:rPr lang="en-US" sz="1280" dirty="0" smtClean="0">
                <a:solidFill>
                  <a:schemeClr val="bg1"/>
                </a:solidFill>
              </a:rPr>
              <a:t>In this project, we set out to predict whether the first stage of a given Falcon 9 launch would land successfully, in order to determine the cost of a launch. Each feature of a Falcon 9 launch, such as payload mass or orbit type, may affect the mission outcome in a certain way. Several machine learning algorithms were employed to learn patterns from past Falcon 9 launch data and produce predictive models that can be used to predict the outcome of future launches. Among the four algorithms tested, the Decision Tree Classifier performed the best.</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Our analysis revealed that success rates have increased over time across all factors, indicating continuous and incremental operational improvements and technological advancements. Different orbits exhibit varying success rates, with ES-L1, SSO, HEO, and GEO showing consistently successful outcomes. Launch site also proved to be a highly predictive factor, with KSC LC-39A being the top performer, closely followed by CCAFS LC-40.</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Overall, many of the predictive models evaluated were able to predict landing outcomes with an acceptable level of accuracy. In the testing performed, the Decision Tree Classifier produced the best results, achieving high accuracy, precision, and recall.</a:t>
            </a:r>
          </a:p>
          <a:p>
            <a:pPr>
              <a:lnSpc>
                <a:spcPts val="2475"/>
              </a:lnSpc>
            </a:pPr>
            <a:endParaRPr lang="en-US" sz="1280" dirty="0" smtClean="0">
              <a:solidFill>
                <a:schemeClr val="bg1"/>
              </a:solidFill>
            </a:endParaRPr>
          </a:p>
          <a:p>
            <a:pPr>
              <a:lnSpc>
                <a:spcPts val="2475"/>
              </a:lnSpc>
            </a:pPr>
            <a:r>
              <a:rPr lang="en-US" sz="1280" dirty="0" smtClean="0">
                <a:solidFill>
                  <a:schemeClr val="bg1"/>
                </a:solidFill>
              </a:rPr>
              <a:t>If you'd prefer a shorter version, a bullet-point version, or a version that merges your original and new text differently, just let me know.</a:t>
            </a:r>
          </a:p>
          <a:p>
            <a:pPr>
              <a:lnSpc>
                <a:spcPts val="2475"/>
              </a:lnSpc>
            </a:pPr>
            <a:endParaRPr lang="en-US" sz="1280" dirty="0">
              <a:solidFill>
                <a:schemeClr val="bg1"/>
              </a:solidFill>
            </a:endParaRPr>
          </a:p>
        </p:txBody>
      </p:sp>
      <p:sp>
        <p:nvSpPr>
          <p:cNvPr id="6" name="TextBox 5"/>
          <p:cNvSpPr txBox="1"/>
          <p:nvPr/>
        </p:nvSpPr>
        <p:spPr>
          <a:xfrm>
            <a:off x="1285398" y="636922"/>
            <a:ext cx="9621202" cy="600164"/>
          </a:xfrm>
          <a:prstGeom prst="rect">
            <a:avLst/>
          </a:prstGeom>
          <a:noFill/>
        </p:spPr>
        <p:txBody>
          <a:bodyPr wrap="square" lIns="0" tIns="0" rIns="0" bIns="0" anchor="t">
            <a:spAutoFit/>
          </a:bodyPr>
          <a:lstStyle/>
          <a:p>
            <a:pPr algn="ctr"/>
            <a:r>
              <a:rPr lang="fr-FR" sz="3900" b="1" i="0" u="none" dirty="0" smtClean="0">
                <a:solidFill>
                  <a:srgbClr val="FFFFFF"/>
                </a:solidFill>
                <a:latin typeface="Orbitron"/>
              </a:rPr>
              <a:t>Conclusion</a:t>
            </a:r>
            <a:endParaRPr sz="3900" b="1" i="0" u="none" dirty="0">
              <a:solidFill>
                <a:srgbClr val="FFFFFF"/>
              </a:solidFill>
              <a:latin typeface="Orbitron"/>
            </a:endParaRPr>
          </a:p>
        </p:txBody>
      </p:sp>
    </p:spTree>
    <p:extLst>
      <p:ext uri="{BB962C8B-B14F-4D97-AF65-F5344CB8AC3E}">
        <p14:creationId xmlns:p14="http://schemas.microsoft.com/office/powerpoint/2010/main" val="37017594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305276" y="2409825"/>
            <a:ext cx="11581447" cy="738664"/>
          </a:xfrm>
          <a:prstGeom prst="rect">
            <a:avLst/>
          </a:prstGeom>
          <a:noFill/>
        </p:spPr>
        <p:txBody>
          <a:bodyPr wrap="square" lIns="0" tIns="0" rIns="0" bIns="0" anchor="t">
            <a:spAutoFit/>
          </a:bodyPr>
          <a:lstStyle/>
          <a:p>
            <a:pPr algn="ctr"/>
            <a:r>
              <a:rPr lang="fr-FR" sz="4800" b="1" i="0" u="none" dirty="0" err="1" smtClean="0">
                <a:solidFill>
                  <a:srgbClr val="FFFFFF"/>
                </a:solidFill>
                <a:latin typeface="Orbitron"/>
              </a:rPr>
              <a:t>Thank</a:t>
            </a:r>
            <a:r>
              <a:rPr lang="fr-FR" sz="4800" b="1" i="0" u="none" dirty="0" smtClean="0">
                <a:solidFill>
                  <a:srgbClr val="FFFFFF"/>
                </a:solidFill>
                <a:latin typeface="Orbitron"/>
              </a:rPr>
              <a:t> </a:t>
            </a:r>
            <a:r>
              <a:rPr lang="fr-FR" sz="4800" b="1" i="0" u="none" dirty="0" err="1" smtClean="0">
                <a:solidFill>
                  <a:srgbClr val="FFFFFF"/>
                </a:solidFill>
                <a:latin typeface="Orbitron"/>
              </a:rPr>
              <a:t>you</a:t>
            </a:r>
            <a:r>
              <a:rPr lang="fr-FR" sz="4800" b="1" i="0" u="none" dirty="0" smtClean="0">
                <a:solidFill>
                  <a:srgbClr val="FFFFFF"/>
                </a:solidFill>
                <a:latin typeface="Orbitron"/>
              </a:rPr>
              <a:t>!</a:t>
            </a:r>
            <a:endParaRPr sz="4800" b="1" i="0" u="none" dirty="0">
              <a:solidFill>
                <a:srgbClr val="FFFFFF"/>
              </a:solidFill>
              <a:latin typeface="Orbitron"/>
            </a:endParaRPr>
          </a:p>
        </p:txBody>
      </p:sp>
      <p:sp>
        <p:nvSpPr>
          <p:cNvPr id="5" name="TextBox 4"/>
          <p:cNvSpPr txBox="1"/>
          <p:nvPr/>
        </p:nvSpPr>
        <p:spPr>
          <a:xfrm>
            <a:off x="581025" y="3655310"/>
            <a:ext cx="11029950" cy="457200"/>
          </a:xfrm>
          <a:prstGeom prst="rect">
            <a:avLst/>
          </a:prstGeom>
          <a:noFill/>
        </p:spPr>
        <p:txBody>
          <a:bodyPr wrap="square" lIns="0" tIns="0" rIns="0" bIns="0" anchor="t">
            <a:spAutoFit/>
          </a:bodyPr>
          <a:lstStyle/>
          <a:p>
            <a:pPr algn="ctr"/>
            <a:r>
              <a:rPr sz="1350" b="0" i="0" u="none" dirty="0">
                <a:solidFill>
                  <a:srgbClr val="00B4D8"/>
                </a:solidFill>
                <a:latin typeface="Inter SemiBold"/>
              </a:rPr>
              <a:t>Presented by </a:t>
            </a:r>
            <a:r>
              <a:rPr sz="1350" b="0" i="0" u="none" dirty="0" err="1">
                <a:solidFill>
                  <a:srgbClr val="00B4D8"/>
                </a:solidFill>
                <a:latin typeface="Inter Black"/>
              </a:rPr>
              <a:t>Lahcen</a:t>
            </a:r>
            <a:r>
              <a:rPr sz="1350" b="0" i="0" u="none" dirty="0">
                <a:solidFill>
                  <a:srgbClr val="00B4D8"/>
                </a:solidFill>
                <a:latin typeface="Inter Black"/>
              </a:rPr>
              <a:t> Mokhtar AMROUNE</a:t>
            </a:r>
            <a:r>
              <a:rPr sz="1350" b="0" i="0" u="none" dirty="0">
                <a:solidFill>
                  <a:srgbClr val="00B4D8"/>
                </a:solidFill>
                <a:latin typeface="Inter SemiBold"/>
              </a:rPr>
              <a:t> • July 2026</a:t>
            </a:r>
            <a:r>
              <a:rPr dirty="0"/>
              <a:t>
</a:t>
            </a:r>
            <a:r>
              <a:rPr sz="1350" b="0" i="0" u="none" dirty="0">
                <a:solidFill>
                  <a:srgbClr val="94A3B8"/>
                </a:solidFill>
                <a:latin typeface="Inter"/>
              </a:rPr>
              <a:t>Data Science &amp; Machine Learning Capstone | Applied Predictive Analytics</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4414</TotalTime>
  <Words>2133</Words>
  <Application>Microsoft Office PowerPoint</Application>
  <PresentationFormat>Widescreen</PresentationFormat>
  <Paragraphs>198</Paragraphs>
  <Slides>25</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Calibri</vt:lpstr>
      <vt:lpstr>Inter</vt:lpstr>
      <vt:lpstr>Inter Black</vt:lpstr>
      <vt:lpstr>Inter SemiBold</vt:lpstr>
      <vt:lpstr>Orbitron</vt:lpstr>
      <vt:lpstr>Plus Jakarta Sans</vt:lpstr>
      <vt:lpstr>Plus Jakarta Sans SemiBold</vt:lpstr>
      <vt:lpstr>Space 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Lahcen Amoune</dc:creator>
  <cp:keywords/>
  <dc:description>generated using python-pptx</dc:description>
  <cp:lastModifiedBy>DELL</cp:lastModifiedBy>
  <cp:revision>34</cp:revision>
  <dcterms:created xsi:type="dcterms:W3CDTF">2013-01-27T09:14:16Z</dcterms:created>
  <dcterms:modified xsi:type="dcterms:W3CDTF">2026-07-30T19:22:36Z</dcterms:modified>
  <cp:category/>
</cp:coreProperties>
</file>